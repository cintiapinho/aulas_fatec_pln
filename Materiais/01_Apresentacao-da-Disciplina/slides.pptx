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B2430"/>
                </a:solidFill>
                <a:latin typeface="Georgia"/>
              </a:defRPr>
            </a:pPr>
            <a:r>
              <a:t>Processamento de</a:t>
            </a:r>
          </a:p>
          <a:p>
            <a:pPr>
              <a:defRPr sz="4800" b="1">
                <a:solidFill>
                  <a:srgbClr val="1B2430"/>
                </a:solidFill>
                <a:latin typeface="Georgia"/>
              </a:defRPr>
            </a:pPr>
            <a:r>
              <a:t>Linguagem Natural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6B63"/>
                </a:solidFill>
                <a:latin typeface="Consolas"/>
              </a:defRPr>
            </a:pPr>
            <a:r>
              <a:t>APRESENTAÇÃO DA DISCIPLINA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i="0" b="0">
                <a:solidFill>
                  <a:srgbClr val="5B6472"/>
                </a:solidFill>
                <a:latin typeface="Calibri"/>
              </a:defRPr>
            </a:pPr>
            <a:r>
              <a:t>Como vamos trabalhar, como você é avaliado, e o que você constrói até dezembro.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146B63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Quem sou eu</a:t>
            </a:r>
          </a:p>
        </p:txBody>
      </p:sp>
      <p:pic>
        <p:nvPicPr>
          <p:cNvPr id="5" name="Picture 4" descr="cintia-f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274320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783080"/>
            <a:ext cx="7818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430"/>
                </a:solidFill>
                <a:latin typeface="Georgia"/>
              </a:defRPr>
            </a:pPr>
            <a:r>
              <a:t>Cintia Pinho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04288"/>
            <a:ext cx="7818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6B63"/>
                </a:solidFill>
                <a:latin typeface="Consolas"/>
              </a:defRPr>
            </a:pPr>
            <a:r>
              <a:t>PROFESSORA · PROCESSAMENTO DE LINGUAGEM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97480"/>
            <a:ext cx="7818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36"/>
              </a:spcAft>
              <a:defRPr sz="1150">
                <a:solidFill>
                  <a:srgbClr val="5B6472"/>
                </a:solidFill>
                <a:latin typeface="Calibri"/>
              </a:defRPr>
            </a:pPr>
            <a:r>
              <a:t>—  Formada pela própria Fatec Mauá em 2005 (Tecnóloga em Informática para Gestão de Negócios) — e agora estou de volta, como professora</a:t>
            </a:r>
          </a:p>
          <a:p>
            <a:pPr>
              <a:spcAft>
                <a:spcPts val="936"/>
              </a:spcAft>
              <a:defRPr sz="1150">
                <a:solidFill>
                  <a:srgbClr val="5B6472"/>
                </a:solidFill>
                <a:latin typeface="Calibri"/>
              </a:defRPr>
            </a:pPr>
            <a:r>
              <a:t>—  Mestre em Informática e Gestão do Conhecimento, pós-graduação em IA e Data Science (Mackenzie), e Licenciaturas em Matemática e em Informática</a:t>
            </a:r>
          </a:p>
          <a:p>
            <a:pPr>
              <a:spcAft>
                <a:spcPts val="936"/>
              </a:spcAft>
              <a:defRPr sz="1150">
                <a:solidFill>
                  <a:srgbClr val="5B6472"/>
                </a:solidFill>
                <a:latin typeface="Calibri"/>
              </a:defRPr>
            </a:pPr>
            <a:r>
              <a:t>—  Experiência há 15 anos no Centro Paula Souza — professora de ETEC, e hoje também na coordenação de projetos do Inova Paula Souza e no Laboratório de IA do CPS</a:t>
            </a:r>
          </a:p>
          <a:p>
            <a:pPr>
              <a:spcAft>
                <a:spcPts val="936"/>
              </a:spcAft>
              <a:defRPr sz="1150">
                <a:solidFill>
                  <a:srgbClr val="5B6472"/>
                </a:solidFill>
                <a:latin typeface="Calibri"/>
              </a:defRPr>
            </a:pPr>
            <a:r>
              <a:t>—  Especialista em IA e Líder de Equipe na Tecnologia Única; sócia proprietária do CRIA, plataforma de PLN para correção de redações</a:t>
            </a:r>
          </a:p>
          <a:p>
            <a:pPr>
              <a:spcAft>
                <a:spcPts val="936"/>
              </a:spcAft>
              <a:defRPr sz="1150">
                <a:solidFill>
                  <a:srgbClr val="5B6472"/>
                </a:solidFill>
                <a:latin typeface="Calibri"/>
              </a:defRPr>
            </a:pPr>
            <a:r>
              <a:t>—  Apaixonada por projetos sociais — oriento pesquisa científica de alunos e conduzo programas que conectam tecnologia e questões sociais</a:t>
            </a:r>
          </a:p>
          <a:p>
            <a:pPr>
              <a:spcAft>
                <a:spcPts val="936"/>
              </a:spcAft>
              <a:defRPr sz="1150">
                <a:solidFill>
                  <a:srgbClr val="5B6472"/>
                </a:solidFill>
                <a:latin typeface="Calibri"/>
              </a:defRPr>
            </a:pPr>
            <a:r>
              <a:t>—  Orientadora premiada em feiras científicas — 1º lugar internacional no Intel AI Global Impact Festival (2023) e 1º lugar na FETEPS 2025 com o Cuida.AI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i="1" b="0">
                <a:solidFill>
                  <a:srgbClr val="146B63"/>
                </a:solidFill>
                <a:latin typeface="Calibri"/>
              </a:defRPr>
            </a:pPr>
            <a:r>
              <a:t>Mas foi na sala de aula que eu realmente me encontrei: ensinar é a minha maior paixão. Acredito que basta transformar a trajetória de uma única pessoa para o mundo já ser diferente — essa pessoa leva adiante o que aprendeu, e multiplica.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O que você vai ser capaz de fazer</a:t>
            </a:r>
          </a:p>
        </p:txBody>
      </p:sp>
      <p:pic>
        <p:nvPicPr>
          <p:cNvPr id="5" name="Picture 4" descr="icon-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457200" cy="4572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40080" y="2441448"/>
            <a:ext cx="10881360" cy="0"/>
          </a:xfrm>
          <a:prstGeom prst="line">
            <a:avLst/>
          </a:prstGeom>
          <a:ln w="12700">
            <a:solidFill>
              <a:srgbClr val="DE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71600" y="1828799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430"/>
                </a:solidFill>
                <a:latin typeface="Calibri"/>
              </a:defRPr>
            </a:pPr>
            <a:r>
              <a:t>Transformar texto bruto e desorganizado em dados que um modelo consegue processar.</a:t>
            </a:r>
          </a:p>
        </p:txBody>
      </p:sp>
      <p:pic>
        <p:nvPicPr>
          <p:cNvPr id="8" name="Picture 7" descr="icon-arv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70048"/>
            <a:ext cx="457200" cy="45720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40080" y="3236976"/>
            <a:ext cx="10881360" cy="0"/>
          </a:xfrm>
          <a:prstGeom prst="line">
            <a:avLst/>
          </a:prstGeom>
          <a:ln w="12700">
            <a:solidFill>
              <a:srgbClr val="DE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71600" y="262432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430"/>
                </a:solidFill>
                <a:latin typeface="Calibri"/>
              </a:defRPr>
            </a:pPr>
            <a:r>
              <a:t>Usar gramáticas, análise sintática e semântica para entender a estrutura de uma frase.</a:t>
            </a:r>
          </a:p>
        </p:txBody>
      </p:sp>
      <p:pic>
        <p:nvPicPr>
          <p:cNvPr id="11" name="Picture 10" descr="icon-lu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65576"/>
            <a:ext cx="457200" cy="4572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640080" y="4032504"/>
            <a:ext cx="10881360" cy="0"/>
          </a:xfrm>
          <a:prstGeom prst="line">
            <a:avLst/>
          </a:prstGeom>
          <a:ln w="12700">
            <a:solidFill>
              <a:srgbClr val="DE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71600" y="3419856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430"/>
                </a:solidFill>
                <a:latin typeface="Calibri"/>
              </a:defRPr>
            </a:pPr>
            <a:r>
              <a:t>Extrair conhecimento de grandes volumes de texto — Knowledge Discovery in Texts.</a:t>
            </a:r>
          </a:p>
        </p:txBody>
      </p:sp>
      <p:pic>
        <p:nvPicPr>
          <p:cNvPr id="14" name="Picture 13" descr="icon-re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61104"/>
            <a:ext cx="457200" cy="45720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640080" y="4828032"/>
            <a:ext cx="10881360" cy="0"/>
          </a:xfrm>
          <a:prstGeom prst="line">
            <a:avLst/>
          </a:prstGeom>
          <a:ln w="12700">
            <a:solidFill>
              <a:srgbClr val="DE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71600" y="421538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430"/>
                </a:solidFill>
                <a:latin typeface="Calibri"/>
              </a:defRPr>
            </a:pPr>
            <a:r>
              <a:t>Treinar modelos de aprendizagem de máquina para tarefas como análise de sentimento.</a:t>
            </a:r>
          </a:p>
        </p:txBody>
      </p:sp>
      <p:pic>
        <p:nvPicPr>
          <p:cNvPr id="17" name="Picture 16" descr="icon-proje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056632"/>
            <a:ext cx="457200" cy="457200"/>
          </a:xfrm>
          <a:prstGeom prst="rect">
            <a:avLst/>
          </a:prstGeom>
        </p:spPr>
      </p:pic>
      <p:cxnSp>
        <p:nvCxnSpPr>
          <p:cNvPr id="18" name="Connector 17"/>
          <p:cNvCxnSpPr/>
          <p:nvPr/>
        </p:nvCxnSpPr>
        <p:spPr>
          <a:xfrm>
            <a:off x="640080" y="5623560"/>
            <a:ext cx="10881360" cy="0"/>
          </a:xfrm>
          <a:prstGeom prst="line">
            <a:avLst/>
          </a:prstGeom>
          <a:ln w="12700">
            <a:solidFill>
              <a:srgbClr val="DE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71600" y="501091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430"/>
                </a:solidFill>
                <a:latin typeface="Calibri"/>
              </a:defRPr>
            </a:pPr>
            <a:r>
              <a:t>Construir — e apresentar — um projeto real de PLN, do zero até o Portfólio Digital.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Como vamos trabalhar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1000"/>
              </a:spcAft>
              <a:defRPr sz="1200" b="1" i="0">
                <a:solidFill>
                  <a:srgbClr val="146B63"/>
                </a:solidFill>
                <a:latin typeface="Consolas"/>
              </a:defRPr>
            </a:pPr>
            <a:r>
              <a:t>PRINCÍPIO 01</a:t>
            </a:r>
          </a:p>
          <a:p>
            <a:pPr algn="l">
              <a:spcAft>
                <a:spcPts val="800"/>
              </a:spcAft>
              <a:defRPr sz="1900" b="1" i="0">
                <a:solidFill>
                  <a:srgbClr val="1B2430"/>
                </a:solidFill>
                <a:latin typeface="Georgia"/>
              </a:defRPr>
            </a:pPr>
            <a:r>
              <a:t>Material antes e depois</a:t>
            </a:r>
          </a:p>
          <a:p>
            <a:pPr algn="l">
              <a:spcAft>
                <a:spcPts val="200"/>
              </a:spcAft>
              <a:defRPr sz="1250" b="0" i="0">
                <a:solidFill>
                  <a:srgbClr val="5B6472"/>
                </a:solidFill>
                <a:latin typeface="Calibri"/>
              </a:defRPr>
            </a:pPr>
            <a:r>
              <a:t>Você lê o material teórico antes do encontro, no seu ritmo. No tempo ao vivo eu explico os pontos principais e tiro dúvidas, e a gente coloca a mão no notebook com apoio, resolvendo junto o que sozinho ainda travaria.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520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1000"/>
              </a:spcAft>
              <a:defRPr sz="1200" b="1" i="0">
                <a:solidFill>
                  <a:srgbClr val="146B63"/>
                </a:solidFill>
                <a:latin typeface="Consolas"/>
              </a:defRPr>
            </a:pPr>
            <a:r>
              <a:t>PRINCÍPIO 02</a:t>
            </a:r>
          </a:p>
          <a:p>
            <a:pPr algn="l">
              <a:spcAft>
                <a:spcPts val="800"/>
              </a:spcAft>
              <a:defRPr sz="1900" b="1" i="0">
                <a:solidFill>
                  <a:srgbClr val="1B2430"/>
                </a:solidFill>
                <a:latin typeface="Georgia"/>
              </a:defRPr>
            </a:pPr>
            <a:r>
              <a:t>Problemas reais</a:t>
            </a:r>
          </a:p>
          <a:p>
            <a:pPr algn="l">
              <a:spcAft>
                <a:spcPts val="200"/>
              </a:spcAft>
              <a:defRPr sz="1250" b="0" i="0">
                <a:solidFill>
                  <a:srgbClr val="5B6472"/>
                </a:solidFill>
                <a:latin typeface="Calibri"/>
              </a:defRPr>
            </a:pPr>
            <a:r>
              <a:t>Não vamos treinar somente modelos coringas. O projeto nasce de um problema que faz sentido — atendimento, moderação, análise de opinião — e evolui aula a aula. A ideia é ter relação com o projeto que vocês vão desenvolver no final do curso.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965960"/>
            <a:ext cx="3520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1000"/>
              </a:spcAft>
              <a:defRPr sz="1200" b="1" i="0">
                <a:solidFill>
                  <a:srgbClr val="146B63"/>
                </a:solidFill>
                <a:latin typeface="Consolas"/>
              </a:defRPr>
            </a:pPr>
            <a:r>
              <a:t>PRINCÍPIO 03</a:t>
            </a:r>
          </a:p>
          <a:p>
            <a:pPr algn="l">
              <a:spcAft>
                <a:spcPts val="800"/>
              </a:spcAft>
              <a:defRPr sz="1900" b="1" i="0">
                <a:solidFill>
                  <a:srgbClr val="1B2430"/>
                </a:solidFill>
                <a:latin typeface="Georgia"/>
              </a:defRPr>
            </a:pPr>
            <a:r>
              <a:t>Metodologia ágil</a:t>
            </a:r>
          </a:p>
          <a:p>
            <a:pPr algn="l">
              <a:spcAft>
                <a:spcPts val="200"/>
              </a:spcAft>
              <a:defRPr sz="1250" b="0" i="0">
                <a:solidFill>
                  <a:srgbClr val="5B6472"/>
                </a:solidFill>
                <a:latin typeface="Calibri"/>
              </a:defRPr>
            </a:pPr>
            <a:r>
              <a:t>O projeto avança em ciclos curtos, com entregas intermediárias. Você apresenta progresso, eu avalio o progresso e as atividades realizadas — com um repositório no GitHub pra controlar os commits.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Como funciona cada sábado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3A0"/>
                </a:solidFill>
                <a:latin typeface="Consolas"/>
              </a:defRPr>
            </a:pPr>
            <a:r>
              <a:t>ANTES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274320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600"/>
              </a:spcAft>
              <a:defRPr sz="1900" b="1" i="0">
                <a:solidFill>
                  <a:srgbClr val="1B2430"/>
                </a:solidFill>
                <a:latin typeface="Georgia"/>
              </a:defRPr>
            </a:pPr>
            <a:r>
              <a:t>Ler a teoria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no seu ritmo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6B63"/>
                </a:solidFill>
                <a:latin typeface="Consolas"/>
              </a:defRPr>
            </a:pPr>
            <a:r>
              <a:t>AO VIVO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697480"/>
            <a:ext cx="2743200" cy="1508760"/>
          </a:xfrm>
          <a:prstGeom prst="roundRect">
            <a:avLst>
              <a:gd name="adj" fmla="val 9000"/>
            </a:avLst>
          </a:prstGeom>
          <a:solidFill>
            <a:srgbClr val="DCEEEA"/>
          </a:solidFill>
          <a:ln w="1778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600"/>
              </a:spcAft>
              <a:defRPr sz="1900" b="1" i="0">
                <a:solidFill>
                  <a:srgbClr val="146B63"/>
                </a:solidFill>
                <a:latin typeface="Georgia"/>
              </a:defRPr>
            </a:pPr>
            <a:r>
              <a:t>Explicar e praticar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146B63"/>
                </a:solidFill>
                <a:latin typeface="Calibri"/>
              </a:defRPr>
            </a:pPr>
            <a:r>
              <a:t>juntos, com apoio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3A0"/>
                </a:solidFill>
                <a:latin typeface="Consolas"/>
              </a:defRPr>
            </a:pPr>
            <a:r>
              <a:t>DEPOIS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697480"/>
            <a:ext cx="274320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600"/>
              </a:spcAft>
              <a:defRPr sz="1900" b="1" i="0">
                <a:solidFill>
                  <a:srgbClr val="1B2430"/>
                </a:solidFill>
                <a:latin typeface="Georgia"/>
              </a:defRPr>
            </a:pPr>
            <a:r>
              <a:t>Aprofundar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até o próx. sábado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39312" y="3310128"/>
            <a:ext cx="960120" cy="219456"/>
          </a:xfrm>
          <a:prstGeom prst="rightArrow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30175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472"/>
                </a:solidFill>
                <a:latin typeface="Consolas"/>
              </a:defRPr>
            </a:pPr>
            <a:r>
              <a:t>sábado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25512" y="3310128"/>
            <a:ext cx="1097280" cy="219456"/>
          </a:xfrm>
          <a:prstGeom prst="rightArrow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472"/>
                </a:solidFill>
                <a:latin typeface="Consolas"/>
              </a:defRPr>
            </a:pPr>
            <a:r>
              <a:t>semana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i="0" b="0">
                <a:solidFill>
                  <a:srgbClr val="8B93A0"/>
                </a:solidFill>
                <a:latin typeface="Calibri"/>
              </a:defRPr>
            </a:pPr>
            <a:r>
              <a:t>O ciclo se repete a cada sábado: teoria antes, explicação e prática ao vivo com apoio, aprofundamento depois.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430"/>
                </a:solidFill>
                <a:latin typeface="Georgia"/>
              </a:defRPr>
            </a:pPr>
            <a:r>
              <a:t>Calendário de reposições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i="0" b="0">
                <a:solidFill>
                  <a:srgbClr val="5B6472"/>
                </a:solidFill>
                <a:latin typeface="Calibri"/>
              </a:defRPr>
            </a:pPr>
            <a:r>
              <a:t>Alguns sábados não têm aula, e são repostos em sábados que ganham 4 aulas extras (8 no total naquele dia):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8860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3A0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6133" y="2148840"/>
            <a:ext cx="1303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3A0"/>
                </a:solidFill>
                <a:latin typeface="Consolas"/>
              </a:defRPr>
            </a:pPr>
            <a:r>
              <a:t>AULAS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9153" y="2148840"/>
            <a:ext cx="302300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3A0"/>
                </a:solidFill>
                <a:latin typeface="Consolas"/>
              </a:defRPr>
            </a:pPr>
            <a:r>
              <a:t>REPOSIÇÃO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404872"/>
            <a:ext cx="4572000" cy="0"/>
          </a:xfrm>
          <a:prstGeom prst="line">
            <a:avLst/>
          </a:prstGeom>
          <a:ln w="12700">
            <a:solidFill>
              <a:srgbClr val="DE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2459736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onsolas"/>
              </a:defRPr>
            </a:pPr>
            <a:r>
              <a:t>08/08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6133" y="2459736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alibri"/>
              </a:defRPr>
            </a:pPr>
            <a:r>
              <a:t>Sem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9153" y="2459736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Aguardando concurso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0632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onsolas"/>
              </a:defRPr>
            </a:pPr>
            <a:r>
              <a:t>15/08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6133" y="2770632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alibri"/>
              </a:defRPr>
            </a:pPr>
            <a:r>
              <a:t>Sem aula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9153" y="2770632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Aguardando concurso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81527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22/08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6133" y="3081527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9153" y="3081527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5" y="3364991"/>
            <a:ext cx="5321808" cy="310896"/>
          </a:xfrm>
          <a:prstGeom prst="roundRect">
            <a:avLst>
              <a:gd name="adj" fmla="val 2000"/>
            </a:avLst>
          </a:prstGeom>
          <a:solidFill>
            <a:srgbClr val="DCEEEA"/>
          </a:solidFill>
          <a:ln w="12700">
            <a:solidFill>
              <a:srgbClr val="DC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92423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29/08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6133" y="3392423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9153" y="3392423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46B63"/>
                </a:solidFill>
                <a:latin typeface="Calibri"/>
              </a:defRPr>
            </a:pPr>
            <a:r>
              <a:t>+ 4 aulas de reposição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5" y="3675887"/>
            <a:ext cx="5321808" cy="310896"/>
          </a:xfrm>
          <a:prstGeom prst="roundRect">
            <a:avLst>
              <a:gd name="adj" fmla="val 2000"/>
            </a:avLst>
          </a:prstGeom>
          <a:solidFill>
            <a:srgbClr val="DCEEEA"/>
          </a:solidFill>
          <a:ln w="12700">
            <a:solidFill>
              <a:srgbClr val="DC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03320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05/09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6133" y="3703320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9153" y="3703320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46B63"/>
                </a:solidFill>
                <a:latin typeface="Calibri"/>
              </a:defRPr>
            </a:pPr>
            <a:r>
              <a:t>+ 4 aulas de reposição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14215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onsolas"/>
              </a:defRPr>
            </a:pPr>
            <a:r>
              <a:t>12/09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6133" y="4014215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alibri"/>
              </a:defRPr>
            </a:pPr>
            <a:r>
              <a:t>Sem aula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29153" y="4014215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intercâmbio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325112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onsolas"/>
              </a:defRPr>
            </a:pPr>
            <a:r>
              <a:t>19/09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6133" y="4325112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alibri"/>
              </a:defRPr>
            </a:pPr>
            <a:r>
              <a:t>Sem aula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29153" y="4325112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intercâmbio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636007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onsolas"/>
              </a:defRPr>
            </a:pPr>
            <a:r>
              <a:t>26/09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6133" y="4636007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alibri"/>
              </a:defRPr>
            </a:pPr>
            <a:r>
              <a:t>Sem aula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29153" y="4636007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intercâmbio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946903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onsolas"/>
              </a:defRPr>
            </a:pPr>
            <a:r>
              <a:t>03/10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6133" y="4946903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alibri"/>
              </a:defRPr>
            </a:pPr>
            <a:r>
              <a:t>Sem aula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29153" y="4946903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intercâmbio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257799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onsolas"/>
              </a:defRPr>
            </a:pPr>
            <a:r>
              <a:t>10/10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6133" y="5257799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alibri"/>
              </a:defRPr>
            </a:pPr>
            <a:r>
              <a:t>Sem aula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29153" y="5257799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intercâmbio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148840"/>
            <a:ext cx="8860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3A0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5413" y="2148840"/>
            <a:ext cx="1303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3A0"/>
                </a:solidFill>
                <a:latin typeface="Consolas"/>
              </a:defRPr>
            </a:pPr>
            <a:r>
              <a:t>AULAS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8433" y="2148840"/>
            <a:ext cx="302300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3A0"/>
                </a:solidFill>
                <a:latin typeface="Consolas"/>
              </a:defRPr>
            </a:pPr>
            <a:r>
              <a:t>REPOSIÇÃO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5212080" y="2404872"/>
            <a:ext cx="1097280" cy="0"/>
          </a:xfrm>
          <a:prstGeom prst="line">
            <a:avLst/>
          </a:prstGeom>
          <a:ln w="12700">
            <a:solidFill>
              <a:srgbClr val="DE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254496" y="2432304"/>
            <a:ext cx="5321808" cy="310896"/>
          </a:xfrm>
          <a:prstGeom prst="roundRect">
            <a:avLst>
              <a:gd name="adj" fmla="val 2000"/>
            </a:avLst>
          </a:prstGeom>
          <a:solidFill>
            <a:srgbClr val="DCEEEA"/>
          </a:solidFill>
          <a:ln w="12700">
            <a:solidFill>
              <a:srgbClr val="DC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2459736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17/10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5413" y="2459736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98433" y="2459736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46B63"/>
                </a:solidFill>
                <a:latin typeface="Calibri"/>
              </a:defRPr>
            </a:pPr>
            <a:r>
              <a:t>+ 4 aulas de reposição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54496" y="2743200"/>
            <a:ext cx="5321808" cy="310896"/>
          </a:xfrm>
          <a:prstGeom prst="roundRect">
            <a:avLst>
              <a:gd name="adj" fmla="val 2000"/>
            </a:avLst>
          </a:prstGeom>
          <a:solidFill>
            <a:srgbClr val="DCEEEA"/>
          </a:solidFill>
          <a:ln w="12700">
            <a:solidFill>
              <a:srgbClr val="DC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770632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24/10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95413" y="2770632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98433" y="2770632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46B63"/>
                </a:solidFill>
                <a:latin typeface="Calibri"/>
              </a:defRPr>
            </a:pPr>
            <a:r>
              <a:t>+ 4 aulas de reposição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54496" y="3054096"/>
            <a:ext cx="5321808" cy="310896"/>
          </a:xfrm>
          <a:prstGeom prst="roundRect">
            <a:avLst>
              <a:gd name="adj" fmla="val 2000"/>
            </a:avLst>
          </a:prstGeom>
          <a:solidFill>
            <a:srgbClr val="DCEEEA"/>
          </a:solidFill>
          <a:ln w="12700">
            <a:solidFill>
              <a:srgbClr val="DC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3081527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31/10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5413" y="3081527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98433" y="3081527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46B63"/>
                </a:solidFill>
                <a:latin typeface="Calibri"/>
              </a:defRPr>
            </a:pPr>
            <a:r>
              <a:t>+ 4 aulas de reposição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54496" y="3364991"/>
            <a:ext cx="5321808" cy="310896"/>
          </a:xfrm>
          <a:prstGeom prst="roundRect">
            <a:avLst>
              <a:gd name="adj" fmla="val 2000"/>
            </a:avLst>
          </a:prstGeom>
          <a:solidFill>
            <a:srgbClr val="DCEEEA"/>
          </a:solidFill>
          <a:ln w="12700">
            <a:solidFill>
              <a:srgbClr val="DC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3392423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07/11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95413" y="3392423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98433" y="3392423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46B63"/>
                </a:solidFill>
                <a:latin typeface="Calibri"/>
              </a:defRPr>
            </a:pPr>
            <a:r>
              <a:t>+ 4 aulas de reposição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54496" y="3675887"/>
            <a:ext cx="5321808" cy="310896"/>
          </a:xfrm>
          <a:prstGeom prst="roundRect">
            <a:avLst>
              <a:gd name="adj" fmla="val 2000"/>
            </a:avLst>
          </a:prstGeom>
          <a:solidFill>
            <a:srgbClr val="DCEEEA"/>
          </a:solidFill>
          <a:ln w="12700">
            <a:solidFill>
              <a:srgbClr val="DCE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3703320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14/11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95413" y="3703320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98433" y="3703320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46B63"/>
                </a:solidFill>
                <a:latin typeface="Calibri"/>
              </a:defRPr>
            </a:pPr>
            <a:r>
              <a:t>+ 4 aulas de reposição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60" y="4014215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onsolas"/>
              </a:defRPr>
            </a:pPr>
            <a:r>
              <a:t>21/11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95413" y="4014215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3A0"/>
                </a:solidFill>
                <a:latin typeface="Calibri"/>
              </a:defRPr>
            </a:pPr>
            <a:r>
              <a:t>Sem aula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98433" y="4014215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feriado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0" y="4325112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28/11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95413" y="4325112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98433" y="4325112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60" y="4636007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05/12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95413" y="4636007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98433" y="4636007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9360" y="4946903"/>
            <a:ext cx="88605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onsolas"/>
              </a:defRPr>
            </a:pPr>
            <a:r>
              <a:t>12/12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95413" y="4946903"/>
            <a:ext cx="13030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430"/>
                </a:solidFill>
                <a:latin typeface="Calibri"/>
              </a:defRPr>
            </a:pPr>
            <a:r>
              <a:t>4 aulas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98433" y="4946903"/>
            <a:ext cx="302300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8B93A0"/>
                </a:solidFill>
                <a:latin typeface="Calibri"/>
              </a:defRPr>
            </a:pPr>
            <a:r>
              <a:t>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Avaliação formativa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i="0" b="0">
                <a:solidFill>
                  <a:srgbClr val="5B6472"/>
                </a:solidFill>
                <a:latin typeface="Calibri"/>
              </a:defRPr>
            </a:pPr>
            <a:r>
              <a:t>Ao longo do semestre, não só no fim: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8686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5B6472"/>
                </a:solidFill>
                <a:latin typeface="Calibri"/>
              </a:defRPr>
            </a:pPr>
            <a:r>
              <a:t>—  Pesquisas práticas ligadas a cada sessão</a:t>
            </a:r>
          </a:p>
          <a:p>
            <a:pPr>
              <a:spcAft>
                <a:spcPts val="1800"/>
              </a:spcAft>
              <a:defRPr sz="1900">
                <a:solidFill>
                  <a:srgbClr val="5B6472"/>
                </a:solidFill>
                <a:latin typeface="Calibri"/>
              </a:defRPr>
            </a:pPr>
            <a:r>
              <a:t>—  Pitches de entrega intermediária do projeto</a:t>
            </a:r>
          </a:p>
          <a:p>
            <a:pPr>
              <a:spcAft>
                <a:spcPts val="1800"/>
              </a:spcAft>
              <a:defRPr sz="1900">
                <a:solidFill>
                  <a:srgbClr val="5B6472"/>
                </a:solidFill>
                <a:latin typeface="Calibri"/>
              </a:defRPr>
            </a:pPr>
            <a:r>
              <a:t>—  Análise e resolução de problemas, com rubrica combinada com a turma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O que pode compor as notas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400"/>
              </a:spcAft>
              <a:defRPr sz="1700" b="1" i="0">
                <a:solidFill>
                  <a:srgbClr val="1B2430"/>
                </a:solidFill>
                <a:latin typeface="Georgia"/>
              </a:defRPr>
            </a:pPr>
            <a:r>
              <a:t>P1, P2 - (P3 em caso de perder uma das anteriores)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Provas, uma por bimestre do curso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920240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400"/>
              </a:spcAft>
              <a:defRPr sz="1700" b="1" i="0">
                <a:solidFill>
                  <a:srgbClr val="1B2430"/>
                </a:solidFill>
                <a:latin typeface="Georgia"/>
              </a:defRPr>
            </a:pPr>
            <a:r>
              <a:t>Listas de exercícios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Resolvidas ao longo de cada sessão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400"/>
              </a:spcAft>
              <a:defRPr sz="1700" b="1" i="0">
                <a:solidFill>
                  <a:srgbClr val="1B2430"/>
                </a:solidFill>
                <a:latin typeface="Georgia"/>
              </a:defRPr>
            </a:pPr>
            <a:r>
              <a:t>Estudos de caso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Análise e resolução de problemas reais de PLN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383280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400"/>
              </a:spcAft>
              <a:defRPr sz="1700" b="1" i="0">
                <a:solidFill>
                  <a:srgbClr val="1B2430"/>
                </a:solidFill>
                <a:latin typeface="Georgia"/>
              </a:defRPr>
            </a:pPr>
            <a:r>
              <a:t>Projetos práticos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Desenvolvidos ao longo do semestre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400"/>
              </a:spcAft>
              <a:defRPr sz="1700" b="1" i="0">
                <a:solidFill>
                  <a:srgbClr val="1B2430"/>
                </a:solidFill>
                <a:latin typeface="Georgia"/>
              </a:defRPr>
            </a:pPr>
            <a:r>
              <a:t>Trabalho interdisciplinar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5B6472"/>
                </a:solidFill>
                <a:latin typeface="Calibri"/>
              </a:defRPr>
            </a:pPr>
            <a:r>
              <a:t>Integrado ao projeto do semestre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O caminho até lá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794760"/>
            <a:ext cx="9692640" cy="0"/>
          </a:xfrm>
          <a:prstGeom prst="line">
            <a:avLst/>
          </a:prstGeom>
          <a:ln w="31750">
            <a:solidFill>
              <a:srgbClr val="DED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32104" y="3712464"/>
            <a:ext cx="164592" cy="164592"/>
          </a:xfrm>
          <a:prstGeom prst="ellipse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28803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Texto &amp;</a:t>
            </a:r>
          </a:p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6B63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3346704" y="3712464"/>
            <a:ext cx="164592" cy="164592"/>
          </a:xfrm>
          <a:prstGeom prst="ellipse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28803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Sintaxe,</a:t>
            </a:r>
          </a:p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semântica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6B63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5861304" y="3712464"/>
            <a:ext cx="164592" cy="164592"/>
          </a:xfrm>
          <a:prstGeom prst="ellipse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8803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Conhecimento</a:t>
            </a:r>
          </a:p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&amp; sentimento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6B63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Oval 14"/>
          <p:cNvSpPr/>
          <p:nvPr/>
        </p:nvSpPr>
        <p:spPr>
          <a:xfrm>
            <a:off x="8375904" y="3712464"/>
            <a:ext cx="164592" cy="164592"/>
          </a:xfrm>
          <a:prstGeom prst="ellipse">
            <a:avLst/>
          </a:prstGeom>
          <a:solidFill>
            <a:srgbClr val="14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8803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ML, voz &amp;</a:t>
            </a:r>
          </a:p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chatbots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6B63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Oval 17"/>
          <p:cNvSpPr/>
          <p:nvPr/>
        </p:nvSpPr>
        <p:spPr>
          <a:xfrm>
            <a:off x="10506456" y="3694176"/>
            <a:ext cx="201168" cy="201168"/>
          </a:xfrm>
          <a:prstGeom prst="ellipse">
            <a:avLst/>
          </a:prstGeom>
          <a:noFill/>
          <a:ln w="38100">
            <a:solidFill>
              <a:srgbClr val="B45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8803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Portfólio</a:t>
            </a:r>
          </a:p>
          <a:p>
            <a:pPr algn="ctr">
              <a:defRPr sz="1500" b="1">
                <a:solidFill>
                  <a:srgbClr val="1B2430"/>
                </a:solidFill>
                <a:latin typeface="Calibri"/>
              </a:defRPr>
            </a:pPr>
            <a:r>
              <a:t>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4590E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i="0" b="0">
                <a:solidFill>
                  <a:srgbClr val="8B93A0"/>
                </a:solidFill>
                <a:latin typeface="Calibri"/>
              </a:defRPr>
            </a:pPr>
            <a:r>
              <a:t>Da primeira linha de código tokenizada até a entrega final no Portfólio Digital.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430"/>
                </a:solidFill>
                <a:latin typeface="Georgia"/>
              </a:defRPr>
            </a:pPr>
            <a:r>
              <a:t>O projeto do semestre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i="0" b="0">
                <a:solidFill>
                  <a:srgbClr val="5B6472"/>
                </a:solidFill>
                <a:latin typeface="Calibri"/>
              </a:defRPr>
            </a:pPr>
            <a:r>
              <a:t>Em grupos, vocês escolhem um problema real de linguagem — chatbot de atendimento, classificador de avaliações de produto, extrator de informação de notícias, entre outros — e desenvolvem ao longo do semestre, aplicando cada técnica que aprendermos nele.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i="1" b="0">
                <a:solidFill>
                  <a:srgbClr val="8B93A0"/>
                </a:solidFill>
                <a:latin typeface="Calibri"/>
              </a:defRPr>
            </a:pPr>
            <a:r>
              <a:t>A definição de tema acontece já nas primeiras sessões: projeto que o grupo tem interesse real anda muito mais rápido que projeto escolhido de qualquer jeito.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6B63"/>
                </a:solidFill>
                <a:latin typeface="Georgia"/>
              </a:defRPr>
            </a:pPr>
            <a:r>
              <a:t>No 6º semestre, PLN não fica isolado.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i="0" b="0">
                <a:solidFill>
                  <a:srgbClr val="5B6472"/>
                </a:solidFill>
                <a:latin typeface="Calibri"/>
              </a:defRPr>
            </a:pPr>
            <a:r>
              <a:t>O componente caminha integrado com os outros da grade do período, pensando no projeto final do semestre como um todo — o que vocês constroem aqui entra como a parte de linguagem natural desse projeto maior, não como mais um trabalho separado para entregar.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Combinados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  <a:defRPr sz="1900">
                <a:solidFill>
                  <a:srgbClr val="5B6472"/>
                </a:solidFill>
                <a:latin typeface="Calibri"/>
              </a:defRPr>
            </a:pPr>
            <a:r>
              <a:t>—  Câmera ligada é incentivada, mas o que conta pra frequência é participação nas atividades da semana</a:t>
            </a:r>
          </a:p>
          <a:p>
            <a:pPr>
              <a:spcAft>
                <a:spcPts val="2160"/>
              </a:spcAft>
              <a:defRPr sz="1900">
                <a:solidFill>
                  <a:srgbClr val="5B6472"/>
                </a:solidFill>
                <a:latin typeface="Calibri"/>
              </a:defRPr>
            </a:pPr>
            <a:r>
              <a:t>—  Atividades têm prazo até a véspera do sábado seguinte</a:t>
            </a:r>
          </a:p>
          <a:p>
            <a:pPr>
              <a:spcAft>
                <a:spcPts val="2160"/>
              </a:spcAft>
              <a:defRPr sz="1900">
                <a:solidFill>
                  <a:srgbClr val="5B6472"/>
                </a:solidFill>
                <a:latin typeface="Calibri"/>
              </a:defRPr>
            </a:pPr>
            <a:r>
              <a:t>—  Dúvidas são tiradas durante o horário de aula, no Teams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6B63"/>
                </a:solidFill>
                <a:latin typeface="Consolas"/>
              </a:defRPr>
            </a:pPr>
            <a:r>
              <a:t>SESSÃO 01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9260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B6472"/>
                </a:solidFill>
                <a:latin typeface="Consolas"/>
              </a:defRPr>
            </a:pPr>
            <a: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430"/>
                </a:solidFill>
                <a:latin typeface="Georgia"/>
              </a:defRPr>
            </a:pPr>
            <a:r>
              <a:t>Bibliografia básica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472"/>
                </a:solidFill>
                <a:latin typeface="Calibri"/>
              </a:defRPr>
            </a:pPr>
            <a:r>
              <a:t>FERREIRA, M.; LOPES, M. Para conhecer linguística computacional. São Paulo: Contexto, 2019.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947672"/>
            <a:ext cx="0" cy="0"/>
          </a:xfrm>
          <a:prstGeom prst="line">
            <a:avLst/>
          </a:prstGeom>
          <a:ln w="12700">
            <a:solidFill>
              <a:srgbClr val="146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2697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472"/>
                </a:solidFill>
                <a:latin typeface="Calibri"/>
              </a:defRPr>
            </a:pPr>
            <a:r>
              <a:t>RAJ, S. Construindo Chatbots com Python: Usando Natural Language Processing e Machine Learning. São Paulo: Novatec, 2019.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724912"/>
            <a:ext cx="0" cy="0"/>
          </a:xfrm>
          <a:prstGeom prst="line">
            <a:avLst/>
          </a:prstGeom>
          <a:ln w="12700">
            <a:solidFill>
              <a:srgbClr val="146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34747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472"/>
                </a:solidFill>
                <a:latin typeface="Calibri"/>
              </a:defRPr>
            </a:pPr>
            <a:r>
              <a:t>RUSSELL, M. A. Mineração de Dados da Web Social. São Paulo: Novatec, 2019.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502152"/>
            <a:ext cx="0" cy="0"/>
          </a:xfrm>
          <a:prstGeom prst="line">
            <a:avLst/>
          </a:prstGeom>
          <a:ln w="12700">
            <a:solidFill>
              <a:srgbClr val="146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521208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6B63"/>
                </a:solidFill>
                <a:latin typeface="Georgia"/>
              </a:defRPr>
            </a:pPr>
            <a:r>
              <a:t>Vamos começar.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