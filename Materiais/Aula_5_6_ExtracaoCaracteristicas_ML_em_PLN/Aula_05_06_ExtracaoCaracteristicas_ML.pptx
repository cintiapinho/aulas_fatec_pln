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300" r:id="rId6"/>
    <p:sldId id="260" r:id="rId7"/>
    <p:sldId id="29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5" r:id="rId17"/>
    <p:sldId id="269" r:id="rId18"/>
    <p:sldId id="270" r:id="rId19"/>
    <p:sldId id="271" r:id="rId20"/>
    <p:sldId id="272" r:id="rId21"/>
    <p:sldId id="296" r:id="rId22"/>
    <p:sldId id="298" r:id="rId23"/>
    <p:sldId id="297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99" r:id="rId37"/>
    <p:sldId id="285" r:id="rId38"/>
    <p:sldId id="286" r:id="rId39"/>
    <p:sldId id="287" r:id="rId40"/>
    <p:sldId id="288" r:id="rId41"/>
    <p:sldId id="289" r:id="rId42"/>
    <p:sldId id="292" r:id="rId43"/>
    <p:sldId id="29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35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Boas-vindas à aula dupla das Sessões 05 e 06 de PLN. Hoje cobriremos a jornada completa: transformar texto em representação numérica (vetorização) e aplicar isso em detecção de ofensividade e polaridade de sentimentos.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aos alunos a dinâmica da aula: teremos a base matemática e computacional de como representar textos na Parte 1, e aplicaremos diretamente na Parte 2 para analisar sentimentos e comentários ofensivos.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Destaque aqui a intuição: se o modelo apenas olhar frequência bruta de palavras sem critério, 'produto' e 'chegou' dominarão os cálculos, ofuscando 'excelente' e 'horrível'.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Destaque aqui a intuição: se o modelo apenas olhar frequência bruta de palavras sem critério, 'produto' e 'chegou' dominarão os cálculos, ofuscando 'excelente' e 'horrível'.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1320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a metáfora do saco: se jogarmos as palavras de um livro dentro de uma sacola e agitarmos, a história se perde, mas ainda sabemos do que se trata se a palavra 'futebol' aparecer 100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a metáfora do saco: se jogarmos as palavras de um livro dentro de uma sacola e agitarmos, a história se perde, mas ainda sabemos do que se trata se a palavra 'futebol' aparecer 100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44450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aos alunos a relação entre o número de linhas (4 documentos) e o número de colunas (15 palavras únicas). Cada célula [i, j] representa a contagem exata da palavra j no documento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Ressalte que a esparsidade é uma característica técnica intrínseca de PLN tradicional, e que o problema do BoW é dar peso idêntico a palavras que não ajudam na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Deixe claro que o BoW não é apenas um artifício didático para ensinar TF-IDF; é uma técnica extremamente leve e rápida que ainda roda em escala em muitos sistemas legados e de alta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exemplo é fundamental: mostra aos alunos que o conceito de calcular similaridade de cosseno sobre vetores de texto já funciona mesmo com contagens simples, antecipando o conceito de RAG das sessões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a mecânica matemática: o logaritmo no IDF serve para comprimir a escala e evitar que palavras ultra-raras explodam o peso do vetor de forma desproporcional.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Chame a atenção dos alunos para os números: no BoW, 'produto' era 1 e 'excelente' era 1. Agora no TF-IDF, 'produto' despencou para 0.30 e 'excelente' saltou para 0.50. Os adjetivos informativos ganham protagonismo.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Importante registrar que o HashingVectorizer existe para grandes volumes, embora o TfidfVectorizer seja mais explicável e permita inspecionar cada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Enfatize a relevância do bigrama: 'não gostei' tem sentimento totalmente inverso de 'gostei'. Ao unir as duas palavras em um único token, o classificador passa a enxergar a negação como uma feature autônoma.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Enfatize a relevância do bigrama: 'não gostei' tem sentimento totalmente inverso de 'gostei'. Ao unir as duas palavras em um único token, o classificador passa a enxergar a negação como uma feature autônoma.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48825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o caso de 'quebrado nao': o algoritmo não entende semântica nem pontuação, apenas gera combinações consecutivas. Cabe a nós entender essa limitação.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que os números aqui são ilustrativos para fixar a intuição geométrica. O treinamento real com Word2Vec e modelos neurais será visto aprofundadamente na Sessão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como a similaridade de cosseno varia entre -1 (opostos) e +1 (idênticos). Em espaços de embeddings positivos, 0 indica ausência de correlação e ~1 indica sinônimos perfeitos.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revisão foi solicitada pelos alunos para alinhar conceitos antes de avançar para classificadores estatísticos.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revisão foi solicitada pelos alunos para alinhar conceitos antes de avançar para classificadores estatísticos.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5214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revisão foi solicitada pelos alunos para alinhar conceitos antes de avançar para classificadores estatísticos.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2605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revisão foi solicitada pelos alunos para alinhar conceitos antes de avançar para classificadores estatísticos.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6429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Reforce que avaliar no treino é como entregar a prova antes do exame para o aluno decorar.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que o Naive Bayes não possui 'caixa preta': seu treinamento consiste literalmente em preencher tabelas de contagens de palavras por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Demonstre aos alunos como a suavização de Laplace (+1 no numerador e +V no denominador) protege contra divisões por zero ou anulações completas.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momento de validação gera enorme confiança nos alunos, demonstrando que a biblioteca scikit-learn aplica diretamente a formulação matemática que acabaram de aprender.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como abordagens ingênuas baseadas em regras de palavras-chave manuais falham completamente em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Guarde bem o número 85%: ele representa o estado da arte com modelos estatísticos lineares simples, e será a nossa referência para comparar com os léxicos na Parte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quando usar cada uma: se a empresa não tem dataset rotulado para começar hoje, o léxico é o primeiro passo viável.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Destaque que o OpLexicon possui mais de 24 mil palavras e roda nativamente no Python como um dicionário hash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é uma armadilha comum em código de alunos: normalizar demais o texto e quebrar os lookups de bibliotecas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Aponte o uso do regex [a-zà-úA-ZÀ-Ú]+ para capturar palavras em português preservando acentuação.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aos alunos como a negação é uma das principais causas de erros grotescos em sistemas de sentimento baseados em léxico 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aos alunos como a negação é uma das principais causas de erros grotescos em sistemas de sentimento baseados em léxico 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36904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a lógica de fatiamento de lista palavras[max(0, i-janela):i].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Enfatize que ironia e sarcasmo continuam sendo desafios abertos até mesmo para modelos avançados de 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aos alunos a diferença entre um léxico de propósito geral e um modelo estatístico treinado sobre os dados específicos do domínio.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clímax da aula: fechar a narrativa mostrando a evolução metódica de 51% para 67% e finalmente 85%.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Mostre o roadmap aos alunos para que entendam como as peças do curso se encaixam.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Recapitulação final para fechar a aula com chave de ouro.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Incentive os alunos a consultar o paper do HateBR e a documentação oficial do OpLexicon.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PROCESSAMENTO DE LINGUAGEM NATURAL · SESSÕES 05 E 06 DE 16</a:t>
            </a:r>
          </a:p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Vetorização de Texto &amp;</a:t>
            </a:r>
            <a:br/>
            <a:r>
              <a:t>Fundamentos de Análise de Sentimentos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Material Didático Completo (Apostila): Do Bag of Words ao Naive Bayes, e a aplicação prática com OpLexicon e HateBR.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VISÃO GERAL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Roteiro da Aula Dupla: Duas Sessões em Um Único 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t"/>
          <a:lstStyle/>
          <a:p>
            <a:pPr algn="ctr">
              <a:spcAft>
                <a:spcPts val="12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rPr dirty="0"/>
              <a:t>PARTE 1: VETORIZAÇÃO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1.1 Do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(</a:t>
            </a:r>
            <a:r>
              <a:rPr dirty="0" err="1"/>
              <a:t>Desafio</a:t>
            </a:r>
            <a:r>
              <a:rPr dirty="0"/>
              <a:t> da </a:t>
            </a:r>
            <a:r>
              <a:rPr dirty="0" err="1"/>
              <a:t>Vetorização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1.2 Bag of Words: </a:t>
            </a:r>
            <a:r>
              <a:rPr dirty="0" err="1"/>
              <a:t>Conceito</a:t>
            </a:r>
            <a:r>
              <a:rPr dirty="0"/>
              <a:t>, </a:t>
            </a:r>
            <a:r>
              <a:rPr dirty="0" err="1"/>
              <a:t>scikit</a:t>
            </a:r>
            <a:r>
              <a:rPr dirty="0"/>
              <a:t>-learn &amp; </a:t>
            </a:r>
            <a:r>
              <a:rPr dirty="0" err="1"/>
              <a:t>Esparsidade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1.3 TF-IDF: </a:t>
            </a:r>
            <a:r>
              <a:rPr dirty="0" err="1"/>
              <a:t>Intuição</a:t>
            </a:r>
            <a:r>
              <a:rPr dirty="0"/>
              <a:t> </a:t>
            </a:r>
            <a:r>
              <a:rPr dirty="0" err="1"/>
              <a:t>Matemática</a:t>
            </a:r>
            <a:r>
              <a:rPr dirty="0"/>
              <a:t> &amp; </a:t>
            </a:r>
            <a:r>
              <a:rPr dirty="0" err="1"/>
              <a:t>Ponderação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1.4 N-</a:t>
            </a:r>
            <a:r>
              <a:rPr dirty="0" err="1"/>
              <a:t>gramas</a:t>
            </a:r>
            <a:r>
              <a:rPr dirty="0"/>
              <a:t>: </a:t>
            </a:r>
            <a:r>
              <a:rPr dirty="0" err="1"/>
              <a:t>Preservando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Local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1.5 Word Embeddings &amp; </a:t>
            </a:r>
            <a:r>
              <a:rPr dirty="0" err="1"/>
              <a:t>Similaridade</a:t>
            </a:r>
            <a:r>
              <a:rPr dirty="0"/>
              <a:t> por </a:t>
            </a:r>
            <a:r>
              <a:rPr dirty="0" err="1"/>
              <a:t>Cosseno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1.6 </a:t>
            </a:r>
            <a:r>
              <a:rPr dirty="0" err="1"/>
              <a:t>Revisão</a:t>
            </a:r>
            <a:r>
              <a:rPr dirty="0"/>
              <a:t> de ML &amp; Naive Bayes </a:t>
            </a:r>
            <a:r>
              <a:rPr dirty="0" err="1"/>
              <a:t>Passo</a:t>
            </a:r>
            <a:r>
              <a:rPr dirty="0"/>
              <a:t> a </a:t>
            </a:r>
            <a:r>
              <a:rPr dirty="0" err="1"/>
              <a:t>Passo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1.7 </a:t>
            </a:r>
            <a:r>
              <a:rPr dirty="0" err="1"/>
              <a:t>Estudo</a:t>
            </a:r>
            <a:r>
              <a:rPr dirty="0"/>
              <a:t> de Caso: </a:t>
            </a:r>
            <a:r>
              <a:rPr dirty="0" err="1"/>
              <a:t>Classificador</a:t>
            </a:r>
            <a:r>
              <a:rPr dirty="0"/>
              <a:t> Real no </a:t>
            </a:r>
            <a:r>
              <a:rPr dirty="0" err="1"/>
              <a:t>HateBR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t"/>
          <a:lstStyle/>
          <a:p>
            <a:pPr algn="ctr">
              <a:spcAft>
                <a:spcPts val="12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PARTE 2: ANÁLISE DE SENTIMENTOS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2.1 O que é Análise de Sentimentos e Abordagens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2.2 A Lógica do Léxico: OpLexicon v3.0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2.3 Algoritmo de Soma de Polaridades com Regex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2.4 O Problema Crítico da Negação (Janela Deslizante)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2.5 Limitações: Intensificadores e Sarcasmo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2.6 Estudo de Caso no HateBR via Léxico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t>• 2.7 A Régua Comparativa Final (51% vs 67% vs 85%)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t"/>
          <a:lstStyle/>
          <a:p>
            <a:pPr algn="ctr">
              <a:spcAft>
                <a:spcPts val="12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rPr lang="pt-BR" dirty="0"/>
              <a:t>VOLTANDO AO SLIDE ANTERIOR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lang="pt-BR" dirty="0"/>
              <a:t>•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HateBR</a:t>
            </a:r>
            <a:r>
              <a:rPr lang="pt-BR" dirty="0"/>
              <a:t> (VARGAS et al., 2022)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7.000 </a:t>
            </a:r>
            <a:r>
              <a:rPr dirty="0" err="1"/>
              <a:t>comentários</a:t>
            </a:r>
            <a:r>
              <a:rPr dirty="0"/>
              <a:t> </a:t>
            </a:r>
            <a:r>
              <a:rPr dirty="0" err="1"/>
              <a:t>reais</a:t>
            </a:r>
            <a:r>
              <a:rPr dirty="0"/>
              <a:t> do Instagram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Anotados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ofensivos</a:t>
            </a:r>
            <a:r>
              <a:rPr dirty="0"/>
              <a:t> (1)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neutros</a:t>
            </a:r>
            <a:r>
              <a:rPr dirty="0"/>
              <a:t> (0)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Comparativo</a:t>
            </a:r>
            <a:r>
              <a:rPr dirty="0"/>
              <a:t> </a:t>
            </a:r>
            <a:r>
              <a:rPr dirty="0" err="1"/>
              <a:t>justo</a:t>
            </a:r>
            <a:r>
              <a:rPr dirty="0"/>
              <a:t>: </a:t>
            </a:r>
            <a:r>
              <a:rPr dirty="0" err="1"/>
              <a:t>mesmo</a:t>
            </a:r>
            <a:r>
              <a:rPr dirty="0"/>
              <a:t> conjunto de teste (20%)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Evolução</a:t>
            </a:r>
            <a:r>
              <a:rPr dirty="0"/>
              <a:t> </a:t>
            </a:r>
            <a:r>
              <a:rPr dirty="0" err="1"/>
              <a:t>progressiva</a:t>
            </a:r>
            <a:r>
              <a:rPr dirty="0"/>
              <a:t>: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manuais</a:t>
            </a:r>
            <a:r>
              <a:rPr dirty="0"/>
              <a:t> -&gt; </a:t>
            </a:r>
            <a:r>
              <a:rPr dirty="0" err="1"/>
              <a:t>Léxico</a:t>
            </a:r>
            <a:r>
              <a:rPr dirty="0"/>
              <a:t> -&gt;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449705"/>
            <a:ext cx="9418320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rPr sz="1400" dirty="0"/>
              <a:t>PARTE 1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sz="5400" dirty="0" err="1"/>
              <a:t>Extração</a:t>
            </a:r>
            <a:r>
              <a:rPr sz="5400" dirty="0"/>
              <a:t> de </a:t>
            </a:r>
            <a:r>
              <a:rPr sz="5400" dirty="0" err="1"/>
              <a:t>Características</a:t>
            </a:r>
            <a:r>
              <a:rPr sz="5400" dirty="0"/>
              <a:t>:</a:t>
            </a:r>
            <a:br>
              <a:rPr sz="5400" dirty="0"/>
            </a:br>
            <a:r>
              <a:rPr sz="5400" dirty="0" err="1"/>
              <a:t>Transformando</a:t>
            </a:r>
            <a:r>
              <a:rPr sz="5400" dirty="0"/>
              <a:t> </a:t>
            </a:r>
            <a:r>
              <a:rPr sz="5400" dirty="0" err="1"/>
              <a:t>Texto</a:t>
            </a:r>
            <a:r>
              <a:rPr sz="5400" dirty="0"/>
              <a:t> </a:t>
            </a:r>
            <a:r>
              <a:rPr sz="5400" dirty="0" err="1"/>
              <a:t>em</a:t>
            </a:r>
            <a:r>
              <a:rPr sz="5400" dirty="0"/>
              <a:t> </a:t>
            </a:r>
            <a:r>
              <a:rPr sz="5400" dirty="0" err="1"/>
              <a:t>Números</a:t>
            </a:r>
            <a:endParaRPr sz="5400" dirty="0"/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Como </a:t>
            </a:r>
            <a:r>
              <a:rPr sz="1400" dirty="0" err="1"/>
              <a:t>algoritmos</a:t>
            </a:r>
            <a:r>
              <a:rPr sz="1400" dirty="0"/>
              <a:t> de Machine Learning </a:t>
            </a:r>
            <a:r>
              <a:rPr sz="1400" dirty="0" err="1"/>
              <a:t>operam</a:t>
            </a:r>
            <a:r>
              <a:rPr sz="1400" dirty="0"/>
              <a:t> </a:t>
            </a:r>
            <a:r>
              <a:rPr sz="1400" dirty="0" err="1"/>
              <a:t>exclusivamente</a:t>
            </a:r>
            <a:r>
              <a:rPr sz="1400" dirty="0"/>
              <a:t> com </a:t>
            </a:r>
            <a:r>
              <a:rPr sz="1400" dirty="0" err="1"/>
              <a:t>matrizes</a:t>
            </a:r>
            <a:r>
              <a:rPr sz="1400" dirty="0"/>
              <a:t> </a:t>
            </a:r>
            <a:r>
              <a:rPr sz="1400" dirty="0" err="1"/>
              <a:t>numéricas</a:t>
            </a:r>
            <a:r>
              <a:rPr sz="1400" dirty="0"/>
              <a:t>, a </a:t>
            </a:r>
            <a:r>
              <a:rPr sz="1400" dirty="0" err="1"/>
              <a:t>vetorização</a:t>
            </a:r>
            <a:r>
              <a:rPr sz="1400" dirty="0"/>
              <a:t> é o </a:t>
            </a:r>
            <a:r>
              <a:rPr sz="1400" dirty="0" err="1"/>
              <a:t>elo</a:t>
            </a:r>
            <a:r>
              <a:rPr sz="1400" dirty="0"/>
              <a:t> fundamental entre a </a:t>
            </a:r>
            <a:r>
              <a:rPr sz="1400" dirty="0" err="1"/>
              <a:t>linguagem</a:t>
            </a:r>
            <a:r>
              <a:rPr sz="1400" dirty="0"/>
              <a:t> </a:t>
            </a:r>
            <a:r>
              <a:rPr sz="1400" dirty="0" err="1"/>
              <a:t>humana</a:t>
            </a:r>
            <a:r>
              <a:rPr sz="1400" dirty="0"/>
              <a:t> e </a:t>
            </a:r>
            <a:r>
              <a:rPr sz="1400" dirty="0" err="1"/>
              <a:t>os</a:t>
            </a:r>
            <a:r>
              <a:rPr sz="1400" dirty="0"/>
              <a:t> </a:t>
            </a:r>
            <a:r>
              <a:rPr sz="1400" dirty="0" err="1"/>
              <a:t>modelos</a:t>
            </a:r>
            <a:r>
              <a:rPr sz="1400" dirty="0"/>
              <a:t> </a:t>
            </a:r>
            <a:r>
              <a:rPr sz="1400" dirty="0" err="1"/>
              <a:t>matemáticos</a:t>
            </a:r>
            <a:r>
              <a:rPr sz="1400" dirty="0"/>
              <a:t> (GÉRON, 2019).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180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1.1 DO TEXTO AO NÚMERO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pt-BR" dirty="0"/>
              <a:t> Como entender o sentido das frases?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19" y="1645920"/>
            <a:ext cx="10403205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rPr sz="2000" dirty="0"/>
              <a:t>Por que </a:t>
            </a:r>
            <a:r>
              <a:rPr sz="2000" dirty="0" err="1"/>
              <a:t>não</a:t>
            </a:r>
            <a:r>
              <a:rPr sz="2000" dirty="0"/>
              <a:t> </a:t>
            </a:r>
            <a:r>
              <a:rPr sz="2000" dirty="0" err="1"/>
              <a:t>basta</a:t>
            </a:r>
            <a:r>
              <a:rPr sz="2000" dirty="0"/>
              <a:t> </a:t>
            </a:r>
            <a:r>
              <a:rPr sz="2000" dirty="0" err="1"/>
              <a:t>apenas</a:t>
            </a:r>
            <a:r>
              <a:rPr sz="2000" dirty="0"/>
              <a:t> </a:t>
            </a:r>
            <a:r>
              <a:rPr sz="2000" dirty="0" err="1"/>
              <a:t>contar</a:t>
            </a:r>
            <a:r>
              <a:rPr sz="2000" dirty="0"/>
              <a:t> </a:t>
            </a:r>
            <a:r>
              <a:rPr sz="2000" dirty="0" err="1"/>
              <a:t>palavras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comum</a:t>
            </a:r>
            <a:r>
              <a:rPr sz="2000" dirty="0"/>
              <a:t>?</a:t>
            </a:r>
          </a:p>
          <a:p>
            <a:pPr>
              <a:defRPr sz="1250">
                <a:solidFill>
                  <a:srgbClr val="0F172A"/>
                </a:solidFill>
                <a:latin typeface="Arial"/>
              </a:defRPr>
            </a:pPr>
            <a:r>
              <a:rPr sz="1400" dirty="0" err="1"/>
              <a:t>Algoritmos</a:t>
            </a:r>
            <a:r>
              <a:rPr sz="1400" dirty="0"/>
              <a:t> de Machine Learning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leem</a:t>
            </a:r>
            <a:r>
              <a:rPr sz="1400" dirty="0"/>
              <a:t> </a:t>
            </a:r>
            <a:r>
              <a:rPr sz="1400" dirty="0" err="1"/>
              <a:t>texto</a:t>
            </a:r>
            <a:r>
              <a:rPr sz="1400" dirty="0"/>
              <a:t> — </a:t>
            </a:r>
            <a:r>
              <a:rPr sz="1400" dirty="0" err="1"/>
              <a:t>trabalham</a:t>
            </a:r>
            <a:r>
              <a:rPr sz="1400" dirty="0"/>
              <a:t> </a:t>
            </a:r>
            <a:r>
              <a:rPr sz="1400" dirty="0" err="1"/>
              <a:t>só</a:t>
            </a:r>
            <a:r>
              <a:rPr sz="1400" dirty="0"/>
              <a:t> com </a:t>
            </a:r>
            <a:r>
              <a:rPr sz="1400" dirty="0" err="1"/>
              <a:t>números</a:t>
            </a:r>
            <a:r>
              <a:rPr sz="1400" dirty="0"/>
              <a:t>. Para </a:t>
            </a:r>
            <a:r>
              <a:rPr sz="1400" dirty="0" err="1"/>
              <a:t>usar</a:t>
            </a:r>
            <a:r>
              <a:rPr sz="1400" dirty="0"/>
              <a:t> </a:t>
            </a:r>
            <a:r>
              <a:rPr sz="1400" dirty="0" err="1"/>
              <a:t>qualquer</a:t>
            </a:r>
            <a:r>
              <a:rPr sz="1400" dirty="0"/>
              <a:t> </a:t>
            </a:r>
            <a:r>
              <a:rPr sz="1400" dirty="0" err="1"/>
              <a:t>modelo</a:t>
            </a:r>
            <a:r>
              <a:rPr sz="1400" dirty="0"/>
              <a:t> de </a:t>
            </a:r>
            <a:r>
              <a:rPr sz="1400" dirty="0" err="1"/>
              <a:t>classificação</a:t>
            </a:r>
            <a:r>
              <a:rPr sz="1400" dirty="0"/>
              <a:t>, </a:t>
            </a:r>
            <a:r>
              <a:rPr sz="1400" dirty="0" err="1"/>
              <a:t>regressão</a:t>
            </a:r>
            <a:r>
              <a:rPr sz="1400" dirty="0"/>
              <a:t> </a:t>
            </a:r>
            <a:r>
              <a:rPr sz="1400" dirty="0" err="1"/>
              <a:t>ou</a:t>
            </a:r>
            <a:r>
              <a:rPr sz="1400" dirty="0"/>
              <a:t> </a:t>
            </a:r>
            <a:r>
              <a:rPr sz="1400" dirty="0" err="1"/>
              <a:t>agrupamento</a:t>
            </a:r>
            <a:r>
              <a:rPr sz="1400" dirty="0"/>
              <a:t> </a:t>
            </a:r>
            <a:r>
              <a:rPr sz="1400" dirty="0" err="1"/>
              <a:t>sobre</a:t>
            </a:r>
            <a:r>
              <a:rPr sz="1400" dirty="0"/>
              <a:t> </a:t>
            </a:r>
            <a:r>
              <a:rPr sz="1400" dirty="0" err="1"/>
              <a:t>texto</a:t>
            </a:r>
            <a:r>
              <a:rPr sz="1400" dirty="0"/>
              <a:t>, é </a:t>
            </a:r>
            <a:r>
              <a:rPr sz="1400" dirty="0" err="1"/>
              <a:t>preciso</a:t>
            </a:r>
            <a:r>
              <a:rPr sz="1400" dirty="0"/>
              <a:t> </a:t>
            </a:r>
            <a:r>
              <a:rPr sz="1400" dirty="0" err="1"/>
              <a:t>primeiro</a:t>
            </a:r>
            <a:r>
              <a:rPr sz="1400" dirty="0"/>
              <a:t> </a:t>
            </a:r>
            <a:r>
              <a:rPr sz="1400" dirty="0" err="1"/>
              <a:t>transformar</a:t>
            </a:r>
            <a:r>
              <a:rPr sz="1400" dirty="0"/>
              <a:t> </a:t>
            </a:r>
            <a:r>
              <a:rPr sz="1400" dirty="0" err="1"/>
              <a:t>cada</a:t>
            </a:r>
            <a:r>
              <a:rPr sz="1400" dirty="0"/>
              <a:t> </a:t>
            </a:r>
            <a:r>
              <a:rPr sz="1400" dirty="0" err="1"/>
              <a:t>documento</a:t>
            </a:r>
            <a:r>
              <a:rPr sz="1400" dirty="0"/>
              <a:t> </a:t>
            </a:r>
            <a:r>
              <a:rPr sz="1400" dirty="0" err="1"/>
              <a:t>numa</a:t>
            </a:r>
            <a:r>
              <a:rPr sz="1400" dirty="0"/>
              <a:t> </a:t>
            </a:r>
            <a:r>
              <a:rPr sz="1400" dirty="0" err="1"/>
              <a:t>lista</a:t>
            </a:r>
            <a:r>
              <a:rPr sz="1400" dirty="0"/>
              <a:t> de </a:t>
            </a:r>
            <a:r>
              <a:rPr sz="1400" dirty="0" err="1"/>
              <a:t>números</a:t>
            </a:r>
            <a:r>
              <a:rPr sz="1400" dirty="0"/>
              <a:t>: um VETOR (GÉRON, 2019).</a:t>
            </a:r>
            <a:br>
              <a:rPr sz="1400" dirty="0"/>
            </a:br>
            <a:br>
              <a:rPr sz="1400" dirty="0"/>
            </a:br>
            <a:r>
              <a:rPr sz="1400" dirty="0" err="1"/>
              <a:t>Considere</a:t>
            </a:r>
            <a:r>
              <a:rPr sz="1400" dirty="0"/>
              <a:t> </a:t>
            </a:r>
            <a:r>
              <a:rPr sz="1400" dirty="0" err="1"/>
              <a:t>duas</a:t>
            </a:r>
            <a:r>
              <a:rPr sz="1400" dirty="0"/>
              <a:t> </a:t>
            </a:r>
            <a:r>
              <a:rPr sz="1400" dirty="0" err="1"/>
              <a:t>avaliações</a:t>
            </a:r>
            <a:r>
              <a:rPr sz="1400" dirty="0"/>
              <a:t> </a:t>
            </a:r>
            <a:r>
              <a:rPr sz="1400" dirty="0" err="1"/>
              <a:t>reais</a:t>
            </a:r>
            <a:r>
              <a:rPr sz="1400" dirty="0"/>
              <a:t> de </a:t>
            </a:r>
            <a:r>
              <a:rPr sz="1400" dirty="0" err="1"/>
              <a:t>clientes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• Review A: "</a:t>
            </a:r>
            <a:r>
              <a:rPr sz="1400" dirty="0" err="1"/>
              <a:t>produto</a:t>
            </a:r>
            <a:r>
              <a:rPr sz="1400" dirty="0"/>
              <a:t> </a:t>
            </a:r>
            <a:r>
              <a:rPr sz="1400" dirty="0" err="1"/>
              <a:t>excelente</a:t>
            </a:r>
            <a:r>
              <a:rPr sz="1400" dirty="0"/>
              <a:t>, </a:t>
            </a:r>
            <a:r>
              <a:rPr sz="1400" dirty="0" err="1"/>
              <a:t>chegou</a:t>
            </a:r>
            <a:r>
              <a:rPr sz="1400" dirty="0"/>
              <a:t> </a:t>
            </a:r>
            <a:r>
              <a:rPr sz="1400" dirty="0" err="1"/>
              <a:t>rápido</a:t>
            </a:r>
            <a:r>
              <a:rPr sz="1400" dirty="0"/>
              <a:t>, </a:t>
            </a:r>
            <a:r>
              <a:rPr sz="1400" dirty="0" err="1"/>
              <a:t>adorei</a:t>
            </a:r>
            <a:r>
              <a:rPr sz="1400" dirty="0"/>
              <a:t>"</a:t>
            </a:r>
            <a:br>
              <a:rPr sz="1400" dirty="0"/>
            </a:br>
            <a:r>
              <a:rPr sz="1400" dirty="0"/>
              <a:t>• Review B: "</a:t>
            </a:r>
            <a:r>
              <a:rPr sz="1400" dirty="0" err="1"/>
              <a:t>produto</a:t>
            </a:r>
            <a:r>
              <a:rPr sz="1400" dirty="0"/>
              <a:t> </a:t>
            </a:r>
            <a:r>
              <a:rPr sz="1400" dirty="0" err="1"/>
              <a:t>horrível</a:t>
            </a:r>
            <a:r>
              <a:rPr sz="1400" dirty="0"/>
              <a:t>, </a:t>
            </a:r>
            <a:r>
              <a:rPr sz="1400" dirty="0" err="1"/>
              <a:t>chegou</a:t>
            </a:r>
            <a:r>
              <a:rPr sz="1400" dirty="0"/>
              <a:t> </a:t>
            </a:r>
            <a:r>
              <a:rPr sz="1400" dirty="0" err="1"/>
              <a:t>quebrado</a:t>
            </a:r>
            <a:r>
              <a:rPr sz="1400" dirty="0"/>
              <a:t>, </a:t>
            </a:r>
            <a:r>
              <a:rPr sz="1400" dirty="0" err="1"/>
              <a:t>odiei</a:t>
            </a:r>
            <a:r>
              <a:rPr sz="1400" dirty="0"/>
              <a:t>"</a:t>
            </a:r>
            <a:br>
              <a:rPr sz="1400" dirty="0"/>
            </a:br>
            <a:br>
              <a:rPr sz="1400" dirty="0"/>
            </a:br>
            <a:r>
              <a:rPr sz="1400" dirty="0" err="1"/>
              <a:t>Ambas</a:t>
            </a:r>
            <a:r>
              <a:rPr sz="1400" dirty="0"/>
              <a:t> </a:t>
            </a:r>
            <a:r>
              <a:rPr sz="1400" dirty="0" err="1"/>
              <a:t>compartilham</a:t>
            </a:r>
            <a:r>
              <a:rPr sz="1400" dirty="0"/>
              <a:t> </a:t>
            </a:r>
            <a:r>
              <a:rPr sz="1400" dirty="0" err="1"/>
              <a:t>exatamente</a:t>
            </a:r>
            <a:r>
              <a:rPr sz="1400" dirty="0"/>
              <a:t> as </a:t>
            </a:r>
            <a:r>
              <a:rPr sz="1400" dirty="0" err="1"/>
              <a:t>palavras</a:t>
            </a:r>
            <a:r>
              <a:rPr sz="1400" dirty="0"/>
              <a:t> "</a:t>
            </a:r>
            <a:r>
              <a:rPr sz="1400" dirty="0" err="1"/>
              <a:t>produto</a:t>
            </a:r>
            <a:r>
              <a:rPr sz="1400" dirty="0"/>
              <a:t>" e "</a:t>
            </a:r>
            <a:r>
              <a:rPr sz="1400" dirty="0" err="1"/>
              <a:t>chegou</a:t>
            </a:r>
            <a:r>
              <a:rPr sz="1400" dirty="0"/>
              <a:t>" — mas </a:t>
            </a:r>
            <a:r>
              <a:rPr sz="1400" dirty="0" err="1"/>
              <a:t>expressam</a:t>
            </a:r>
            <a:r>
              <a:rPr sz="1400" dirty="0"/>
              <a:t> </a:t>
            </a:r>
            <a:r>
              <a:rPr sz="1400" dirty="0" err="1"/>
              <a:t>sentimentos</a:t>
            </a:r>
            <a:r>
              <a:rPr sz="1400" dirty="0"/>
              <a:t> </a:t>
            </a:r>
            <a:r>
              <a:rPr sz="1400" dirty="0" err="1"/>
              <a:t>diametralmente</a:t>
            </a:r>
            <a:r>
              <a:rPr sz="1400" dirty="0"/>
              <a:t> </a:t>
            </a:r>
            <a:r>
              <a:rPr sz="1400" dirty="0" err="1"/>
              <a:t>opostos</a:t>
            </a:r>
            <a:r>
              <a:rPr sz="1400" dirty="0"/>
              <a:t>!</a:t>
            </a:r>
            <a:br>
              <a:rPr sz="1400" dirty="0"/>
            </a:br>
            <a:br>
              <a:rPr sz="1400" dirty="0"/>
            </a:br>
            <a:r>
              <a:rPr sz="1400" dirty="0"/>
              <a:t>Uma </a:t>
            </a:r>
            <a:r>
              <a:rPr sz="1400" dirty="0" err="1"/>
              <a:t>representação</a:t>
            </a:r>
            <a:r>
              <a:rPr sz="1400" dirty="0"/>
              <a:t> </a:t>
            </a:r>
            <a:r>
              <a:rPr sz="1400" dirty="0" err="1"/>
              <a:t>numérica</a:t>
            </a:r>
            <a:r>
              <a:rPr sz="1400" dirty="0"/>
              <a:t> </a:t>
            </a:r>
            <a:r>
              <a:rPr sz="1400" dirty="0" err="1"/>
              <a:t>eficaz</a:t>
            </a:r>
            <a:r>
              <a:rPr sz="1400" dirty="0"/>
              <a:t> </a:t>
            </a:r>
            <a:r>
              <a:rPr sz="1400" dirty="0" err="1"/>
              <a:t>precisa</a:t>
            </a:r>
            <a:r>
              <a:rPr sz="1400" dirty="0"/>
              <a:t> </a:t>
            </a:r>
            <a:r>
              <a:rPr sz="1400" dirty="0" err="1"/>
              <a:t>ponderar</a:t>
            </a:r>
            <a:r>
              <a:rPr sz="1400" dirty="0"/>
              <a:t> as </a:t>
            </a:r>
            <a:r>
              <a:rPr sz="1400" dirty="0" err="1"/>
              <a:t>palavras</a:t>
            </a:r>
            <a:r>
              <a:rPr sz="1400" dirty="0"/>
              <a:t> que </a:t>
            </a:r>
            <a:r>
              <a:rPr sz="1400" dirty="0" err="1"/>
              <a:t>diferenciam</a:t>
            </a:r>
            <a:r>
              <a:rPr sz="1400" dirty="0"/>
              <a:t> </a:t>
            </a:r>
            <a:r>
              <a:rPr sz="1400" dirty="0" err="1"/>
              <a:t>os</a:t>
            </a:r>
            <a:r>
              <a:rPr sz="1400" dirty="0"/>
              <a:t> </a:t>
            </a:r>
            <a:r>
              <a:rPr sz="1400" dirty="0" err="1"/>
              <a:t>textos</a:t>
            </a:r>
            <a:r>
              <a:rPr sz="1400" dirty="0"/>
              <a:t>, e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apenas</a:t>
            </a:r>
            <a:r>
              <a:rPr sz="1400" dirty="0"/>
              <a:t> </a:t>
            </a:r>
            <a:r>
              <a:rPr sz="1400" dirty="0" err="1"/>
              <a:t>acumular</a:t>
            </a:r>
            <a:r>
              <a:rPr sz="1400" dirty="0"/>
              <a:t> </a:t>
            </a:r>
            <a:r>
              <a:rPr sz="1400" dirty="0" err="1"/>
              <a:t>termos</a:t>
            </a:r>
            <a:r>
              <a:rPr sz="1400" dirty="0"/>
              <a:t> </a:t>
            </a:r>
            <a:r>
              <a:rPr sz="1400" dirty="0" err="1"/>
              <a:t>genéricos</a:t>
            </a:r>
            <a:r>
              <a:rPr sz="1400" dirty="0"/>
              <a:t> </a:t>
            </a:r>
            <a:r>
              <a:rPr sz="1400" dirty="0" err="1"/>
              <a:t>repetidos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180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1.1 DO TEXTO AO NÚMERO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pt-BR" dirty="0"/>
              <a:t> Como entender o sentido das frases?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71550" y="1645920"/>
            <a:ext cx="1045845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rPr sz="1600" dirty="0" err="1"/>
              <a:t>Comparação</a:t>
            </a:r>
            <a:r>
              <a:rPr sz="1600" dirty="0"/>
              <a:t> </a:t>
            </a:r>
            <a:r>
              <a:rPr sz="1600" dirty="0" err="1"/>
              <a:t>Lado</a:t>
            </a:r>
            <a:r>
              <a:rPr sz="1600" dirty="0"/>
              <a:t> a </a:t>
            </a:r>
            <a:r>
              <a:rPr sz="1600" dirty="0" err="1"/>
              <a:t>Lado</a:t>
            </a:r>
            <a:endParaRPr sz="1600" dirty="0"/>
          </a:p>
          <a:p>
            <a:pPr>
              <a:defRPr sz="1200" b="1">
                <a:solidFill>
                  <a:srgbClr val="047857"/>
                </a:solidFill>
                <a:latin typeface="Arial"/>
              </a:defRPr>
            </a:pPr>
            <a:r>
              <a:rPr dirty="0"/>
              <a:t>Review A (</a:t>
            </a:r>
            <a:r>
              <a:rPr dirty="0" err="1"/>
              <a:t>Positiva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  <a:latin typeface="Courier New"/>
              </a:defRPr>
            </a:pPr>
            <a:r>
              <a:rPr sz="1200" dirty="0"/>
              <a:t>"</a:t>
            </a:r>
            <a:r>
              <a:rPr sz="1200" dirty="0" err="1"/>
              <a:t>produto</a:t>
            </a:r>
            <a:r>
              <a:rPr sz="1200" dirty="0"/>
              <a:t> </a:t>
            </a:r>
            <a:r>
              <a:rPr sz="1200" dirty="0" err="1"/>
              <a:t>excelente</a:t>
            </a:r>
            <a:r>
              <a:rPr sz="1200" dirty="0"/>
              <a:t>, </a:t>
            </a:r>
            <a:r>
              <a:rPr sz="1200" dirty="0" err="1"/>
              <a:t>chegou</a:t>
            </a:r>
            <a:r>
              <a:rPr sz="1200" dirty="0"/>
              <a:t> </a:t>
            </a:r>
            <a:r>
              <a:rPr sz="1200" dirty="0" err="1"/>
              <a:t>rápido</a:t>
            </a:r>
            <a:r>
              <a:rPr sz="1200" dirty="0"/>
              <a:t>, </a:t>
            </a:r>
            <a:r>
              <a:rPr sz="1200" dirty="0" err="1"/>
              <a:t>adorei</a:t>
            </a:r>
            <a:r>
              <a:rPr sz="1200" dirty="0"/>
              <a:t>"</a:t>
            </a:r>
          </a:p>
          <a:p>
            <a:pPr>
              <a:defRPr sz="1200" b="1">
                <a:solidFill>
                  <a:srgbClr val="B91C1C"/>
                </a:solidFill>
                <a:latin typeface="Arial"/>
              </a:defRPr>
            </a:pPr>
            <a:r>
              <a:rPr dirty="0"/>
              <a:t>Review B (</a:t>
            </a:r>
            <a:r>
              <a:rPr dirty="0" err="1"/>
              <a:t>Negativa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  <a:latin typeface="Courier New"/>
              </a:defRPr>
            </a:pPr>
            <a:r>
              <a:rPr sz="1200" dirty="0"/>
              <a:t>"</a:t>
            </a:r>
            <a:r>
              <a:rPr sz="1200" dirty="0" err="1"/>
              <a:t>produto</a:t>
            </a:r>
            <a:r>
              <a:rPr sz="1200" dirty="0"/>
              <a:t> </a:t>
            </a:r>
            <a:r>
              <a:rPr sz="1200" dirty="0" err="1"/>
              <a:t>horrível</a:t>
            </a:r>
            <a:r>
              <a:rPr sz="1200" dirty="0"/>
              <a:t>, </a:t>
            </a:r>
            <a:r>
              <a:rPr sz="1200" dirty="0" err="1"/>
              <a:t>chegou</a:t>
            </a:r>
            <a:r>
              <a:rPr sz="1200" dirty="0"/>
              <a:t> </a:t>
            </a:r>
            <a:r>
              <a:rPr sz="1200" dirty="0" err="1"/>
              <a:t>quebrado</a:t>
            </a:r>
            <a:r>
              <a:rPr sz="1200" dirty="0"/>
              <a:t>, </a:t>
            </a:r>
            <a:r>
              <a:rPr sz="1200" dirty="0" err="1"/>
              <a:t>odiei</a:t>
            </a:r>
            <a:r>
              <a:rPr sz="1200" dirty="0"/>
              <a:t>"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rPr sz="1400" dirty="0" err="1">
                <a:solidFill>
                  <a:schemeClr val="tx2"/>
                </a:solidFill>
              </a:rPr>
              <a:t>Palavras</a:t>
            </a:r>
            <a:r>
              <a:rPr sz="1400" dirty="0">
                <a:solidFill>
                  <a:schemeClr val="tx2"/>
                </a:solidFill>
              </a:rPr>
              <a:t> </a:t>
            </a:r>
            <a:r>
              <a:rPr sz="1400" dirty="0" err="1">
                <a:solidFill>
                  <a:schemeClr val="tx2"/>
                </a:solidFill>
              </a:rPr>
              <a:t>neutras</a:t>
            </a:r>
            <a:r>
              <a:rPr sz="1400" dirty="0">
                <a:solidFill>
                  <a:schemeClr val="tx2"/>
                </a:solidFill>
              </a:rPr>
              <a:t>/</a:t>
            </a:r>
            <a:r>
              <a:rPr sz="1400" dirty="0" err="1">
                <a:solidFill>
                  <a:schemeClr val="tx2"/>
                </a:solidFill>
              </a:rPr>
              <a:t>comuns</a:t>
            </a:r>
            <a:r>
              <a:rPr sz="1400" dirty="0">
                <a:solidFill>
                  <a:schemeClr val="tx2"/>
                </a:solidFill>
              </a:rPr>
              <a:t>: [</a:t>
            </a:r>
            <a:r>
              <a:rPr sz="1400" dirty="0" err="1">
                <a:solidFill>
                  <a:schemeClr val="tx2"/>
                </a:solidFill>
              </a:rPr>
              <a:t>produto</a:t>
            </a:r>
            <a:r>
              <a:rPr sz="1400" dirty="0">
                <a:solidFill>
                  <a:schemeClr val="tx2"/>
                </a:solidFill>
              </a:rPr>
              <a:t>, </a:t>
            </a:r>
            <a:r>
              <a:rPr sz="1400" dirty="0" err="1">
                <a:solidFill>
                  <a:schemeClr val="tx2"/>
                </a:solidFill>
              </a:rPr>
              <a:t>chegou</a:t>
            </a:r>
            <a:r>
              <a:rPr sz="1400" dirty="0">
                <a:solidFill>
                  <a:schemeClr val="tx2"/>
                </a:solidFill>
              </a:rPr>
              <a:t>]</a:t>
            </a:r>
            <a:endParaRPr lang="pt-BR" sz="1400" dirty="0">
              <a:solidFill>
                <a:schemeClr val="tx2"/>
              </a:solidFill>
            </a:endParaRP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br>
              <a:rPr sz="1400" dirty="0">
                <a:solidFill>
                  <a:schemeClr val="tx2"/>
                </a:solidFill>
              </a:rPr>
            </a:br>
            <a:r>
              <a:rPr sz="1400" dirty="0" err="1">
                <a:solidFill>
                  <a:schemeClr val="tx2"/>
                </a:solidFill>
              </a:rPr>
              <a:t>Palavras</a:t>
            </a:r>
            <a:r>
              <a:rPr sz="1400" dirty="0">
                <a:solidFill>
                  <a:schemeClr val="tx2"/>
                </a:solidFill>
              </a:rPr>
              <a:t> </a:t>
            </a:r>
            <a:r>
              <a:rPr sz="1400" dirty="0" err="1">
                <a:solidFill>
                  <a:schemeClr val="tx2"/>
                </a:solidFill>
              </a:rPr>
              <a:t>discriminativas</a:t>
            </a:r>
            <a:r>
              <a:rPr sz="1400" dirty="0">
                <a:solidFill>
                  <a:schemeClr val="tx2"/>
                </a:solidFill>
              </a:rPr>
              <a:t> A: [</a:t>
            </a:r>
            <a:r>
              <a:rPr sz="1400" dirty="0" err="1">
                <a:solidFill>
                  <a:schemeClr val="tx2"/>
                </a:solidFill>
              </a:rPr>
              <a:t>excelente</a:t>
            </a:r>
            <a:r>
              <a:rPr sz="1400" dirty="0">
                <a:solidFill>
                  <a:schemeClr val="tx2"/>
                </a:solidFill>
              </a:rPr>
              <a:t>, </a:t>
            </a:r>
            <a:r>
              <a:rPr sz="1400" dirty="0" err="1">
                <a:solidFill>
                  <a:schemeClr val="tx2"/>
                </a:solidFill>
              </a:rPr>
              <a:t>rápido</a:t>
            </a:r>
            <a:r>
              <a:rPr sz="1400" dirty="0">
                <a:solidFill>
                  <a:schemeClr val="tx2"/>
                </a:solidFill>
              </a:rPr>
              <a:t>, </a:t>
            </a:r>
            <a:r>
              <a:rPr sz="1400" dirty="0" err="1">
                <a:solidFill>
                  <a:schemeClr val="tx2"/>
                </a:solidFill>
              </a:rPr>
              <a:t>adorei</a:t>
            </a:r>
            <a:r>
              <a:rPr sz="1400" dirty="0">
                <a:solidFill>
                  <a:schemeClr val="tx2"/>
                </a:solidFill>
              </a:rPr>
              <a:t>]</a:t>
            </a:r>
            <a:endParaRPr lang="pt-BR" sz="1400" dirty="0">
              <a:solidFill>
                <a:schemeClr val="tx2"/>
              </a:solidFill>
            </a:endParaRP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br>
              <a:rPr sz="1400" dirty="0">
                <a:solidFill>
                  <a:schemeClr val="tx2"/>
                </a:solidFill>
              </a:rPr>
            </a:br>
            <a:r>
              <a:rPr sz="1400" dirty="0" err="1">
                <a:solidFill>
                  <a:schemeClr val="tx2"/>
                </a:solidFill>
              </a:rPr>
              <a:t>Palavras</a:t>
            </a:r>
            <a:r>
              <a:rPr sz="1400" dirty="0">
                <a:solidFill>
                  <a:schemeClr val="tx2"/>
                </a:solidFill>
              </a:rPr>
              <a:t> </a:t>
            </a:r>
            <a:r>
              <a:rPr sz="1400" dirty="0" err="1">
                <a:solidFill>
                  <a:schemeClr val="tx2"/>
                </a:solidFill>
              </a:rPr>
              <a:t>discriminativas</a:t>
            </a:r>
            <a:r>
              <a:rPr sz="1400" dirty="0">
                <a:solidFill>
                  <a:schemeClr val="tx2"/>
                </a:solidFill>
              </a:rPr>
              <a:t> B: [</a:t>
            </a:r>
            <a:r>
              <a:rPr sz="1400" dirty="0" err="1">
                <a:solidFill>
                  <a:schemeClr val="tx2"/>
                </a:solidFill>
              </a:rPr>
              <a:t>horrível</a:t>
            </a:r>
            <a:r>
              <a:rPr sz="1400" dirty="0">
                <a:solidFill>
                  <a:schemeClr val="tx2"/>
                </a:solidFill>
              </a:rPr>
              <a:t>, </a:t>
            </a:r>
            <a:r>
              <a:rPr sz="1400" dirty="0" err="1">
                <a:solidFill>
                  <a:schemeClr val="tx2"/>
                </a:solidFill>
              </a:rPr>
              <a:t>quebrado</a:t>
            </a:r>
            <a:r>
              <a:rPr sz="1400" dirty="0">
                <a:solidFill>
                  <a:schemeClr val="tx2"/>
                </a:solidFill>
              </a:rPr>
              <a:t>, </a:t>
            </a:r>
            <a:r>
              <a:rPr sz="1400" dirty="0" err="1">
                <a:solidFill>
                  <a:schemeClr val="tx2"/>
                </a:solidFill>
              </a:rPr>
              <a:t>odiei</a:t>
            </a:r>
            <a:r>
              <a:rPr sz="1400" dirty="0">
                <a:solidFill>
                  <a:schemeClr val="tx2"/>
                </a:solidFill>
              </a:rPr>
              <a:t>]</a:t>
            </a:r>
            <a:br>
              <a:rPr sz="1400" dirty="0">
                <a:solidFill>
                  <a:schemeClr val="tx2"/>
                </a:solidFill>
              </a:rPr>
            </a:br>
            <a:br>
              <a:rPr sz="1400" dirty="0"/>
            </a:br>
            <a:r>
              <a:rPr sz="1400" dirty="0" err="1"/>
              <a:t>Objetivo</a:t>
            </a:r>
            <a:r>
              <a:rPr sz="1400" dirty="0"/>
              <a:t>: A </a:t>
            </a:r>
            <a:r>
              <a:rPr sz="1400" dirty="0" err="1"/>
              <a:t>vetorização</a:t>
            </a:r>
            <a:r>
              <a:rPr sz="1400" dirty="0"/>
              <a:t> </a:t>
            </a:r>
            <a:r>
              <a:rPr sz="1400" dirty="0" err="1"/>
              <a:t>precisa</a:t>
            </a:r>
            <a:r>
              <a:rPr sz="1400" dirty="0"/>
              <a:t> </a:t>
            </a:r>
            <a:r>
              <a:rPr sz="1400" dirty="0" err="1"/>
              <a:t>evidenciar</a:t>
            </a:r>
            <a:r>
              <a:rPr sz="1400" dirty="0"/>
              <a:t> </a:t>
            </a:r>
            <a:r>
              <a:rPr sz="1400" dirty="0" err="1"/>
              <a:t>os</a:t>
            </a:r>
            <a:r>
              <a:rPr sz="1400" dirty="0"/>
              <a:t> </a:t>
            </a:r>
            <a:r>
              <a:rPr sz="1400" dirty="0" err="1"/>
              <a:t>termos</a:t>
            </a:r>
            <a:r>
              <a:rPr sz="1400" dirty="0"/>
              <a:t> </a:t>
            </a:r>
            <a:r>
              <a:rPr sz="1400" dirty="0" err="1"/>
              <a:t>discriminativos</a:t>
            </a:r>
            <a:r>
              <a:rPr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28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762" y="194310"/>
            <a:ext cx="10698480" cy="5180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1.2 BAG OF WORDS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E59FE1-D3C7-48F9-802A-B0C817758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07" y="357950"/>
            <a:ext cx="10601663" cy="650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1.2 BAG OF WORDS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Bag of Words (</a:t>
            </a:r>
            <a:r>
              <a:rPr dirty="0" err="1"/>
              <a:t>BoW</a:t>
            </a:r>
            <a:r>
              <a:rPr dirty="0"/>
              <a:t>): O </a:t>
            </a:r>
            <a:r>
              <a:rPr dirty="0" err="1"/>
              <a:t>Modelo</a:t>
            </a:r>
            <a:r>
              <a:rPr dirty="0"/>
              <a:t> do Saco de </a:t>
            </a:r>
            <a:r>
              <a:rPr dirty="0" err="1"/>
              <a:t>Palavras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6745" y="1581150"/>
            <a:ext cx="11127105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rPr sz="1600" dirty="0"/>
              <a:t>Como </a:t>
            </a:r>
            <a:r>
              <a:rPr sz="1600" dirty="0" err="1"/>
              <a:t>Funciona</a:t>
            </a:r>
            <a:r>
              <a:rPr sz="1600" dirty="0"/>
              <a:t> o </a:t>
            </a:r>
            <a:r>
              <a:rPr sz="1600" dirty="0" err="1"/>
              <a:t>BoW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1600" b="1" dirty="0"/>
              <a:t>1. </a:t>
            </a:r>
            <a:r>
              <a:rPr sz="1600" b="1" dirty="0" err="1"/>
              <a:t>Despeja</a:t>
            </a:r>
            <a:r>
              <a:rPr sz="1600" b="1" dirty="0"/>
              <a:t> no 'Saco':</a:t>
            </a:r>
            <a:br>
              <a:rPr sz="1600" dirty="0"/>
            </a:br>
            <a:r>
              <a:rPr sz="1600" dirty="0"/>
              <a:t>O </a:t>
            </a:r>
            <a:r>
              <a:rPr sz="1600" dirty="0" err="1"/>
              <a:t>algoritmo</a:t>
            </a:r>
            <a:r>
              <a:rPr sz="1600" dirty="0"/>
              <a:t> </a:t>
            </a:r>
            <a:r>
              <a:rPr sz="1600" dirty="0" err="1"/>
              <a:t>reúne</a:t>
            </a:r>
            <a:r>
              <a:rPr sz="1600" dirty="0"/>
              <a:t> </a:t>
            </a:r>
            <a:r>
              <a:rPr sz="1600" dirty="0" err="1"/>
              <a:t>todos</a:t>
            </a:r>
            <a:r>
              <a:rPr sz="1600" dirty="0"/>
              <a:t> </a:t>
            </a:r>
            <a:r>
              <a:rPr sz="1600" dirty="0" err="1"/>
              <a:t>os</a:t>
            </a:r>
            <a:r>
              <a:rPr sz="1600" dirty="0"/>
              <a:t> </a:t>
            </a:r>
            <a:r>
              <a:rPr sz="1600" dirty="0" err="1"/>
              <a:t>documentos</a:t>
            </a:r>
            <a:r>
              <a:rPr sz="1600" dirty="0"/>
              <a:t> do corpus e </a:t>
            </a:r>
            <a:r>
              <a:rPr sz="1600" dirty="0" err="1"/>
              <a:t>extrai</a:t>
            </a:r>
            <a:r>
              <a:rPr sz="1600" dirty="0"/>
              <a:t> o </a:t>
            </a:r>
            <a:r>
              <a:rPr sz="1600" dirty="0" err="1"/>
              <a:t>vocabulário</a:t>
            </a:r>
            <a:r>
              <a:rPr sz="1600" dirty="0"/>
              <a:t> de tokens </a:t>
            </a:r>
            <a:r>
              <a:rPr sz="1600" dirty="0" err="1"/>
              <a:t>únicos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b="1" dirty="0"/>
              <a:t>2. </a:t>
            </a:r>
            <a:r>
              <a:rPr sz="1600" b="1" dirty="0" err="1"/>
              <a:t>Descarta</a:t>
            </a:r>
            <a:r>
              <a:rPr sz="1600" b="1" dirty="0"/>
              <a:t> a </a:t>
            </a:r>
            <a:r>
              <a:rPr sz="1600" b="1" dirty="0" err="1"/>
              <a:t>Ordem</a:t>
            </a:r>
            <a:r>
              <a:rPr sz="1600" b="1" dirty="0"/>
              <a:t>:</a:t>
            </a:r>
            <a:br>
              <a:rPr sz="1600" dirty="0"/>
            </a:br>
            <a:r>
              <a:rPr sz="1600" dirty="0"/>
              <a:t>A </a:t>
            </a:r>
            <a:r>
              <a:rPr sz="1600" dirty="0" err="1"/>
              <a:t>posição</a:t>
            </a:r>
            <a:r>
              <a:rPr sz="1600" dirty="0"/>
              <a:t> original das </a:t>
            </a:r>
            <a:r>
              <a:rPr sz="1600" dirty="0" err="1"/>
              <a:t>palavras</a:t>
            </a:r>
            <a:r>
              <a:rPr sz="1600" dirty="0"/>
              <a:t> e a </a:t>
            </a:r>
            <a:r>
              <a:rPr sz="1600" dirty="0" err="1"/>
              <a:t>estrutura</a:t>
            </a:r>
            <a:r>
              <a:rPr sz="1600" dirty="0"/>
              <a:t> </a:t>
            </a:r>
            <a:r>
              <a:rPr sz="1600" dirty="0" err="1"/>
              <a:t>gramatical</a:t>
            </a:r>
            <a:r>
              <a:rPr sz="1600" dirty="0"/>
              <a:t> </a:t>
            </a:r>
            <a:r>
              <a:rPr sz="1600" dirty="0" err="1"/>
              <a:t>são</a:t>
            </a:r>
            <a:r>
              <a:rPr sz="1600" dirty="0"/>
              <a:t> </a:t>
            </a:r>
            <a:r>
              <a:rPr sz="1600" dirty="0" err="1"/>
              <a:t>totalmente</a:t>
            </a:r>
            <a:r>
              <a:rPr sz="1600" dirty="0"/>
              <a:t> </a:t>
            </a:r>
            <a:r>
              <a:rPr sz="1600" dirty="0" err="1"/>
              <a:t>ignoradas</a:t>
            </a:r>
            <a:r>
              <a:rPr sz="1600" dirty="0"/>
              <a:t>. O que </a:t>
            </a:r>
            <a:r>
              <a:rPr sz="1600" dirty="0" err="1"/>
              <a:t>sobra</a:t>
            </a:r>
            <a:r>
              <a:rPr sz="1600" dirty="0"/>
              <a:t> é </a:t>
            </a:r>
            <a:r>
              <a:rPr sz="1600" dirty="0" err="1"/>
              <a:t>apenas</a:t>
            </a:r>
            <a:r>
              <a:rPr sz="1600" dirty="0"/>
              <a:t>: '</a:t>
            </a:r>
            <a:r>
              <a:rPr sz="1600" dirty="0" err="1"/>
              <a:t>quais</a:t>
            </a:r>
            <a:r>
              <a:rPr sz="1600" dirty="0"/>
              <a:t> </a:t>
            </a:r>
            <a:r>
              <a:rPr sz="1600" dirty="0" err="1"/>
              <a:t>palavras</a:t>
            </a:r>
            <a:r>
              <a:rPr sz="1600" dirty="0"/>
              <a:t> </a:t>
            </a:r>
            <a:r>
              <a:rPr sz="1600" dirty="0" err="1"/>
              <a:t>existem</a:t>
            </a:r>
            <a:r>
              <a:rPr sz="1600" dirty="0"/>
              <a:t> e </a:t>
            </a:r>
            <a:r>
              <a:rPr sz="1600" dirty="0" err="1"/>
              <a:t>quantas</a:t>
            </a:r>
            <a:r>
              <a:rPr sz="1600" dirty="0"/>
              <a:t> </a:t>
            </a:r>
            <a:r>
              <a:rPr sz="1600" dirty="0" err="1"/>
              <a:t>vezes</a:t>
            </a:r>
            <a:r>
              <a:rPr sz="1600" dirty="0"/>
              <a:t> </a:t>
            </a:r>
            <a:r>
              <a:rPr sz="1600" dirty="0" err="1"/>
              <a:t>aparecem</a:t>
            </a:r>
            <a:r>
              <a:rPr sz="1600" dirty="0"/>
              <a:t>'.</a:t>
            </a:r>
            <a:br>
              <a:rPr sz="1600" dirty="0"/>
            </a:br>
            <a:br>
              <a:rPr sz="1600" dirty="0"/>
            </a:br>
            <a:r>
              <a:rPr sz="1600" b="1" dirty="0"/>
              <a:t>3. </a:t>
            </a:r>
            <a:r>
              <a:rPr sz="1600" b="1" dirty="0" err="1"/>
              <a:t>Matriz</a:t>
            </a:r>
            <a:r>
              <a:rPr sz="1600" b="1" dirty="0"/>
              <a:t> </a:t>
            </a:r>
            <a:r>
              <a:rPr sz="1600" b="1" dirty="0" err="1"/>
              <a:t>Termo-Documento</a:t>
            </a:r>
            <a:r>
              <a:rPr sz="1600" b="1" dirty="0"/>
              <a:t>:</a:t>
            </a:r>
            <a:br>
              <a:rPr sz="1600" dirty="0"/>
            </a:b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linha</a:t>
            </a:r>
            <a:r>
              <a:rPr sz="1600" dirty="0"/>
              <a:t> </a:t>
            </a:r>
            <a:r>
              <a:rPr sz="1600" dirty="0" err="1"/>
              <a:t>representa</a:t>
            </a:r>
            <a:r>
              <a:rPr sz="1600" dirty="0"/>
              <a:t> um </a:t>
            </a:r>
            <a:r>
              <a:rPr sz="1600" dirty="0" err="1"/>
              <a:t>documento</a:t>
            </a:r>
            <a:r>
              <a:rPr sz="1600" dirty="0"/>
              <a:t> do corpus e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coluna</a:t>
            </a:r>
            <a:r>
              <a:rPr sz="1600" dirty="0"/>
              <a:t> </a:t>
            </a:r>
            <a:r>
              <a:rPr sz="1600" dirty="0" err="1"/>
              <a:t>corresponde</a:t>
            </a:r>
            <a:r>
              <a:rPr sz="1600" dirty="0"/>
              <a:t> a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palavra</a:t>
            </a:r>
            <a:r>
              <a:rPr sz="1600" dirty="0"/>
              <a:t> do </a:t>
            </a:r>
            <a:r>
              <a:rPr sz="1600" dirty="0" err="1"/>
              <a:t>vocabulário</a:t>
            </a:r>
            <a:r>
              <a:rPr sz="1600" dirty="0"/>
              <a:t> </a:t>
            </a:r>
            <a:r>
              <a:rPr sz="1600" dirty="0" err="1"/>
              <a:t>geral</a:t>
            </a:r>
            <a:r>
              <a:rPr sz="1600" dirty="0"/>
              <a:t>.</a:t>
            </a:r>
          </a:p>
          <a:p>
            <a:pPr>
              <a:defRPr sz="950" i="1">
                <a:solidFill>
                  <a:srgbClr val="64748B"/>
                </a:solidFill>
                <a:latin typeface="Arial"/>
              </a:defRPr>
            </a:pPr>
            <a:r>
              <a:rPr sz="1600" dirty="0" err="1"/>
              <a:t>Referência</a:t>
            </a:r>
            <a:r>
              <a:rPr sz="1600" dirty="0"/>
              <a:t> </a:t>
            </a:r>
            <a:r>
              <a:rPr sz="1600" dirty="0" err="1"/>
              <a:t>Teórica</a:t>
            </a:r>
            <a:r>
              <a:rPr sz="1600" dirty="0"/>
              <a:t>: GÉRON, A. </a:t>
            </a:r>
            <a:r>
              <a:rPr sz="1600" dirty="0" err="1"/>
              <a:t>Mãos</a:t>
            </a:r>
            <a:r>
              <a:rPr sz="1600" dirty="0"/>
              <a:t> à </a:t>
            </a:r>
            <a:r>
              <a:rPr sz="1600" dirty="0" err="1"/>
              <a:t>Obra</a:t>
            </a:r>
            <a:r>
              <a:rPr sz="1600" dirty="0"/>
              <a:t>: </a:t>
            </a:r>
            <a:r>
              <a:rPr sz="1600" dirty="0" err="1"/>
              <a:t>Aprendizado</a:t>
            </a:r>
            <a:r>
              <a:rPr sz="1600" dirty="0"/>
              <a:t> de </a:t>
            </a:r>
            <a:r>
              <a:rPr sz="1600" dirty="0" err="1"/>
              <a:t>Máquina</a:t>
            </a:r>
            <a:r>
              <a:rPr sz="1600" dirty="0"/>
              <a:t> com </a:t>
            </a:r>
            <a:r>
              <a:rPr sz="1600" dirty="0" err="1"/>
              <a:t>Scikit</a:t>
            </a:r>
            <a:r>
              <a:rPr sz="1600" dirty="0"/>
              <a:t>-Learn &amp; TensorFlow, 2019.</a:t>
            </a:r>
          </a:p>
        </p:txBody>
      </p:sp>
    </p:spTree>
    <p:extLst>
      <p:ext uri="{BB962C8B-B14F-4D97-AF65-F5344CB8AC3E}">
        <p14:creationId xmlns:p14="http://schemas.microsoft.com/office/powerpoint/2010/main" val="376580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413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1.2 BAG OF WORDS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Implementação</a:t>
            </a:r>
            <a:r>
              <a:rPr dirty="0"/>
              <a:t> do </a:t>
            </a:r>
            <a:r>
              <a:rPr dirty="0" err="1"/>
              <a:t>BoW</a:t>
            </a:r>
            <a:r>
              <a:rPr dirty="0"/>
              <a:t> com </a:t>
            </a:r>
            <a:r>
              <a:rPr dirty="0" err="1"/>
              <a:t>scikit</a:t>
            </a:r>
            <a:r>
              <a:rPr dirty="0"/>
              <a:t>-learn (</a:t>
            </a:r>
            <a:r>
              <a:rPr dirty="0" err="1"/>
              <a:t>CountVectorizer</a:t>
            </a:r>
            <a:r>
              <a:rPr dirty="0"/>
              <a:t>)</a:t>
            </a: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pt-BR" sz="1200" dirty="0"/>
              <a:t>Consulte os exemplos no notebook de prática...</a:t>
            </a:r>
            <a:endParaRPr sz="12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rPr dirty="0"/>
              <a:t># --- </a:t>
            </a:r>
            <a:r>
              <a:rPr dirty="0" err="1"/>
              <a:t>CountVectorizer</a:t>
            </a:r>
            <a:r>
              <a:rPr dirty="0"/>
              <a:t>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sklearn.feature_extraction.text</a:t>
            </a:r>
            <a:r>
              <a:rPr dirty="0"/>
              <a:t> import </a:t>
            </a:r>
            <a:r>
              <a:rPr dirty="0" err="1"/>
              <a:t>CountVectorizer</a:t>
            </a: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reviews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excelente</a:t>
            </a:r>
            <a:r>
              <a:rPr dirty="0"/>
              <a:t>, </a:t>
            </a:r>
            <a:r>
              <a:rPr dirty="0" err="1"/>
              <a:t>chegou</a:t>
            </a:r>
            <a:r>
              <a:rPr dirty="0"/>
              <a:t> </a:t>
            </a:r>
            <a:r>
              <a:rPr dirty="0" err="1"/>
              <a:t>rapido</a:t>
            </a:r>
            <a:r>
              <a:rPr dirty="0"/>
              <a:t>, </a:t>
            </a:r>
            <a:r>
              <a:rPr dirty="0" err="1"/>
              <a:t>adorei</a:t>
            </a:r>
            <a:r>
              <a:rPr dirty="0"/>
              <a:t>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horrivel</a:t>
            </a:r>
            <a:r>
              <a:rPr dirty="0"/>
              <a:t>, </a:t>
            </a:r>
            <a:r>
              <a:rPr dirty="0" err="1"/>
              <a:t>chegou</a:t>
            </a:r>
            <a:r>
              <a:rPr dirty="0"/>
              <a:t> </a:t>
            </a:r>
            <a:r>
              <a:rPr dirty="0" err="1"/>
              <a:t>quebrado</a:t>
            </a:r>
            <a:r>
              <a:rPr dirty="0"/>
              <a:t>, </a:t>
            </a:r>
            <a:r>
              <a:rPr dirty="0" err="1"/>
              <a:t>nao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nao</a:t>
            </a:r>
            <a:r>
              <a:rPr dirty="0"/>
              <a:t> </a:t>
            </a:r>
            <a:r>
              <a:rPr dirty="0" err="1"/>
              <a:t>gostei</a:t>
            </a:r>
            <a:r>
              <a:rPr dirty="0"/>
              <a:t>, </a:t>
            </a:r>
            <a:r>
              <a:rPr dirty="0" err="1"/>
              <a:t>atendimento</a:t>
            </a:r>
            <a:r>
              <a:rPr dirty="0"/>
              <a:t> </a:t>
            </a:r>
            <a:r>
              <a:rPr dirty="0" err="1"/>
              <a:t>pessimo</a:t>
            </a:r>
            <a:r>
              <a:rPr dirty="0"/>
              <a:t>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amei</a:t>
            </a:r>
            <a:r>
              <a:rPr dirty="0"/>
              <a:t> o </a:t>
            </a:r>
            <a:r>
              <a:rPr dirty="0" err="1"/>
              <a:t>produto</a:t>
            </a:r>
            <a:r>
              <a:rPr dirty="0"/>
              <a:t>, super </a:t>
            </a:r>
            <a:r>
              <a:rPr dirty="0" err="1"/>
              <a:t>recomendo</a:t>
            </a:r>
            <a:r>
              <a:rPr dirty="0"/>
              <a:t>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cv = </a:t>
            </a:r>
            <a:r>
              <a:rPr dirty="0" err="1"/>
              <a:t>CountVectorizer</a:t>
            </a:r>
            <a:r>
              <a:rPr dirty="0"/>
              <a:t>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matriz_bow</a:t>
            </a:r>
            <a:r>
              <a:rPr dirty="0"/>
              <a:t> = </a:t>
            </a:r>
            <a:r>
              <a:rPr dirty="0" err="1"/>
              <a:t>cv.fit_transform</a:t>
            </a:r>
            <a:r>
              <a:rPr dirty="0"/>
              <a:t>(reviews)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print("</a:t>
            </a:r>
            <a:r>
              <a:rPr dirty="0" err="1"/>
              <a:t>Vocabulário</a:t>
            </a:r>
            <a:r>
              <a:rPr dirty="0"/>
              <a:t>:", sorted(</a:t>
            </a:r>
            <a:r>
              <a:rPr dirty="0" err="1"/>
              <a:t>cv.vocabulary_.keys</a:t>
            </a:r>
            <a:r>
              <a:rPr dirty="0"/>
              <a:t>()))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print(</a:t>
            </a:r>
            <a:r>
              <a:rPr dirty="0" err="1"/>
              <a:t>matriz_bow.toarray</a:t>
            </a:r>
            <a:r>
              <a:rPr dirty="0"/>
              <a:t>())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Array NumPy Resultante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Vocabulário: ['adorei', 'amei', 'atendimento', 'chegou', 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'excelente', 'funciona', 'gostei', 'horrivel', 'nao', 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'pessimo', 'produto', 'quebrado', 'rapido', 'recomendo', 'super']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Matriz (4 x 15):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[[1 0 0 1 1 0 0 0 0 0 1 0 1 0 0]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[0 0 0 1 0 1 0 1 1 0 1 1 0 0 0]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[0 0 1 0 0 0 1 0 1 1 0 0 0 0 0]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[0 1 0 0 0 0 0 0 0 0 1 0 0 1 1]]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1.2 BAG OF WORDS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 Fenômeno da Esparsidade e a Limitação do BoW Puro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4F46E5"/>
                </a:solidFill>
                <a:latin typeface="Arial"/>
              </a:defRPr>
            </a:pPr>
            <a:r>
              <a:t>O Conceito de Esparsidade (Sparsity)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Repare na matriz do slide anterior: a imensa maioria dos elementos é igual a ZERO.</a:t>
            </a:r>
            <a:br/>
            <a:br/>
            <a:r>
              <a:t>• O que é esparsidade?</a:t>
            </a:r>
            <a:br/>
            <a:r>
              <a:t>É a proporção de elementos nulos em relação ao total de células da matriz.</a:t>
            </a:r>
            <a:br/>
            <a:br/>
            <a:r>
              <a:t>• Por que acontece?</a:t>
            </a:r>
            <a:br/>
            <a:r>
              <a:t>Cada frase individual utiliza apenas uma fração minúscula de todo o vocabulário do corpus.</a:t>
            </a:r>
            <a:br/>
            <a:br/>
            <a:r>
              <a:t>• Em grande escala:</a:t>
            </a:r>
            <a:br/>
            <a:r>
              <a:t>Em corpora reais com 50.000 documentos e 20.000 palavras, a esparsidade frequentemente ULTRAPASSA 99%! (GÉRON, 2019).</a:t>
            </a:r>
            <a:br/>
            <a:br/>
            <a:r>
              <a:t>Por isso, bibliotecas como scikit-learn armazenam essas matrizes no formato `scipy.sparse.csr_matrix`, guardando apenas os valores diferentes de zero.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A Limitação Crítica do BoW Puro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Por que o BoW puro é insuficiente para tarefas refinadas de sentimento?</a:t>
            </a:r>
            <a:br/>
            <a:br/>
            <a:r>
              <a:t>1. Igualdade Cega de Frequência:</a:t>
            </a:r>
            <a:br/>
            <a:r>
              <a:t>No BoW, a palavra "produto" tem peso 1, exatamente igual à palavra "excelente" ou "péssimo".</a:t>
            </a:r>
            <a:br/>
            <a:br/>
            <a:r>
              <a:t>2. Falta de Poder Discriminativo:</a:t>
            </a:r>
            <a:br/>
            <a:r>
              <a:t>A palavra "produto" aparece em quase todas as avaliações (positivas ou negativas). Ela não agrega nenhuma informação para separar a classe do texto!</a:t>
            </a:r>
            <a:br/>
            <a:br/>
            <a:r>
              <a:t>3. Diluição de Sinal:</a:t>
            </a:r>
            <a:br/>
            <a:r>
              <a:t>Se um termo onipresente é repetido várias vezes, ele domina a norma do vetor e enfraquece o peso de termos raros e altamente informativos.</a:t>
            </a:r>
            <a:br/>
            <a:br/>
            <a:r>
              <a:t>→ Solução: Precisamos de uma métrica que penalize termos frequentes no corpus.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1.2 BAG OF WORDS EM PRODUÇÃO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Onde o Bag of Words é Utilizado em Sistemas Reais?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Filtro de Spam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E-mails de spam concentram repetições de palavras específicas ('grátis', 'promoção', 'clique aqui'). Contar a presença desses termos já fornece um sinal extremamente forte para classificação linear.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Classificação de Tópicos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Categorizar notícias em Esporte, Economia ou Política. Cada editoria possui um jargão próprio bem demarcado onde a frequência pura de termos já atinge alta assertividade.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Busca e Recuperação (IR)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Motores de busca clássicos comparam o vetor da consulta com o vetor dos documentos via similaridade de cosseno — o mesmo princípio de vetores que embasa sistemas de RAG modernos.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Detecção de Similaridade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Agrupamento de documentos quase duplicados em bancos de dados (ex: detectar notícias replicadas de agências) comparando sobreposição de vetores de contagem.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718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1.2 APLICAÇÃO PRÁTICA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BoW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: </a:t>
            </a:r>
            <a:r>
              <a:rPr dirty="0" err="1"/>
              <a:t>Construindo</a:t>
            </a:r>
            <a:r>
              <a:rPr dirty="0"/>
              <a:t> um Mini Motor de </a:t>
            </a:r>
            <a:r>
              <a:rPr dirty="0" err="1"/>
              <a:t>Busca</a:t>
            </a: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pt-BR" sz="1200" dirty="0"/>
              <a:t>Consulte os exemplos no notebook de prática...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669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Mini Buscador com BoW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sklearn.feature_extraction.text import CountVectorizer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sklearn.metrics.pairwise import cosine_similarity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documentos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"o gato dorme no sofa da sala",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"o cachorro corre atras da bola no parque",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"o computador processa dados rapidamente",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"a inteligencia artificial aprende com dados",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consulta = ["o cachorro brinca com a bola"]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cv_busca = CountVectorizer()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cv_busca.fit(documentos + consulta)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matriz_docs = cv_busca.transform(documentos)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vetor_consulta = cv_busca.transform(consulta)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similaridades = cosine_similarity(vetor_consulta, matriz_docs)[0]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for doc, sim in sorted(zip(documentos, similaridades), key=lambda x: -x[1]):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print(f"{sim:.4f}  {doc}")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Ranking de Similaridade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0.3780  o cachorro corre atras da bola no parque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0.2236  a inteligencia artificial aprende com dados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0.0000  o gato dorme no sofa da sala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0.0000  o computador processa dados rapidamente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Análise do Resultado: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O documento sobre o cachorro e a bola ficou em 1º lugar!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O documento de IA ficou em 2º lugar (compartilha 'dados/com').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Os outros documentos tiveram similaridade nula (0.0000).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Mesmo sem nenhuma palavra em ordem idêntica, o BoW capturou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a sobreposição vocabular com sucesso!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1.3 TF-IDF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TF-IDF: Ponderando Relevância Local e Raridade Global</a:t>
            </a:r>
          </a:p>
        </p:txBody>
      </p:sp>
      <p:pic>
        <p:nvPicPr>
          <p:cNvPr id="3" name="Picture 2" descr="diagram_tfi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400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Por que o TF-IDF Supera o BoW?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Term Frequency (TF):</a:t>
            </a:r>
            <a:br/>
            <a:r>
              <a:t>Conta a frequência de um termo no documento em relação ao tamanho do texto. Se o termo é repetido pelo autor, ganha relevância local.</a:t>
            </a:r>
            <a:br/>
            <a:br/>
            <a:r>
              <a:t>• Inverse Document Frequency (IDF):</a:t>
            </a:r>
            <a:br/>
            <a:r>
              <a:t>Calcula o logaritmo inverso da proporção de documentos que contêm a palavra. Se ela aparece em todo lugar (ex: 'produto', 'de', 'para'), seu IDF cai perto de zero.</a:t>
            </a:r>
            <a:br/>
            <a:br/>
            <a:r>
              <a:t>• Efeito Multiplicativo:</a:t>
            </a:r>
            <a:br/>
            <a:r>
              <a:t>TF x IDF confere peso máximo a termos frequentes localmente, mas raros e exclusivos no corpus inteiro!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379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1.3 TF-IDF NO SCIKIT-LEARN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TF-IDF com </a:t>
            </a:r>
            <a:r>
              <a:rPr dirty="0" err="1"/>
              <a:t>TfidfVectorizer</a:t>
            </a:r>
            <a:r>
              <a:rPr dirty="0"/>
              <a:t>: Pesos </a:t>
            </a:r>
            <a:r>
              <a:rPr dirty="0" err="1"/>
              <a:t>Numéricos</a:t>
            </a: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pt-BR" sz="1200" dirty="0"/>
              <a:t>Consulte os exemplos no notebook de prática...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TfidfVectorizer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sklearn.feature_extraction.text import TfidfVectorizer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numpy as np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reviews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"produto excelente, chegou rapido, adorei",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"produto horrivel, chegou quebrado, nao funciona",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"nao gostei, atendimento pessimo",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"amei o produto, super recomendo",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tv = TfidfVectorizer()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matriz_tfidf = tv.fit_transform(reviews)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np.set_printoptions(precision=2, suppress=True)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print(matriz_tfidf.toarray())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Pesos Rebalanceados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Matriz TF-IDF (4 x 15) normalizada: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[[0.5  0.   0.   0.39 0.5  0.   0.   0.   0.   0.   0.32 0.   0.5  0.   0.  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[0.   0.   0.   0.37 0.   0.46 0.   0.46 0.37 0.   0.3  0.46 0.   0.   0.  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[0.   0.   0.53 0.   0.   0.   0.53 0.   0.41 0.53 0.   0.   0.   0.   0.  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[0.   0.54 0.   0.   0.   0.   0.   0.   0.   0.   0.35 0.   0.   0.54 0.54]]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Evidência Matemática das Diferenças: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'produto' (coluna 11): Peso reduzido para ~0.30 a 0.35 porque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está presente em quase todas as avaliações.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'excelente' / 'adorei' (coluna 1 e 5): Peso alto = 0.50.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'pessimo' (coluna 10): Peso alto = 0.53 (exclusivo do Doc 3).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O algoritmo fez exatamente o que precisávamos!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1.3 ALTERNATIVA PARA BIG DATA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Uma Terceira Abordagem: HashingVectorizer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5320" y="1312545"/>
            <a:ext cx="10698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Usar</a:t>
            </a:r>
            <a:r>
              <a:rPr dirty="0"/>
              <a:t> o </a:t>
            </a:r>
            <a:r>
              <a:rPr dirty="0" err="1"/>
              <a:t>HashingVectorizer</a:t>
            </a:r>
            <a:r>
              <a:rPr dirty="0"/>
              <a:t>?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vez</a:t>
            </a:r>
            <a:r>
              <a:rPr sz="1400" dirty="0"/>
              <a:t> de </a:t>
            </a:r>
            <a:r>
              <a:rPr sz="1400" dirty="0" err="1"/>
              <a:t>construir</a:t>
            </a:r>
            <a:r>
              <a:rPr sz="1400" dirty="0"/>
              <a:t> e </a:t>
            </a:r>
            <a:r>
              <a:rPr sz="1400" dirty="0" err="1"/>
              <a:t>armazenar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memória</a:t>
            </a:r>
            <a:r>
              <a:rPr sz="1400" dirty="0"/>
              <a:t> um </a:t>
            </a:r>
            <a:r>
              <a:rPr sz="1400" dirty="0" err="1"/>
              <a:t>dicionário</a:t>
            </a:r>
            <a:r>
              <a:rPr sz="1400" dirty="0"/>
              <a:t> </a:t>
            </a:r>
            <a:r>
              <a:rPr sz="1400" dirty="0" err="1"/>
              <a:t>palavra</a:t>
            </a:r>
            <a:r>
              <a:rPr sz="1400" dirty="0"/>
              <a:t> → </a:t>
            </a:r>
            <a:r>
              <a:rPr sz="1400" dirty="0" err="1"/>
              <a:t>coluna</a:t>
            </a:r>
            <a:r>
              <a:rPr sz="1400" dirty="0"/>
              <a:t> (</a:t>
            </a:r>
            <a:r>
              <a:rPr sz="1400" dirty="0" err="1"/>
              <a:t>como</a:t>
            </a:r>
            <a:r>
              <a:rPr sz="1400" dirty="0"/>
              <a:t> </a:t>
            </a:r>
            <a:r>
              <a:rPr sz="1400" dirty="0" err="1"/>
              <a:t>fazem</a:t>
            </a:r>
            <a:r>
              <a:rPr sz="1400" dirty="0"/>
              <a:t> </a:t>
            </a:r>
            <a:r>
              <a:rPr sz="1400" dirty="0" err="1"/>
              <a:t>CountVectorizer</a:t>
            </a:r>
            <a:r>
              <a:rPr sz="1400" dirty="0"/>
              <a:t> e </a:t>
            </a:r>
            <a:r>
              <a:rPr sz="1400" dirty="0" err="1"/>
              <a:t>TfidfVectorizer</a:t>
            </a:r>
            <a:r>
              <a:rPr sz="1400" dirty="0"/>
              <a:t>), o </a:t>
            </a:r>
            <a:r>
              <a:rPr sz="1400" dirty="0" err="1"/>
              <a:t>HashingVectorizer</a:t>
            </a:r>
            <a:r>
              <a:rPr sz="1400" dirty="0"/>
              <a:t> </a:t>
            </a:r>
            <a:r>
              <a:rPr sz="1400" dirty="0" err="1"/>
              <a:t>projeta</a:t>
            </a:r>
            <a:r>
              <a:rPr sz="1400" dirty="0"/>
              <a:t> as </a:t>
            </a:r>
            <a:r>
              <a:rPr sz="1400" dirty="0" err="1"/>
              <a:t>palavras</a:t>
            </a:r>
            <a:r>
              <a:rPr sz="1400" dirty="0"/>
              <a:t> </a:t>
            </a:r>
            <a:r>
              <a:rPr sz="1400" dirty="0" err="1"/>
              <a:t>diretamente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índices</a:t>
            </a:r>
            <a:r>
              <a:rPr sz="1400" dirty="0"/>
              <a:t> de </a:t>
            </a:r>
            <a:r>
              <a:rPr sz="1400" dirty="0" err="1"/>
              <a:t>colunas</a:t>
            </a:r>
            <a:r>
              <a:rPr sz="1400" dirty="0"/>
              <a:t> </a:t>
            </a:r>
            <a:r>
              <a:rPr sz="1400" dirty="0" err="1"/>
              <a:t>aplicando</a:t>
            </a:r>
            <a:r>
              <a:rPr sz="1400" dirty="0"/>
              <a:t> </a:t>
            </a:r>
            <a:r>
              <a:rPr sz="1400" dirty="0" err="1"/>
              <a:t>uma</a:t>
            </a:r>
            <a:r>
              <a:rPr sz="1400" dirty="0"/>
              <a:t> </a:t>
            </a:r>
            <a:r>
              <a:rPr sz="1400" dirty="0" err="1"/>
              <a:t>função</a:t>
            </a:r>
            <a:r>
              <a:rPr sz="1400" dirty="0"/>
              <a:t> de hash (ex: MurmurHash3).</a:t>
            </a:r>
            <a:br>
              <a:rPr sz="1400" dirty="0"/>
            </a:br>
            <a:br>
              <a:rPr sz="1400" dirty="0"/>
            </a:br>
            <a:r>
              <a:rPr sz="1400" dirty="0" err="1"/>
              <a:t>Vantagens</a:t>
            </a:r>
            <a:r>
              <a:rPr sz="1400" dirty="0"/>
              <a:t>: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mantém</a:t>
            </a:r>
            <a:r>
              <a:rPr sz="1400" dirty="0"/>
              <a:t> </a:t>
            </a:r>
            <a:r>
              <a:rPr sz="1400" dirty="0" err="1"/>
              <a:t>dicionário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RAM (</a:t>
            </a:r>
            <a:r>
              <a:rPr sz="1400" dirty="0" err="1"/>
              <a:t>economia</a:t>
            </a:r>
            <a:r>
              <a:rPr sz="1400" dirty="0"/>
              <a:t> </a:t>
            </a:r>
            <a:r>
              <a:rPr sz="1400" dirty="0" err="1"/>
              <a:t>dramática</a:t>
            </a:r>
            <a:r>
              <a:rPr sz="1400" dirty="0"/>
              <a:t> de </a:t>
            </a:r>
            <a:r>
              <a:rPr sz="1400" dirty="0" err="1"/>
              <a:t>memória</a:t>
            </a:r>
            <a:r>
              <a:rPr sz="1400" dirty="0"/>
              <a:t>).</a:t>
            </a:r>
            <a:br>
              <a:rPr sz="1400" dirty="0"/>
            </a:br>
            <a:r>
              <a:rPr sz="1400" dirty="0"/>
              <a:t>• Ideal para </a:t>
            </a:r>
            <a:r>
              <a:rPr sz="1400" dirty="0" err="1"/>
              <a:t>fluxos</a:t>
            </a:r>
            <a:r>
              <a:rPr sz="1400" dirty="0"/>
              <a:t> </a:t>
            </a:r>
            <a:r>
              <a:rPr sz="1400" dirty="0" err="1"/>
              <a:t>contínuos</a:t>
            </a:r>
            <a:r>
              <a:rPr sz="1400" dirty="0"/>
              <a:t> de dados </a:t>
            </a:r>
            <a:r>
              <a:rPr sz="1400" dirty="0" err="1"/>
              <a:t>em</a:t>
            </a:r>
            <a:r>
              <a:rPr sz="1400" dirty="0"/>
              <a:t> tempo real (Streaming / Online Learning).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Extremamente</a:t>
            </a:r>
            <a:r>
              <a:rPr sz="1400" dirty="0"/>
              <a:t> </a:t>
            </a:r>
            <a:r>
              <a:rPr sz="1400" dirty="0" err="1"/>
              <a:t>rápido</a:t>
            </a:r>
            <a:r>
              <a:rPr sz="1400" dirty="0"/>
              <a:t> para pipelines </a:t>
            </a:r>
            <a:r>
              <a:rPr sz="1400" dirty="0" err="1"/>
              <a:t>distribuídos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clusters.</a:t>
            </a:r>
            <a:br>
              <a:rPr sz="1400" dirty="0"/>
            </a:br>
            <a:br>
              <a:rPr sz="1400" dirty="0"/>
            </a:br>
            <a:r>
              <a:rPr sz="1400" dirty="0" err="1"/>
              <a:t>Desvantagens</a:t>
            </a:r>
            <a:r>
              <a:rPr sz="1400" dirty="0"/>
              <a:t> e Trade-offs: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Colisões</a:t>
            </a:r>
            <a:r>
              <a:rPr sz="1400" dirty="0"/>
              <a:t> de Hash: </a:t>
            </a:r>
            <a:r>
              <a:rPr sz="1400" dirty="0" err="1"/>
              <a:t>Duas</a:t>
            </a:r>
            <a:r>
              <a:rPr sz="1400" dirty="0"/>
              <a:t> </a:t>
            </a:r>
            <a:r>
              <a:rPr sz="1400" dirty="0" err="1"/>
              <a:t>palavras</a:t>
            </a:r>
            <a:r>
              <a:rPr sz="1400" dirty="0"/>
              <a:t> </a:t>
            </a:r>
            <a:r>
              <a:rPr sz="1400" dirty="0" err="1"/>
              <a:t>diferentes</a:t>
            </a:r>
            <a:r>
              <a:rPr sz="1400" dirty="0"/>
              <a:t> </a:t>
            </a:r>
            <a:r>
              <a:rPr sz="1400" dirty="0" err="1"/>
              <a:t>podem</a:t>
            </a:r>
            <a:r>
              <a:rPr sz="1400" dirty="0"/>
              <a:t> </a:t>
            </a:r>
            <a:r>
              <a:rPr sz="1400" dirty="0" err="1"/>
              <a:t>cair</a:t>
            </a:r>
            <a:r>
              <a:rPr sz="1400" dirty="0"/>
              <a:t> </a:t>
            </a:r>
            <a:r>
              <a:rPr sz="1400" dirty="0" err="1"/>
              <a:t>acidentalmente</a:t>
            </a:r>
            <a:r>
              <a:rPr sz="1400" dirty="0"/>
              <a:t> </a:t>
            </a:r>
            <a:r>
              <a:rPr sz="1400" dirty="0" err="1"/>
              <a:t>na</a:t>
            </a:r>
            <a:r>
              <a:rPr sz="1400" dirty="0"/>
              <a:t> </a:t>
            </a:r>
            <a:r>
              <a:rPr sz="1400" dirty="0" err="1"/>
              <a:t>mesma</a:t>
            </a:r>
            <a:r>
              <a:rPr sz="1400" dirty="0"/>
              <a:t> </a:t>
            </a:r>
            <a:r>
              <a:rPr sz="1400" dirty="0" err="1"/>
              <a:t>coluna</a:t>
            </a:r>
            <a:r>
              <a:rPr sz="1400" dirty="0"/>
              <a:t>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Unidirecional</a:t>
            </a:r>
            <a:r>
              <a:rPr sz="1400" dirty="0"/>
              <a:t>: </a:t>
            </a:r>
            <a:r>
              <a:rPr sz="1400" dirty="0" err="1"/>
              <a:t>Não</a:t>
            </a:r>
            <a:r>
              <a:rPr sz="1400" dirty="0"/>
              <a:t> é </a:t>
            </a:r>
            <a:r>
              <a:rPr sz="1400" dirty="0" err="1"/>
              <a:t>possível</a:t>
            </a:r>
            <a:r>
              <a:rPr sz="1400" dirty="0"/>
              <a:t> </a:t>
            </a:r>
            <a:r>
              <a:rPr sz="1400" dirty="0" err="1"/>
              <a:t>reverter</a:t>
            </a:r>
            <a:r>
              <a:rPr sz="1400" dirty="0"/>
              <a:t> a </a:t>
            </a:r>
            <a:r>
              <a:rPr sz="1400" dirty="0" err="1"/>
              <a:t>matriz</a:t>
            </a:r>
            <a:r>
              <a:rPr sz="1400" dirty="0"/>
              <a:t> para </a:t>
            </a:r>
            <a:r>
              <a:rPr sz="1400" dirty="0" err="1"/>
              <a:t>recuperar</a:t>
            </a:r>
            <a:r>
              <a:rPr sz="1400" dirty="0"/>
              <a:t> o </a:t>
            </a:r>
            <a:r>
              <a:rPr sz="1400" dirty="0" err="1"/>
              <a:t>vocabulário</a:t>
            </a:r>
            <a:r>
              <a:rPr sz="1400" dirty="0"/>
              <a:t> original (`</a:t>
            </a:r>
            <a:r>
              <a:rPr sz="1400" dirty="0" err="1"/>
              <a:t>get_feature_names_out</a:t>
            </a:r>
            <a:r>
              <a:rPr sz="1400" dirty="0"/>
              <a:t>`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funciona</a:t>
            </a:r>
            <a:r>
              <a:rPr sz="1400" dirty="0"/>
              <a:t>).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suporta</a:t>
            </a:r>
            <a:r>
              <a:rPr sz="1400" dirty="0"/>
              <a:t> </a:t>
            </a:r>
            <a:r>
              <a:rPr sz="1400" dirty="0" err="1"/>
              <a:t>cálculo</a:t>
            </a:r>
            <a:r>
              <a:rPr sz="1400" dirty="0"/>
              <a:t> de IDF </a:t>
            </a:r>
            <a:r>
              <a:rPr sz="1400" dirty="0" err="1"/>
              <a:t>diretamente</a:t>
            </a:r>
            <a:r>
              <a:rPr sz="1400" dirty="0"/>
              <a:t> no pipeline.</a:t>
            </a:r>
            <a:br>
              <a:rPr sz="1400" dirty="0"/>
            </a:br>
            <a:br>
              <a:rPr sz="1400" dirty="0"/>
            </a:br>
            <a:r>
              <a:rPr sz="1400" dirty="0" err="1"/>
              <a:t>Conclusão</a:t>
            </a:r>
            <a:r>
              <a:rPr sz="1400" dirty="0"/>
              <a:t>: </a:t>
            </a:r>
            <a:r>
              <a:rPr sz="1400" dirty="0" err="1"/>
              <a:t>Excelente</a:t>
            </a:r>
            <a:r>
              <a:rPr sz="1400" dirty="0"/>
              <a:t> para </a:t>
            </a:r>
            <a:r>
              <a:rPr sz="1400" dirty="0" err="1"/>
              <a:t>processamento</a:t>
            </a:r>
            <a:r>
              <a:rPr sz="1400" dirty="0"/>
              <a:t> de petabytes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produção</a:t>
            </a:r>
            <a:r>
              <a:rPr sz="1400" dirty="0"/>
              <a:t>, mas </a:t>
            </a:r>
            <a:r>
              <a:rPr sz="1400" dirty="0" err="1"/>
              <a:t>nos</a:t>
            </a:r>
            <a:r>
              <a:rPr sz="1400" dirty="0"/>
              <a:t> </a:t>
            </a:r>
            <a:r>
              <a:rPr sz="1400" dirty="0" err="1"/>
              <a:t>nossos</a:t>
            </a:r>
            <a:r>
              <a:rPr sz="1400" dirty="0"/>
              <a:t> </a:t>
            </a:r>
            <a:r>
              <a:rPr sz="1400" dirty="0" err="1"/>
              <a:t>experimentos</a:t>
            </a:r>
            <a:r>
              <a:rPr sz="1400" dirty="0"/>
              <a:t> de </a:t>
            </a:r>
            <a:r>
              <a:rPr sz="1400" dirty="0" err="1"/>
              <a:t>sentimento</a:t>
            </a:r>
            <a:r>
              <a:rPr sz="1400" dirty="0"/>
              <a:t> </a:t>
            </a:r>
            <a:r>
              <a:rPr sz="1400" dirty="0" err="1"/>
              <a:t>usaremos</a:t>
            </a:r>
            <a:r>
              <a:rPr sz="1400" dirty="0"/>
              <a:t> </a:t>
            </a:r>
            <a:r>
              <a:rPr sz="1400" dirty="0" err="1"/>
              <a:t>TfidfVectorizer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1.4 N-GRAMAS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N-gramas: Capturando Dependências e Contexto Local</a:t>
            </a:r>
          </a:p>
        </p:txBody>
      </p:sp>
      <p:pic>
        <p:nvPicPr>
          <p:cNvPr id="3" name="Picture 2" descr="diagram_n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400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rPr dirty="0"/>
              <a:t>Por que </a:t>
            </a:r>
            <a:r>
              <a:rPr dirty="0" err="1"/>
              <a:t>Unigramas</a:t>
            </a:r>
            <a:r>
              <a:rPr dirty="0"/>
              <a:t> </a:t>
            </a:r>
            <a:r>
              <a:rPr dirty="0" err="1"/>
              <a:t>Falham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Negação</a:t>
            </a:r>
            <a:r>
              <a:rPr dirty="0"/>
              <a:t>?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Na </a:t>
            </a:r>
            <a:r>
              <a:rPr dirty="0" err="1"/>
              <a:t>abordagem</a:t>
            </a:r>
            <a:r>
              <a:rPr dirty="0"/>
              <a:t> de </a:t>
            </a:r>
            <a:r>
              <a:rPr dirty="0" err="1"/>
              <a:t>unigrama</a:t>
            </a:r>
            <a:r>
              <a:rPr dirty="0"/>
              <a:t> (n=1),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palavra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um token </a:t>
            </a:r>
            <a:r>
              <a:rPr dirty="0" err="1"/>
              <a:t>independente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Se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escreve</a:t>
            </a:r>
            <a:r>
              <a:rPr dirty="0"/>
              <a:t> "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",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recebe</a:t>
            </a:r>
            <a:r>
              <a:rPr dirty="0"/>
              <a:t> '</a:t>
            </a:r>
            <a:r>
              <a:rPr dirty="0" err="1"/>
              <a:t>não</a:t>
            </a:r>
            <a:r>
              <a:rPr dirty="0"/>
              <a:t>' e '</a:t>
            </a:r>
            <a:r>
              <a:rPr dirty="0" err="1"/>
              <a:t>funciona</a:t>
            </a:r>
            <a:r>
              <a:rPr dirty="0"/>
              <a:t>' </a:t>
            </a:r>
            <a:r>
              <a:rPr dirty="0" err="1"/>
              <a:t>isolados</a:t>
            </a:r>
            <a:r>
              <a:rPr dirty="0"/>
              <a:t>. O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negativo</a:t>
            </a:r>
            <a:r>
              <a:rPr dirty="0"/>
              <a:t> se </a:t>
            </a:r>
            <a:r>
              <a:rPr dirty="0" err="1"/>
              <a:t>perde</a:t>
            </a:r>
            <a:r>
              <a:rPr dirty="0"/>
              <a:t> </a:t>
            </a:r>
            <a:r>
              <a:rPr dirty="0" err="1"/>
              <a:t>completamente</a:t>
            </a:r>
            <a:r>
              <a:rPr dirty="0"/>
              <a:t>!</a:t>
            </a:r>
            <a:br>
              <a:rPr dirty="0"/>
            </a:br>
            <a:br>
              <a:rPr dirty="0"/>
            </a:br>
            <a:r>
              <a:rPr dirty="0"/>
              <a:t>Um N-</a:t>
            </a:r>
            <a:r>
              <a:rPr dirty="0" err="1"/>
              <a:t>grama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janela</a:t>
            </a:r>
            <a:r>
              <a:rPr dirty="0"/>
              <a:t> </a:t>
            </a:r>
            <a:r>
              <a:rPr dirty="0" err="1"/>
              <a:t>contígua</a:t>
            </a:r>
            <a:r>
              <a:rPr dirty="0"/>
              <a:t> de n </a:t>
            </a:r>
            <a:r>
              <a:rPr dirty="0" err="1"/>
              <a:t>palavras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dirty="0" err="1"/>
              <a:t>Unigrama</a:t>
            </a:r>
            <a:r>
              <a:rPr dirty="0"/>
              <a:t> (n=1): '</a:t>
            </a:r>
            <a:r>
              <a:rPr dirty="0" err="1"/>
              <a:t>gostei</a:t>
            </a:r>
            <a:r>
              <a:rPr dirty="0"/>
              <a:t>'</a:t>
            </a:r>
            <a:br>
              <a:rPr dirty="0"/>
            </a:br>
            <a:r>
              <a:rPr dirty="0"/>
              <a:t>• </a:t>
            </a:r>
            <a:r>
              <a:rPr dirty="0" err="1"/>
              <a:t>Bigrama</a:t>
            </a:r>
            <a:r>
              <a:rPr dirty="0"/>
              <a:t> (n=2): '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gostei</a:t>
            </a:r>
            <a:r>
              <a:rPr dirty="0"/>
              <a:t>'</a:t>
            </a:r>
            <a:br>
              <a:rPr dirty="0"/>
            </a:br>
            <a:r>
              <a:rPr dirty="0"/>
              <a:t>• </a:t>
            </a:r>
            <a:r>
              <a:rPr dirty="0" err="1"/>
              <a:t>Trigrama</a:t>
            </a:r>
            <a:r>
              <a:rPr dirty="0"/>
              <a:t> (n=3): '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gostei</a:t>
            </a:r>
            <a:r>
              <a:rPr dirty="0"/>
              <a:t> nada'</a:t>
            </a:r>
            <a:br>
              <a:rPr dirty="0"/>
            </a:br>
            <a:br>
              <a:rPr dirty="0"/>
            </a:br>
            <a:r>
              <a:rPr dirty="0" err="1"/>
              <a:t>Fórmula</a:t>
            </a:r>
            <a:r>
              <a:rPr dirty="0"/>
              <a:t> de n-</a:t>
            </a:r>
            <a:r>
              <a:rPr dirty="0" err="1"/>
              <a:t>gramas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 tokens:</a:t>
            </a:r>
            <a:br>
              <a:rPr dirty="0"/>
            </a:br>
            <a:r>
              <a:rPr dirty="0"/>
              <a:t>Total de n-</a:t>
            </a:r>
            <a:r>
              <a:rPr dirty="0" err="1"/>
              <a:t>gramas</a:t>
            </a:r>
            <a:r>
              <a:rPr dirty="0"/>
              <a:t> = T - n + 1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1.4 N-GRAMAS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N-gramas: Capturando Dependências e Contexto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222" y="1644015"/>
            <a:ext cx="10887075" cy="339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rPr sz="1600" dirty="0"/>
              <a:t>Por que </a:t>
            </a:r>
            <a:r>
              <a:rPr sz="1600" dirty="0" err="1"/>
              <a:t>Unigramas</a:t>
            </a:r>
            <a:r>
              <a:rPr sz="1600" dirty="0"/>
              <a:t> </a:t>
            </a:r>
            <a:r>
              <a:rPr sz="1600" dirty="0" err="1"/>
              <a:t>Falham</a:t>
            </a:r>
            <a:r>
              <a:rPr sz="1600" dirty="0"/>
              <a:t> </a:t>
            </a:r>
            <a:r>
              <a:rPr sz="1600" dirty="0" err="1"/>
              <a:t>na</a:t>
            </a:r>
            <a:r>
              <a:rPr sz="1600" dirty="0"/>
              <a:t> </a:t>
            </a:r>
            <a:r>
              <a:rPr sz="1600" dirty="0" err="1"/>
              <a:t>Negação</a:t>
            </a:r>
            <a:r>
              <a:rPr sz="1600" dirty="0"/>
              <a:t>?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Na </a:t>
            </a:r>
            <a:r>
              <a:rPr sz="1600" dirty="0" err="1"/>
              <a:t>abordagem</a:t>
            </a:r>
            <a:r>
              <a:rPr sz="1600" dirty="0"/>
              <a:t> de </a:t>
            </a:r>
            <a:r>
              <a:rPr sz="1600" dirty="0" err="1"/>
              <a:t>unigrama</a:t>
            </a:r>
            <a:r>
              <a:rPr sz="1600" dirty="0"/>
              <a:t> (n=1),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palavra</a:t>
            </a:r>
            <a:r>
              <a:rPr sz="1600" dirty="0"/>
              <a:t> </a:t>
            </a:r>
            <a:r>
              <a:rPr sz="1600" dirty="0" err="1"/>
              <a:t>vira</a:t>
            </a:r>
            <a:r>
              <a:rPr sz="1600" dirty="0"/>
              <a:t> um token </a:t>
            </a:r>
            <a:r>
              <a:rPr sz="1600" dirty="0" err="1"/>
              <a:t>independente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/>
              <a:t>Se o </a:t>
            </a:r>
            <a:r>
              <a:rPr sz="1600" dirty="0" err="1"/>
              <a:t>usuário</a:t>
            </a:r>
            <a:r>
              <a:rPr sz="1600" dirty="0"/>
              <a:t> </a:t>
            </a:r>
            <a:r>
              <a:rPr sz="1600" dirty="0" err="1"/>
              <a:t>escreve</a:t>
            </a:r>
            <a:r>
              <a:rPr sz="1600" dirty="0"/>
              <a:t> "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funciona</a:t>
            </a:r>
            <a:r>
              <a:rPr sz="1600" dirty="0"/>
              <a:t>", o </a:t>
            </a:r>
            <a:r>
              <a:rPr sz="1600" dirty="0" err="1"/>
              <a:t>modelo</a:t>
            </a:r>
            <a:r>
              <a:rPr sz="1600" dirty="0"/>
              <a:t> </a:t>
            </a:r>
            <a:r>
              <a:rPr sz="1600" dirty="0" err="1"/>
              <a:t>recebe</a:t>
            </a:r>
            <a:r>
              <a:rPr sz="1600" dirty="0"/>
              <a:t> '</a:t>
            </a:r>
            <a:r>
              <a:rPr sz="1600" dirty="0" err="1"/>
              <a:t>não</a:t>
            </a:r>
            <a:r>
              <a:rPr sz="1600" dirty="0"/>
              <a:t>' e '</a:t>
            </a:r>
            <a:r>
              <a:rPr sz="1600" dirty="0" err="1"/>
              <a:t>funciona</a:t>
            </a:r>
            <a:r>
              <a:rPr sz="1600" dirty="0"/>
              <a:t>' </a:t>
            </a:r>
            <a:r>
              <a:rPr sz="1600" dirty="0" err="1"/>
              <a:t>isolados</a:t>
            </a:r>
            <a:r>
              <a:rPr sz="1600" dirty="0"/>
              <a:t>. O </a:t>
            </a:r>
            <a:r>
              <a:rPr sz="1600" dirty="0" err="1"/>
              <a:t>sentido</a:t>
            </a:r>
            <a:r>
              <a:rPr sz="1600" dirty="0"/>
              <a:t> </a:t>
            </a:r>
            <a:r>
              <a:rPr sz="1600" dirty="0" err="1"/>
              <a:t>negativo</a:t>
            </a:r>
            <a:r>
              <a:rPr sz="1600" dirty="0"/>
              <a:t> se </a:t>
            </a:r>
            <a:r>
              <a:rPr sz="1600" dirty="0" err="1"/>
              <a:t>perde</a:t>
            </a:r>
            <a:r>
              <a:rPr sz="1600" dirty="0"/>
              <a:t> </a:t>
            </a:r>
            <a:r>
              <a:rPr sz="1600" dirty="0" err="1"/>
              <a:t>completamente</a:t>
            </a:r>
            <a:r>
              <a:rPr sz="1600" dirty="0"/>
              <a:t>!</a:t>
            </a:r>
            <a:br>
              <a:rPr sz="1600" dirty="0"/>
            </a:br>
            <a:br>
              <a:rPr sz="1600" dirty="0"/>
            </a:br>
            <a:r>
              <a:rPr sz="1600" dirty="0"/>
              <a:t>Um N-</a:t>
            </a:r>
            <a:r>
              <a:rPr sz="1600" dirty="0" err="1"/>
              <a:t>grama</a:t>
            </a:r>
            <a:r>
              <a:rPr sz="1600" dirty="0"/>
              <a:t> é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janela</a:t>
            </a:r>
            <a:r>
              <a:rPr sz="1600" dirty="0"/>
              <a:t> </a:t>
            </a:r>
            <a:r>
              <a:rPr sz="1600" dirty="0" err="1"/>
              <a:t>contígua</a:t>
            </a:r>
            <a:r>
              <a:rPr sz="1600" dirty="0"/>
              <a:t> de n </a:t>
            </a:r>
            <a:r>
              <a:rPr sz="1600" dirty="0" err="1"/>
              <a:t>palavras</a:t>
            </a:r>
            <a:r>
              <a:rPr sz="1600" dirty="0"/>
              <a:t>: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Unigrama</a:t>
            </a:r>
            <a:r>
              <a:rPr sz="1600" dirty="0"/>
              <a:t> (n=1): '</a:t>
            </a:r>
            <a:r>
              <a:rPr sz="1600" dirty="0" err="1"/>
              <a:t>gostei</a:t>
            </a:r>
            <a:r>
              <a:rPr sz="1600" dirty="0"/>
              <a:t>'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Bigrama</a:t>
            </a:r>
            <a:r>
              <a:rPr sz="1600" dirty="0"/>
              <a:t> (n=2): '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gostei</a:t>
            </a:r>
            <a:r>
              <a:rPr sz="1600" dirty="0"/>
              <a:t>'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Trigrama</a:t>
            </a:r>
            <a:r>
              <a:rPr sz="1600" dirty="0"/>
              <a:t> (n=3): '</a:t>
            </a:r>
            <a:r>
              <a:rPr sz="1600" dirty="0" err="1"/>
              <a:t>não</a:t>
            </a:r>
            <a:r>
              <a:rPr sz="1600" dirty="0"/>
              <a:t> </a:t>
            </a:r>
            <a:r>
              <a:rPr sz="1600" dirty="0" err="1"/>
              <a:t>gostei</a:t>
            </a:r>
            <a:r>
              <a:rPr sz="1600" dirty="0"/>
              <a:t> nada'</a:t>
            </a:r>
            <a:br>
              <a:rPr sz="1600" dirty="0"/>
            </a:br>
            <a:br>
              <a:rPr sz="1600" dirty="0"/>
            </a:br>
            <a:r>
              <a:rPr sz="1600" dirty="0" err="1"/>
              <a:t>Fórmula</a:t>
            </a:r>
            <a:r>
              <a:rPr sz="1600" dirty="0"/>
              <a:t> de n-</a:t>
            </a:r>
            <a:r>
              <a:rPr sz="1600" dirty="0" err="1"/>
              <a:t>gramas</a:t>
            </a:r>
            <a:r>
              <a:rPr sz="1600" dirty="0"/>
              <a:t> </a:t>
            </a:r>
            <a:r>
              <a:rPr sz="1600" dirty="0" err="1"/>
              <a:t>em</a:t>
            </a:r>
            <a:r>
              <a:rPr sz="1600" dirty="0"/>
              <a:t> T tokens:</a:t>
            </a:r>
            <a:br>
              <a:rPr sz="1600" dirty="0"/>
            </a:br>
            <a:r>
              <a:rPr sz="1600" dirty="0"/>
              <a:t>Total de n-</a:t>
            </a:r>
            <a:r>
              <a:rPr sz="1600" dirty="0" err="1"/>
              <a:t>gramas</a:t>
            </a:r>
            <a:r>
              <a:rPr sz="1600" dirty="0"/>
              <a:t> = T - n + 1</a:t>
            </a:r>
          </a:p>
        </p:txBody>
      </p:sp>
    </p:spTree>
    <p:extLst>
      <p:ext uri="{BB962C8B-B14F-4D97-AF65-F5344CB8AC3E}">
        <p14:creationId xmlns:p14="http://schemas.microsoft.com/office/powerpoint/2010/main" val="2064799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379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1.4 N-GRAMAS NO CÓDIGO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N-</a:t>
            </a:r>
            <a:r>
              <a:rPr dirty="0" err="1"/>
              <a:t>gramas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: NLTK vs. </a:t>
            </a:r>
            <a:r>
              <a:rPr dirty="0" err="1"/>
              <a:t>ngram_range</a:t>
            </a:r>
            <a:r>
              <a:rPr dirty="0"/>
              <a:t> no </a:t>
            </a:r>
            <a:r>
              <a:rPr dirty="0" err="1"/>
              <a:t>scikit</a:t>
            </a:r>
            <a:r>
              <a:rPr dirty="0"/>
              <a:t>-learn</a:t>
            </a: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lang="pt-BR" dirty="0"/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lang="pt-BR" sz="1200" dirty="0"/>
              <a:t>Consulte os exemplos no notebook de prática...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ngram_range=(1, 2)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sklearn.feature_extraction.text import TfidfVectorizer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reviews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"produto excelente, chegou rapido, adorei",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"produto horrivel, chegou quebrado, nao funciona",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"nao gostei, atendimento pessimo",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"amei o produto, super recomendo",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Configurando unigramas + bigramas juntos: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tv_bigrama = TfidfVectorizer(ngram_range=(1, 2))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tv_bigrama.fit(reviews)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features_nao = [f for f in tv_bigrama.get_feature_names_out() if "nao" in f]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print("Features com 'nao':", features_nao)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Features Extraídas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Features com 'nao' detectadas: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['nao', 'nao funciona', 'nao gostei', 'quebrado nao']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Lições Práticas Importantes: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1. 'nao funciona' e 'nao gostei' viraram features exclusivas!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 O modelo agora sabe diferenciar 'funciona' de 'não funciona'.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2. Cuidado com pares espúrios ('quebrado nao'):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 A review 2 tinha: '...chegou quebrado, não funciona'.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 Como a pontuação é removida na tokenização padrão, as palavras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 ficam vizinhas e viram um bigrama, mesmo separadas por vírgula.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 O scikit-learn gera todo par consecutivo sem julgar sintaxe!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1.5 EMBEDDINGS &amp; COSSENO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Word Embeddings: Espaços Vetoriais Densos e Semânticos</a:t>
            </a:r>
          </a:p>
        </p:txBody>
      </p:sp>
      <p:pic>
        <p:nvPicPr>
          <p:cNvPr id="3" name="Picture 2" descr="diagram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400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rPr dirty="0"/>
              <a:t>A </a:t>
            </a:r>
            <a:r>
              <a:rPr dirty="0" err="1"/>
              <a:t>Limitação</a:t>
            </a:r>
            <a:r>
              <a:rPr dirty="0"/>
              <a:t> de </a:t>
            </a:r>
            <a:r>
              <a:rPr dirty="0" err="1"/>
              <a:t>BoW</a:t>
            </a:r>
            <a:r>
              <a:rPr dirty="0"/>
              <a:t> e TF-IDF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Para o </a:t>
            </a:r>
            <a:r>
              <a:rPr dirty="0" err="1"/>
              <a:t>BoW</a:t>
            </a:r>
            <a:r>
              <a:rPr dirty="0"/>
              <a:t> e o TF-IDF, as </a:t>
            </a:r>
            <a:r>
              <a:rPr dirty="0" err="1"/>
              <a:t>palavras</a:t>
            </a:r>
            <a:r>
              <a:rPr dirty="0"/>
              <a:t> "</a:t>
            </a:r>
            <a:r>
              <a:rPr dirty="0" err="1"/>
              <a:t>bom</a:t>
            </a:r>
            <a:r>
              <a:rPr dirty="0"/>
              <a:t>" e "</a:t>
            </a:r>
            <a:r>
              <a:rPr dirty="0" err="1"/>
              <a:t>excelente</a:t>
            </a:r>
            <a:r>
              <a:rPr dirty="0"/>
              <a:t>"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colunas</a:t>
            </a:r>
            <a:r>
              <a:rPr dirty="0"/>
              <a:t> 100% </a:t>
            </a:r>
            <a:r>
              <a:rPr dirty="0" err="1"/>
              <a:t>independentes</a:t>
            </a:r>
            <a:r>
              <a:rPr dirty="0"/>
              <a:t> e </a:t>
            </a:r>
            <a:r>
              <a:rPr dirty="0" err="1"/>
              <a:t>ortogonais</a:t>
            </a:r>
            <a:r>
              <a:rPr dirty="0"/>
              <a:t> (</a:t>
            </a:r>
            <a:r>
              <a:rPr dirty="0" err="1"/>
              <a:t>similaridade</a:t>
            </a:r>
            <a:r>
              <a:rPr dirty="0"/>
              <a:t> = 0).</a:t>
            </a:r>
            <a:br>
              <a:rPr dirty="0"/>
            </a:br>
            <a:br>
              <a:rPr dirty="0"/>
            </a:br>
            <a:r>
              <a:rPr dirty="0"/>
              <a:t>Word Embeddings </a:t>
            </a:r>
            <a:r>
              <a:rPr dirty="0" err="1"/>
              <a:t>resolvem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palavra</a:t>
            </a:r>
            <a:r>
              <a:rPr dirty="0"/>
              <a:t> </a:t>
            </a:r>
            <a:r>
              <a:rPr dirty="0" err="1"/>
              <a:t>vira</a:t>
            </a:r>
            <a:r>
              <a:rPr dirty="0"/>
              <a:t> um </a:t>
            </a:r>
            <a:r>
              <a:rPr dirty="0" err="1"/>
              <a:t>vetor</a:t>
            </a:r>
            <a:r>
              <a:rPr dirty="0"/>
              <a:t> DENSO (</a:t>
            </a:r>
            <a:r>
              <a:rPr dirty="0" err="1"/>
              <a:t>poucos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,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preenchidos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de zeros).</a:t>
            </a:r>
            <a:br>
              <a:rPr dirty="0"/>
            </a:br>
            <a:r>
              <a:rPr dirty="0"/>
              <a:t>• </a:t>
            </a:r>
            <a:r>
              <a:rPr dirty="0" err="1"/>
              <a:t>Palavras</a:t>
            </a:r>
            <a:r>
              <a:rPr dirty="0"/>
              <a:t> com </a:t>
            </a:r>
            <a:r>
              <a:rPr dirty="0" err="1"/>
              <a:t>contexto</a:t>
            </a:r>
            <a:r>
              <a:rPr dirty="0"/>
              <a:t> e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semelhantes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posicionadas</a:t>
            </a:r>
            <a:r>
              <a:rPr dirty="0"/>
              <a:t> </a:t>
            </a:r>
            <a:r>
              <a:rPr dirty="0" err="1"/>
              <a:t>próximas</a:t>
            </a:r>
            <a:r>
              <a:rPr dirty="0"/>
              <a:t> no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vetorial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Fórmula</a:t>
            </a:r>
            <a:r>
              <a:rPr dirty="0"/>
              <a:t> da </a:t>
            </a:r>
            <a:r>
              <a:rPr dirty="0" err="1"/>
              <a:t>Similaridade</a:t>
            </a:r>
            <a:r>
              <a:rPr dirty="0"/>
              <a:t> por </a:t>
            </a:r>
            <a:r>
              <a:rPr dirty="0" err="1"/>
              <a:t>Cosseno</a:t>
            </a:r>
            <a:r>
              <a:rPr dirty="0"/>
              <a:t>:</a:t>
            </a:r>
            <a:br>
              <a:rPr dirty="0"/>
            </a:br>
            <a:r>
              <a:rPr dirty="0"/>
              <a:t>Mede o </a:t>
            </a:r>
            <a:r>
              <a:rPr dirty="0" err="1"/>
              <a:t>cosseno</a:t>
            </a:r>
            <a:r>
              <a:rPr dirty="0"/>
              <a:t> do </a:t>
            </a:r>
            <a:r>
              <a:rPr dirty="0" err="1"/>
              <a:t>ângulo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vetores</a:t>
            </a:r>
            <a:r>
              <a:rPr dirty="0"/>
              <a:t> no </a:t>
            </a:r>
            <a:r>
              <a:rPr dirty="0" err="1"/>
              <a:t>espaço</a:t>
            </a:r>
            <a:r>
              <a:rPr dirty="0"/>
              <a:t>. Se </a:t>
            </a:r>
            <a:r>
              <a:rPr dirty="0" err="1"/>
              <a:t>apontam</a:t>
            </a:r>
            <a:r>
              <a:rPr dirty="0"/>
              <a:t> para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direção</a:t>
            </a:r>
            <a:r>
              <a:rPr dirty="0"/>
              <a:t>, cos =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1.5 EMBEDDINGS &amp; COSSENO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Cálculo da Similaridade por Cosseno em Python Puro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Fórmula do Cosseno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math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def similaridade_cosseno(v1, v2):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produto = sum(a * b for a, b in zip(v1, v2))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norma1 = math.sqrt(sum(a * a for a in v1))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norma2 = math.sqrt(sum(a * a for a in v2))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return produto / (norma1 * norma2)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Vetores conceituais ilustrativos (3D):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bom       = [0.80,  0.30, 0.50]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excelente = [0.78,  0.32, 0.48]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carro     = [0.10, -0.60, 0.20]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print("cos(bom, excelente) =", round(similaridade_cosseno(bom, excelente), 4))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print("cos(bom, carro)     =", round(similaridade_cosseno(bom, carro), 4))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Resultado dos Ângulos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Similaridade Calculada: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cos(bom, excelente) = 0.9996  (~1.0 -&gt; Quase paralelos!)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cos(bom, carro)     = 0.0000  ( 0.0 -&gt; Ortogonais, sem relação)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Interpretação Geométrica: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'bom' e 'excelente' possuem ângulo próximo de 0 graus.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'bom' e 'carro' formam 90 graus no espaço, revelando independência.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Essa propriedade permite aos modelos generalizar: mesmo que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o texto de teste nunca tenha visto a palavra 'excelente', se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ele aprendeu sobre 'bom', saberá associar o sentimento!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MACHINE LEARNING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Revisão Conceitual: Os Três Paradigmas de Machine Learning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303235-AD8C-45FE-9DE0-4D7F22B13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9" y="1103088"/>
            <a:ext cx="9915525" cy="53891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8165" y="5029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1.6 MACHINE LEARNING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Revisão</a:t>
            </a:r>
            <a:r>
              <a:rPr dirty="0"/>
              <a:t> </a:t>
            </a:r>
            <a:r>
              <a:rPr dirty="0" err="1"/>
              <a:t>Conceitual</a:t>
            </a:r>
            <a:r>
              <a:rPr dirty="0"/>
              <a:t>: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Paradigmas</a:t>
            </a:r>
            <a:r>
              <a:rPr dirty="0"/>
              <a:t> de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1" y="1736229"/>
            <a:ext cx="1097279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1. Aprendizado Supervisionado (O Aprendizado com Gabarito)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Definição: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 algoritmo é treinado usando uma base de dados onde a "resposta certa" (rótulo) já é conhecida. Ele estuda milhares de exemplos históricos para entender a relação entre as características do dado e o resultado final. O objetivo é aprender essa regra para conseguir prever a resposta correta de dados novos e inéditos.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Exemplos Práticos: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 dia a dia: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 filtro de spam do seu Gmail. Ele foi treinado com milhares de e-mails que humanos marcaram manualmente como "Spam" ou "Principal".</a:t>
            </a:r>
          </a:p>
          <a:p>
            <a:pPr lvl="1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 nosso projeto: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É exatamente o que estamos fazendo com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HateBR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! Entregamos frases com o gabarito (1 para ofensivo, 0 para não ofensivo) para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Naive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aprender a classificar novos comentários.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6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MACHINE LEARNING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Revisão Conceitual: Os Três Paradigmas de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1097279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2. Aprendizado Não Supervisionado (O Caçador de Padrões Ocultos)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Definição: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 modelo recebe uma montanha de dados brutos, totalmente sem rótulos ou respostas prévias. A missão dele é explorar essa massa de informações "no escuro" e descobrir, por conta própria, estruturas, similaridades ou regras ocultas que os humanos não tinham percebido.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Exemplos Práticos: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 dia a dia: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O clássico caso do varejo que descobriu a correlação entre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fraldas e cervejas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O algoritmo analisou milhares de cupons fiscais sem nenhuma instrução prévia e percebeu sozinho que esses dois itens eram frequentemente comprados juntos (Regras de Associação).</a:t>
            </a:r>
          </a:p>
          <a:p>
            <a:pPr lvl="1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 processamento de texto: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Imagine entregar 10 mil notícias misturadas para a IA. Sem saber do que se trata, ela agrupa os textos por similaridade de palavras (TF-IDF), criando "pastas" automáticas para Política, Esportes e Economia (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Clusterização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/Modelagem de Tópicos).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517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MACHINE LEARNING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Revisão Conceitual: Os Três Paradigmas de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102995"/>
            <a:ext cx="10972799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3. Aprendizado por Reforço - RL (A Lógica do Videogame)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Definição: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Um "agente" de Inteligência Artificial é colocado em um ambiente e aprende tomando decisões por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tentativa e erro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Ele não estuda dados passados; ele age. Se a ação o aproxima do objetivo, ele recebe uma "recompensa" (pontos). Se ele erra, recebe uma penalidade. O modelo evolui tentando maximizar sua pontuação ao longo do tempo.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Exemplos Práticos: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 dia a dia: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É a tecnologia usada para ensinar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IAs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 jogarem videogame sozinhas (como zerar o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Super</a:t>
            </a:r>
            <a:r>
              <a:rPr lang="pt-BR" i="1" dirty="0">
                <a:latin typeface="Arial" panose="020B0604020202020204" pitchFamily="34" charset="0"/>
                <a:cs typeface="Arial" panose="020B0604020202020204" pitchFamily="34" charset="0"/>
              </a:rPr>
              <a:t> Mario </a:t>
            </a:r>
            <a:r>
              <a:rPr lang="pt-BR" i="1" dirty="0" err="1">
                <a:latin typeface="Arial" panose="020B0604020202020204" pitchFamily="34" charset="0"/>
                <a:cs typeface="Arial" panose="020B0604020202020204" pitchFamily="34" charset="0"/>
              </a:rPr>
              <a:t>Bros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entendendo que cair no buraco tira pontos e pegar moedas dá recompensas) ou para a Netflix testar qual capa de filme faz você clicar mais rápido.</a:t>
            </a:r>
          </a:p>
          <a:p>
            <a:pPr lvl="1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No processamento de texto (RLHF):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É o coração de modelos gigantes como o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 Ele foi alinhado usando Aprendizado por Reforço com Feedback Humano: as pessoas davam "notas altas" (recompensas) para respostas úteis e seguras, ensinando o modelo a conversar do jeito que esperamos.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860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MACHINE LEARNING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Divisão Treino/Teste e o Conceito Real de 'Treinamento'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A Regra de Ouro: Treino vs. Teste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Por que nunca avaliar nos dados de treino?</a:t>
            </a:r>
            <a:br/>
            <a:r>
              <a:t>Medir acurácia nos dados usados no treinamento avalia apenas a capacidade de memorização (decorar), não de generalização.</a:t>
            </a:r>
            <a:br/>
            <a:br/>
            <a:r>
              <a:t>• A Divisão Padrão:</a:t>
            </a:r>
            <a:br/>
            <a:r>
              <a:t>Dividimos os dados em:</a:t>
            </a:r>
            <a:br/>
            <a:r>
              <a:t>- Conjunto de Treino (70% - 80%): Usado para o modelo estimar suas contagens e probabilidades internas.</a:t>
            </a:r>
            <a:br/>
            <a:r>
              <a:t>- Conjunto de Teste (20% - 30%): Fica rigorosamente isolado e só é revelado no final para medição justa.</a:t>
            </a:r>
            <a:br/>
            <a:br/>
            <a:r>
              <a:t>• Estratificação (`stratify=y`):</a:t>
            </a:r>
            <a:br/>
            <a:r>
              <a:t>Garante que a proporção exata de positivos e negativos seja mantida em ambos os conjuntos.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train_test_split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sklearn.model_selection import train_test_split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reviews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"produto excelente, chegou rapido, adorei",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"produto horrivel, quebrado, nao funciona",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"nao gostei, atendimento pessimo",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"amei o produto, super recomendo",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rotulos = ["positivo", "negativo", "negativo", "positivo"]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X_treino, X_teste, y_treino, y_teste = train_test_split(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reviews, rotulos, test_size=0.5, random_state=42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print("Treino:", X_treino)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print("Teste: ", X_teste)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NAIVE BAYES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Por Dentro do Naive Bayes: Da Probabilidade à Decisão</a:t>
            </a:r>
          </a:p>
        </p:txBody>
      </p:sp>
      <p:pic>
        <p:nvPicPr>
          <p:cNvPr id="3" name="Picture 2" descr="diagram_naive_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400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F46E5"/>
                </a:solidFill>
                <a:latin typeface="Arial"/>
              </a:defRPr>
            </a:pPr>
            <a:r>
              <a:t>Por que o Naive Bayes é Perfeito para BoW?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1. Base no Teorema de Bayes:</a:t>
            </a:r>
            <a:br/>
            <a:r>
              <a:t>Calcula a probabilidade de uma classe (pos/neg) dadas as palavras observadas.</a:t>
            </a:r>
            <a:br/>
            <a:br/>
            <a:r>
              <a:t>2. A Premissa 'Naive' (Ingênua):</a:t>
            </a:r>
            <a:br/>
            <a:r>
              <a:t>Assume que as palavras ocorrem de forma independente umas das outras. Embora falso na gramática real, casa perfeitamente com a representação BoW/TF-IDF, onde cada coluna já é tratada como atributo isolado!</a:t>
            </a:r>
            <a:br/>
            <a:br/>
            <a:r>
              <a:t>3. Suavização de Laplace (+1):</a:t>
            </a:r>
            <a:br/>
            <a:r>
              <a:t>Adiciona +1 na contagem de todas as palavras para garantir que termos novos nunca zerem a multiplicação das probabilidades.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NAIVE BAYES MANUAL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Naive Bayes Calculado na Mão: Transparência Absoluta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39"/>
            <a:ext cx="5486400" cy="549973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rPr dirty="0"/>
              <a:t># --- </a:t>
            </a:r>
            <a:r>
              <a:rPr dirty="0" err="1"/>
              <a:t>Cálculo</a:t>
            </a:r>
            <a:r>
              <a:rPr dirty="0"/>
              <a:t> com Laplace e Priors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from collections import Counter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docs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otimo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rapido</a:t>
            </a:r>
            <a:r>
              <a:rPr dirty="0"/>
              <a:t>", "pos"),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excelente</a:t>
            </a:r>
            <a:r>
              <a:rPr dirty="0"/>
              <a:t>", "pos"),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pessimo</a:t>
            </a:r>
            <a:r>
              <a:rPr dirty="0"/>
              <a:t> lento", "neg"),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horrivel</a:t>
            </a:r>
            <a:r>
              <a:rPr dirty="0"/>
              <a:t> </a:t>
            </a:r>
            <a:r>
              <a:rPr dirty="0" err="1"/>
              <a:t>nao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", "neg"),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contagem</a:t>
            </a:r>
            <a:r>
              <a:rPr dirty="0"/>
              <a:t> = {"pos": Counter(), "neg": Counter()}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for </a:t>
            </a:r>
            <a:r>
              <a:rPr dirty="0" err="1"/>
              <a:t>texto</a:t>
            </a:r>
            <a:r>
              <a:rPr dirty="0"/>
              <a:t>, </a:t>
            </a:r>
            <a:r>
              <a:rPr dirty="0" err="1"/>
              <a:t>classe</a:t>
            </a:r>
            <a:r>
              <a:rPr dirty="0"/>
              <a:t> in docs: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for </a:t>
            </a:r>
            <a:r>
              <a:rPr dirty="0" err="1"/>
              <a:t>palavra</a:t>
            </a:r>
            <a:r>
              <a:rPr dirty="0"/>
              <a:t> in </a:t>
            </a:r>
            <a:r>
              <a:rPr dirty="0" err="1"/>
              <a:t>texto.split</a:t>
            </a:r>
            <a:r>
              <a:rPr dirty="0"/>
              <a:t>():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contagem</a:t>
            </a:r>
            <a:r>
              <a:rPr dirty="0"/>
              <a:t>[</a:t>
            </a:r>
            <a:r>
              <a:rPr dirty="0" err="1"/>
              <a:t>classe</a:t>
            </a:r>
            <a:r>
              <a:rPr dirty="0"/>
              <a:t>][</a:t>
            </a:r>
            <a:r>
              <a:rPr dirty="0" err="1"/>
              <a:t>palavra</a:t>
            </a:r>
            <a:r>
              <a:rPr dirty="0"/>
              <a:t>] += 1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vocabulario</a:t>
            </a:r>
            <a:r>
              <a:rPr dirty="0"/>
              <a:t> = set(p for </a:t>
            </a:r>
            <a:r>
              <a:rPr dirty="0" err="1"/>
              <a:t>texto</a:t>
            </a:r>
            <a:r>
              <a:rPr dirty="0"/>
              <a:t>, _ in docs for p in </a:t>
            </a:r>
            <a:r>
              <a:rPr dirty="0" err="1"/>
              <a:t>texto.split</a:t>
            </a:r>
            <a:r>
              <a:rPr dirty="0"/>
              <a:t>())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V =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vocabulario</a:t>
            </a:r>
            <a:r>
              <a:rPr dirty="0"/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tot_palavras</a:t>
            </a:r>
            <a:r>
              <a:rPr dirty="0"/>
              <a:t> = {c: sum(</a:t>
            </a:r>
            <a:r>
              <a:rPr dirty="0" err="1"/>
              <a:t>contagem</a:t>
            </a:r>
            <a:r>
              <a:rPr dirty="0"/>
              <a:t>[c].values()) for c in </a:t>
            </a:r>
            <a:r>
              <a:rPr dirty="0" err="1"/>
              <a:t>contagem</a:t>
            </a:r>
            <a:r>
              <a:rPr dirty="0"/>
              <a:t>}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def </a:t>
            </a:r>
            <a:r>
              <a:rPr dirty="0" err="1"/>
              <a:t>prob_palavra_dado_classe</a:t>
            </a:r>
            <a:r>
              <a:rPr dirty="0"/>
              <a:t>(</a:t>
            </a:r>
            <a:r>
              <a:rPr dirty="0" err="1"/>
              <a:t>palavra</a:t>
            </a:r>
            <a:r>
              <a:rPr dirty="0"/>
              <a:t>, </a:t>
            </a:r>
            <a:r>
              <a:rPr dirty="0" err="1"/>
              <a:t>classe</a:t>
            </a:r>
            <a:r>
              <a:rPr dirty="0"/>
              <a:t>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return (</a:t>
            </a:r>
            <a:r>
              <a:rPr dirty="0" err="1"/>
              <a:t>contagem</a:t>
            </a:r>
            <a:r>
              <a:rPr dirty="0"/>
              <a:t>[</a:t>
            </a:r>
            <a:r>
              <a:rPr dirty="0" err="1"/>
              <a:t>classe</a:t>
            </a:r>
            <a:r>
              <a:rPr dirty="0"/>
              <a:t>][</a:t>
            </a:r>
            <a:r>
              <a:rPr dirty="0" err="1"/>
              <a:t>palavra</a:t>
            </a:r>
            <a:r>
              <a:rPr dirty="0"/>
              <a:t>] + 1) / (</a:t>
            </a:r>
            <a:r>
              <a:rPr dirty="0" err="1"/>
              <a:t>tot_palavras</a:t>
            </a:r>
            <a:r>
              <a:rPr dirty="0"/>
              <a:t>[</a:t>
            </a:r>
            <a:r>
              <a:rPr dirty="0" err="1"/>
              <a:t>classe</a:t>
            </a:r>
            <a:r>
              <a:rPr dirty="0"/>
              <a:t>] + V)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def </a:t>
            </a:r>
            <a:r>
              <a:rPr dirty="0" err="1"/>
              <a:t>classificar</a:t>
            </a:r>
            <a:r>
              <a:rPr dirty="0"/>
              <a:t>(</a:t>
            </a:r>
            <a:r>
              <a:rPr dirty="0" err="1"/>
              <a:t>frase</a:t>
            </a:r>
            <a:r>
              <a:rPr dirty="0"/>
              <a:t>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scores = {}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for c in ["pos", "neg"]: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    s = 0.5 # Prior P(</a:t>
            </a:r>
            <a:r>
              <a:rPr dirty="0" err="1"/>
              <a:t>classe</a:t>
            </a:r>
            <a:r>
              <a:rPr dirty="0"/>
              <a:t>) = 2/4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    for p in </a:t>
            </a:r>
            <a:r>
              <a:rPr dirty="0" err="1"/>
              <a:t>frase.split</a:t>
            </a:r>
            <a:r>
              <a:rPr dirty="0"/>
              <a:t>():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        s *= </a:t>
            </a:r>
            <a:r>
              <a:rPr dirty="0" err="1"/>
              <a:t>prob_palavra_dado_classe</a:t>
            </a:r>
            <a:r>
              <a:rPr dirty="0"/>
              <a:t>(p, c)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    scores[c] = s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return scores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rPr sz="1400" dirty="0"/>
              <a:t>&gt; </a:t>
            </a:r>
            <a:r>
              <a:rPr sz="1400" dirty="0" err="1"/>
              <a:t>Decisão</a:t>
            </a:r>
            <a:r>
              <a:rPr sz="1400" dirty="0"/>
              <a:t> via </a:t>
            </a:r>
            <a:r>
              <a:rPr sz="1400" dirty="0" err="1"/>
              <a:t>Maior</a:t>
            </a:r>
            <a:r>
              <a:rPr sz="1400" dirty="0"/>
              <a:t> Score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&gt; </a:t>
            </a:r>
            <a:r>
              <a:rPr sz="1200" dirty="0" err="1"/>
              <a:t>Previsões</a:t>
            </a:r>
            <a:r>
              <a:rPr sz="1200" dirty="0"/>
              <a:t> </a:t>
            </a:r>
            <a:r>
              <a:rPr sz="1200" dirty="0" err="1"/>
              <a:t>Calculadas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Mão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'</a:t>
            </a:r>
            <a:r>
              <a:rPr sz="1200" dirty="0" err="1"/>
              <a:t>produto</a:t>
            </a:r>
            <a:r>
              <a:rPr sz="1200" dirty="0"/>
              <a:t> </a:t>
            </a:r>
            <a:r>
              <a:rPr sz="1200" dirty="0" err="1"/>
              <a:t>otimo</a:t>
            </a:r>
            <a:r>
              <a:rPr sz="1200" dirty="0"/>
              <a:t>':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Score POS: 0.015306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Score NEG: 0.004444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→ </a:t>
            </a:r>
            <a:r>
              <a:rPr sz="1200" dirty="0" err="1"/>
              <a:t>Vencedor</a:t>
            </a:r>
            <a:r>
              <a:rPr sz="1200" dirty="0"/>
              <a:t>: POSITIVO!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'</a:t>
            </a:r>
            <a:r>
              <a:rPr sz="1200" dirty="0" err="1"/>
              <a:t>produto</a:t>
            </a:r>
            <a:r>
              <a:rPr sz="1200" dirty="0"/>
              <a:t> </a:t>
            </a:r>
            <a:r>
              <a:rPr sz="1200" dirty="0" err="1"/>
              <a:t>pessimo</a:t>
            </a:r>
            <a:r>
              <a:rPr sz="1200" dirty="0"/>
              <a:t>':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Score POS: 0.007653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Score NEG: 0.008889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→ </a:t>
            </a:r>
            <a:r>
              <a:rPr sz="1200" dirty="0" err="1"/>
              <a:t>Vencedor</a:t>
            </a:r>
            <a:r>
              <a:rPr sz="1200" dirty="0"/>
              <a:t>: NEGATIVO!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'</a:t>
            </a:r>
            <a:r>
              <a:rPr sz="1200" dirty="0" err="1"/>
              <a:t>produto</a:t>
            </a:r>
            <a:r>
              <a:rPr sz="1200" dirty="0"/>
              <a:t> </a:t>
            </a:r>
            <a:r>
              <a:rPr sz="1200" dirty="0" err="1"/>
              <a:t>rapido</a:t>
            </a:r>
            <a:r>
              <a:rPr sz="1200" dirty="0"/>
              <a:t> e </a:t>
            </a:r>
            <a:r>
              <a:rPr sz="1200" dirty="0" err="1"/>
              <a:t>excelente</a:t>
            </a:r>
            <a:r>
              <a:rPr sz="1200" dirty="0"/>
              <a:t>':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Score POS: 0.000156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Score NEG: 0.000020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→ </a:t>
            </a:r>
            <a:r>
              <a:rPr sz="1200" dirty="0" err="1"/>
              <a:t>Vencedor</a:t>
            </a:r>
            <a:r>
              <a:rPr sz="1200" dirty="0"/>
              <a:t>: POSITIVO!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Treinar</a:t>
            </a:r>
            <a:r>
              <a:rPr sz="1200" dirty="0"/>
              <a:t> um Naive Bayes é </a:t>
            </a:r>
            <a:r>
              <a:rPr sz="1200" dirty="0" err="1"/>
              <a:t>apenas</a:t>
            </a:r>
            <a:r>
              <a:rPr sz="1200" dirty="0"/>
              <a:t> </a:t>
            </a:r>
            <a:r>
              <a:rPr sz="1200" dirty="0" err="1"/>
              <a:t>contar</a:t>
            </a:r>
            <a:r>
              <a:rPr sz="1200" dirty="0"/>
              <a:t> </a:t>
            </a:r>
            <a:r>
              <a:rPr sz="1200" dirty="0" err="1"/>
              <a:t>frequências</a:t>
            </a:r>
            <a:r>
              <a:rPr sz="1200" dirty="0"/>
              <a:t>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1.6 NAIVE BAYES SCIKIT-LEARN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Conferindo com MultinomialNB do scikit-learn: Bateu 100%!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69773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rPr dirty="0"/>
              <a:t># --- </a:t>
            </a:r>
            <a:r>
              <a:rPr dirty="0" err="1"/>
              <a:t>MultinomialNB</a:t>
            </a:r>
            <a:r>
              <a:rPr dirty="0"/>
              <a:t>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sklearn.feature_extraction.text</a:t>
            </a:r>
            <a:r>
              <a:rPr dirty="0"/>
              <a:t> import </a:t>
            </a:r>
            <a:r>
              <a:rPr dirty="0" err="1"/>
              <a:t>CountVectorizer</a:t>
            </a: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sklearn.naive_bayes</a:t>
            </a:r>
            <a:r>
              <a:rPr dirty="0"/>
              <a:t> import </a:t>
            </a:r>
            <a:r>
              <a:rPr dirty="0" err="1"/>
              <a:t>MultinomialNB</a:t>
            </a: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docs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otimo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rapido</a:t>
            </a:r>
            <a:r>
              <a:rPr dirty="0"/>
              <a:t>", "pos"),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excelente</a:t>
            </a:r>
            <a:r>
              <a:rPr dirty="0"/>
              <a:t>", "pos"),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pessimo</a:t>
            </a:r>
            <a:r>
              <a:rPr dirty="0"/>
              <a:t> lento", "neg"),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("</a:t>
            </a:r>
            <a:r>
              <a:rPr dirty="0" err="1"/>
              <a:t>horrivel</a:t>
            </a:r>
            <a:r>
              <a:rPr dirty="0"/>
              <a:t> </a:t>
            </a:r>
            <a:r>
              <a:rPr dirty="0" err="1"/>
              <a:t>nao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", "neg"),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textos</a:t>
            </a:r>
            <a:r>
              <a:rPr dirty="0"/>
              <a:t> = [d[0] for d in docs]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classes = [d[1] for d in docs]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cv = </a:t>
            </a:r>
            <a:r>
              <a:rPr dirty="0" err="1"/>
              <a:t>CountVectorizer</a:t>
            </a:r>
            <a:r>
              <a:rPr dirty="0"/>
              <a:t>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X = </a:t>
            </a:r>
            <a:r>
              <a:rPr dirty="0" err="1"/>
              <a:t>cv.fit_transform</a:t>
            </a:r>
            <a:r>
              <a:rPr dirty="0"/>
              <a:t>(</a:t>
            </a:r>
            <a:r>
              <a:rPr dirty="0" err="1"/>
              <a:t>textos</a:t>
            </a:r>
            <a:r>
              <a:rPr dirty="0"/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clf</a:t>
            </a:r>
            <a:r>
              <a:rPr dirty="0"/>
              <a:t> = </a:t>
            </a:r>
            <a:r>
              <a:rPr dirty="0" err="1"/>
              <a:t>MultinomialNB</a:t>
            </a:r>
            <a:r>
              <a:rPr dirty="0"/>
              <a:t>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clf.fit</a:t>
            </a:r>
            <a:r>
              <a:rPr dirty="0"/>
              <a:t>(X, classes)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testes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otimo</a:t>
            </a:r>
            <a:r>
              <a:rPr dirty="0"/>
              <a:t>", 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pessimo</a:t>
            </a:r>
            <a:r>
              <a:rPr dirty="0"/>
              <a:t>", 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"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rapido</a:t>
            </a:r>
            <a:r>
              <a:rPr dirty="0"/>
              <a:t> e </a:t>
            </a:r>
            <a:r>
              <a:rPr dirty="0" err="1"/>
              <a:t>excelente</a:t>
            </a:r>
            <a:r>
              <a:rPr dirty="0"/>
              <a:t>"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print("</a:t>
            </a:r>
            <a:r>
              <a:rPr dirty="0" err="1"/>
              <a:t>Previsões</a:t>
            </a:r>
            <a:r>
              <a:rPr dirty="0"/>
              <a:t> </a:t>
            </a:r>
            <a:r>
              <a:rPr dirty="0" err="1"/>
              <a:t>scikit</a:t>
            </a:r>
            <a:r>
              <a:rPr dirty="0"/>
              <a:t>-learn:", </a:t>
            </a:r>
            <a:r>
              <a:rPr dirty="0" err="1"/>
              <a:t>clf.predict</a:t>
            </a:r>
            <a:r>
              <a:rPr dirty="0"/>
              <a:t>(</a:t>
            </a:r>
            <a:r>
              <a:rPr dirty="0" err="1"/>
              <a:t>cv.transform</a:t>
            </a:r>
            <a:r>
              <a:rPr dirty="0"/>
              <a:t>(testes)))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rPr sz="1400" dirty="0"/>
              <a:t>&gt; </a:t>
            </a:r>
            <a:r>
              <a:rPr sz="1400" dirty="0" err="1"/>
              <a:t>Validação</a:t>
            </a:r>
            <a:r>
              <a:rPr sz="1400" dirty="0"/>
              <a:t> </a:t>
            </a:r>
            <a:r>
              <a:rPr sz="1400" dirty="0" err="1"/>
              <a:t>Cruzada</a:t>
            </a:r>
            <a:endParaRPr sz="14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&gt; </a:t>
            </a:r>
            <a:r>
              <a:rPr sz="1200" dirty="0" err="1"/>
              <a:t>Saída</a:t>
            </a:r>
            <a:r>
              <a:rPr sz="1200" dirty="0"/>
              <a:t> do </a:t>
            </a:r>
            <a:r>
              <a:rPr sz="1200" dirty="0" err="1"/>
              <a:t>MultinomialNB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['pos'  'neg'  'pos']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Conclusão</a:t>
            </a:r>
            <a:r>
              <a:rPr sz="1200" dirty="0"/>
              <a:t> </a:t>
            </a:r>
            <a:r>
              <a:rPr sz="1200" dirty="0" err="1"/>
              <a:t>Rigorosa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• As </a:t>
            </a:r>
            <a:r>
              <a:rPr sz="1200" dirty="0" err="1"/>
              <a:t>previsões</a:t>
            </a:r>
            <a:r>
              <a:rPr sz="1200" dirty="0"/>
              <a:t> do </a:t>
            </a:r>
            <a:r>
              <a:rPr sz="1200" dirty="0" err="1"/>
              <a:t>scikit</a:t>
            </a:r>
            <a:r>
              <a:rPr sz="1200" dirty="0"/>
              <a:t>-learn </a:t>
            </a:r>
            <a:r>
              <a:rPr sz="1200" dirty="0" err="1"/>
              <a:t>foram</a:t>
            </a:r>
            <a:r>
              <a:rPr sz="1200" dirty="0"/>
              <a:t> </a:t>
            </a:r>
            <a:r>
              <a:rPr sz="1200" dirty="0" err="1"/>
              <a:t>exatamente</a:t>
            </a:r>
            <a:r>
              <a:rPr sz="1200" dirty="0"/>
              <a:t> IDÊNTICAS </a:t>
            </a:r>
            <a:r>
              <a:rPr sz="1200" dirty="0" err="1"/>
              <a:t>às</a:t>
            </a: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  </a:t>
            </a:r>
            <a:r>
              <a:rPr sz="1200" dirty="0" err="1"/>
              <a:t>previsões</a:t>
            </a:r>
            <a:r>
              <a:rPr sz="1200" dirty="0"/>
              <a:t> que </a:t>
            </a:r>
            <a:r>
              <a:rPr sz="1200" dirty="0" err="1"/>
              <a:t>calculamos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mão</a:t>
            </a:r>
            <a:r>
              <a:rPr sz="1200" dirty="0"/>
              <a:t> com o </a:t>
            </a:r>
            <a:r>
              <a:rPr sz="1200" dirty="0" err="1"/>
              <a:t>Teorema</a:t>
            </a:r>
            <a:r>
              <a:rPr sz="1200" dirty="0"/>
              <a:t> de Bayes!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O que </a:t>
            </a:r>
            <a:r>
              <a:rPr sz="1200" dirty="0" err="1"/>
              <a:t>aprendemos</a:t>
            </a:r>
            <a:r>
              <a:rPr sz="1200" dirty="0"/>
              <a:t> com </a:t>
            </a:r>
            <a:r>
              <a:rPr sz="1200" dirty="0" err="1"/>
              <a:t>isso</a:t>
            </a:r>
            <a:r>
              <a:rPr sz="1200" dirty="0"/>
              <a:t>?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há</a:t>
            </a:r>
            <a:r>
              <a:rPr sz="1200" dirty="0"/>
              <a:t> '</a:t>
            </a:r>
            <a:r>
              <a:rPr sz="1200" dirty="0" err="1"/>
              <a:t>mágica</a:t>
            </a:r>
            <a:r>
              <a:rPr sz="1200" dirty="0"/>
              <a:t>' </a:t>
            </a:r>
            <a:r>
              <a:rPr sz="1200" dirty="0" err="1"/>
              <a:t>oculta</a:t>
            </a:r>
            <a:r>
              <a:rPr sz="1200" dirty="0"/>
              <a:t> </a:t>
            </a:r>
            <a:r>
              <a:rPr sz="1200" dirty="0" err="1"/>
              <a:t>na</a:t>
            </a:r>
            <a:r>
              <a:rPr sz="1200" dirty="0"/>
              <a:t> </a:t>
            </a:r>
            <a:r>
              <a:rPr sz="1200" dirty="0" err="1"/>
              <a:t>biblioteca</a:t>
            </a:r>
            <a:r>
              <a:rPr sz="1200" dirty="0"/>
              <a:t>. '</a:t>
            </a:r>
            <a:r>
              <a:rPr sz="1200" dirty="0" err="1"/>
              <a:t>Treinar</a:t>
            </a:r>
            <a:r>
              <a:rPr sz="1200" dirty="0"/>
              <a:t> um </a:t>
            </a:r>
            <a:r>
              <a:rPr sz="1200" dirty="0" err="1"/>
              <a:t>modelo</a:t>
            </a:r>
            <a:r>
              <a:rPr sz="1200" dirty="0"/>
              <a:t>'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neste</a:t>
            </a:r>
            <a:r>
              <a:rPr sz="1200" dirty="0"/>
              <a:t> </a:t>
            </a:r>
            <a:r>
              <a:rPr sz="1200" dirty="0" err="1"/>
              <a:t>contexto</a:t>
            </a:r>
            <a:r>
              <a:rPr sz="1200" dirty="0"/>
              <a:t> </a:t>
            </a:r>
            <a:r>
              <a:rPr sz="1200" dirty="0" err="1"/>
              <a:t>significa</a:t>
            </a:r>
            <a:r>
              <a:rPr sz="1200" dirty="0"/>
              <a:t> </a:t>
            </a:r>
            <a:r>
              <a:rPr sz="1200" dirty="0" err="1"/>
              <a:t>mapear</a:t>
            </a:r>
            <a:r>
              <a:rPr sz="1200" dirty="0"/>
              <a:t> </a:t>
            </a:r>
            <a:r>
              <a:rPr sz="1200" dirty="0" err="1"/>
              <a:t>distribuições</a:t>
            </a:r>
            <a:r>
              <a:rPr sz="1200" dirty="0"/>
              <a:t> </a:t>
            </a:r>
            <a:r>
              <a:rPr sz="1200" dirty="0" err="1"/>
              <a:t>estatísticas</a:t>
            </a: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sobre</a:t>
            </a:r>
            <a:r>
              <a:rPr sz="1200" dirty="0"/>
              <a:t> as </a:t>
            </a:r>
            <a:r>
              <a:rPr sz="1200" dirty="0" err="1"/>
              <a:t>variáveis</a:t>
            </a:r>
            <a:r>
              <a:rPr sz="1200" dirty="0"/>
              <a:t> de entrada para </a:t>
            </a:r>
            <a:r>
              <a:rPr sz="1200" dirty="0" err="1"/>
              <a:t>decidir</a:t>
            </a:r>
            <a:r>
              <a:rPr sz="1200" dirty="0"/>
              <a:t> a </a:t>
            </a:r>
            <a:r>
              <a:rPr sz="1200" dirty="0" err="1"/>
              <a:t>classe</a:t>
            </a:r>
            <a:r>
              <a:rPr sz="1200" dirty="0"/>
              <a:t> de </a:t>
            </a:r>
            <a:r>
              <a:rPr sz="1200" dirty="0" err="1"/>
              <a:t>maior</a:t>
            </a: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verossimilhança</a:t>
            </a:r>
            <a:r>
              <a:rPr sz="1200"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1.7 HATEBR &amp; CLASSIFICAÇÃO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Estudo de Caso HateBR: Avaliando um Detector Ingênuo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91590"/>
            <a:ext cx="5669280" cy="50977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rPr dirty="0"/>
              <a:t># --- Detector com Lista </a:t>
            </a:r>
            <a:r>
              <a:rPr dirty="0" err="1"/>
              <a:t>Proibida</a:t>
            </a:r>
            <a:r>
              <a:rPr dirty="0"/>
              <a:t>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import pandas as pd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sklearn.model_selection</a:t>
            </a:r>
            <a:r>
              <a:rPr dirty="0"/>
              <a:t> import </a:t>
            </a:r>
            <a:r>
              <a:rPr dirty="0" err="1"/>
              <a:t>train_test_split</a:t>
            </a: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sklearn.metrics</a:t>
            </a:r>
            <a:r>
              <a:rPr dirty="0"/>
              <a:t> import </a:t>
            </a:r>
            <a:r>
              <a:rPr dirty="0" err="1"/>
              <a:t>accuracy_score</a:t>
            </a: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url_hatebr</a:t>
            </a:r>
            <a:r>
              <a:rPr dirty="0"/>
              <a:t> = "https://raw.githubusercontent.com/</a:t>
            </a:r>
            <a:r>
              <a:rPr dirty="0" err="1"/>
              <a:t>franciellevargas</a:t>
            </a:r>
            <a:r>
              <a:rPr dirty="0"/>
              <a:t>/</a:t>
            </a:r>
            <a:r>
              <a:rPr dirty="0" err="1"/>
              <a:t>HateBR</a:t>
            </a:r>
            <a:r>
              <a:rPr dirty="0"/>
              <a:t>/main/dataset/HateBR.csv"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hatebr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</a:t>
            </a:r>
            <a:r>
              <a:rPr dirty="0" err="1"/>
              <a:t>url_hatebr</a:t>
            </a:r>
            <a:r>
              <a:rPr dirty="0"/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X = </a:t>
            </a:r>
            <a:r>
              <a:rPr dirty="0" err="1"/>
              <a:t>hatebr</a:t>
            </a:r>
            <a:r>
              <a:rPr dirty="0"/>
              <a:t>["</a:t>
            </a:r>
            <a:r>
              <a:rPr dirty="0" err="1"/>
              <a:t>comentario</a:t>
            </a:r>
            <a:r>
              <a:rPr dirty="0"/>
              <a:t>"].</a:t>
            </a:r>
            <a:r>
              <a:rPr dirty="0" err="1"/>
              <a:t>astype</a:t>
            </a:r>
            <a:r>
              <a:rPr dirty="0"/>
              <a:t>(str)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y = </a:t>
            </a:r>
            <a:r>
              <a:rPr dirty="0" err="1"/>
              <a:t>hatebr</a:t>
            </a:r>
            <a:r>
              <a:rPr dirty="0"/>
              <a:t>["</a:t>
            </a:r>
            <a:r>
              <a:rPr dirty="0" err="1"/>
              <a:t>label_final</a:t>
            </a:r>
            <a:r>
              <a:rPr dirty="0"/>
              <a:t>"] # 1 = </a:t>
            </a:r>
            <a:r>
              <a:rPr dirty="0" err="1"/>
              <a:t>ofensivo</a:t>
            </a:r>
            <a:r>
              <a:rPr dirty="0"/>
              <a:t>, 0 = </a:t>
            </a:r>
            <a:r>
              <a:rPr dirty="0" err="1"/>
              <a:t>neutro</a:t>
            </a:r>
            <a:r>
              <a:rPr dirty="0"/>
              <a:t> (3.500 de </a:t>
            </a:r>
            <a:r>
              <a:rPr dirty="0" err="1"/>
              <a:t>cada</a:t>
            </a:r>
            <a:r>
              <a:rPr dirty="0"/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X_treino</a:t>
            </a:r>
            <a:r>
              <a:rPr dirty="0"/>
              <a:t>, </a:t>
            </a:r>
            <a:r>
              <a:rPr dirty="0" err="1"/>
              <a:t>X_teste</a:t>
            </a:r>
            <a:r>
              <a:rPr dirty="0"/>
              <a:t>, </a:t>
            </a:r>
            <a:r>
              <a:rPr dirty="0" err="1"/>
              <a:t>y_treino</a:t>
            </a:r>
            <a:r>
              <a:rPr dirty="0"/>
              <a:t>, </a:t>
            </a:r>
            <a:r>
              <a:rPr dirty="0" err="1"/>
              <a:t>y_teste</a:t>
            </a:r>
            <a:r>
              <a:rPr dirty="0"/>
              <a:t> = </a:t>
            </a:r>
            <a:r>
              <a:rPr dirty="0" err="1"/>
              <a:t>train_test_split</a:t>
            </a:r>
            <a:r>
              <a:rPr dirty="0"/>
              <a:t>(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X, y, </a:t>
            </a:r>
            <a:r>
              <a:rPr dirty="0" err="1"/>
              <a:t>test_size</a:t>
            </a:r>
            <a:r>
              <a:rPr dirty="0"/>
              <a:t>=0.2, </a:t>
            </a:r>
            <a:r>
              <a:rPr dirty="0" err="1"/>
              <a:t>random_state</a:t>
            </a:r>
            <a:r>
              <a:rPr dirty="0"/>
              <a:t>=42, stratify=y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Regra</a:t>
            </a:r>
            <a:r>
              <a:rPr dirty="0"/>
              <a:t> manual simples com </a:t>
            </a:r>
            <a:r>
              <a:rPr dirty="0" err="1"/>
              <a:t>lista</a:t>
            </a:r>
            <a:r>
              <a:rPr dirty="0"/>
              <a:t> </a:t>
            </a:r>
            <a:r>
              <a:rPr dirty="0" err="1"/>
              <a:t>proibida</a:t>
            </a:r>
            <a:r>
              <a:rPr dirty="0"/>
              <a:t>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lista_proibida</a:t>
            </a:r>
            <a:r>
              <a:rPr dirty="0"/>
              <a:t> = {"idiota", "burro", "</a:t>
            </a:r>
            <a:r>
              <a:rPr dirty="0" err="1"/>
              <a:t>imbecil</a:t>
            </a:r>
            <a:r>
              <a:rPr dirty="0"/>
              <a:t>"}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def </a:t>
            </a:r>
            <a:r>
              <a:rPr dirty="0" err="1"/>
              <a:t>contem_linguagem_inadequada</a:t>
            </a:r>
            <a:r>
              <a:rPr dirty="0"/>
              <a:t>(</a:t>
            </a:r>
            <a:r>
              <a:rPr dirty="0" err="1"/>
              <a:t>frase</a:t>
            </a:r>
            <a:r>
              <a:rPr dirty="0"/>
              <a:t>, </a:t>
            </a:r>
            <a:r>
              <a:rPr dirty="0" err="1"/>
              <a:t>lista</a:t>
            </a:r>
            <a:r>
              <a:rPr dirty="0"/>
              <a:t>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tokens = </a:t>
            </a:r>
            <a:r>
              <a:rPr dirty="0" err="1"/>
              <a:t>frase.lower</a:t>
            </a:r>
            <a:r>
              <a:rPr dirty="0"/>
              <a:t>().split()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return any(</a:t>
            </a:r>
            <a:r>
              <a:rPr dirty="0" err="1"/>
              <a:t>t.strip</a:t>
            </a:r>
            <a:r>
              <a:rPr dirty="0"/>
              <a:t>('.,!?') in </a:t>
            </a:r>
            <a:r>
              <a:rPr dirty="0" err="1"/>
              <a:t>lista</a:t>
            </a:r>
            <a:r>
              <a:rPr dirty="0"/>
              <a:t> for t in tokens)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dirty="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 err="1"/>
              <a:t>pred_ingenuo</a:t>
            </a:r>
            <a:r>
              <a:rPr dirty="0"/>
              <a:t> = </a:t>
            </a:r>
            <a:r>
              <a:rPr dirty="0" err="1"/>
              <a:t>X_teste.apply</a:t>
            </a:r>
            <a:r>
              <a:rPr dirty="0"/>
              <a:t>(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    lambda t: 1 if </a:t>
            </a:r>
            <a:r>
              <a:rPr dirty="0" err="1"/>
              <a:t>contem_linguagem_inadequada</a:t>
            </a:r>
            <a:r>
              <a:rPr dirty="0"/>
              <a:t>(t, </a:t>
            </a:r>
            <a:r>
              <a:rPr dirty="0" err="1"/>
              <a:t>lista_proibida</a:t>
            </a:r>
            <a:r>
              <a:rPr dirty="0"/>
              <a:t>) else 0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dirty="0"/>
              <a:t>print("</a:t>
            </a:r>
            <a:r>
              <a:rPr dirty="0" err="1"/>
              <a:t>Acurácia</a:t>
            </a:r>
            <a:r>
              <a:rPr dirty="0"/>
              <a:t> do Detector </a:t>
            </a:r>
            <a:r>
              <a:rPr dirty="0" err="1"/>
              <a:t>Ingênuo</a:t>
            </a:r>
            <a:r>
              <a:rPr dirty="0"/>
              <a:t>:", round(</a:t>
            </a:r>
            <a:r>
              <a:rPr dirty="0" err="1"/>
              <a:t>accuracy_score</a:t>
            </a:r>
            <a:r>
              <a:rPr dirty="0"/>
              <a:t>(</a:t>
            </a:r>
            <a:r>
              <a:rPr dirty="0" err="1"/>
              <a:t>y_teste</a:t>
            </a:r>
            <a:r>
              <a:rPr dirty="0"/>
              <a:t>, </a:t>
            </a:r>
            <a:r>
              <a:rPr dirty="0" err="1"/>
              <a:t>pred_ingenuo</a:t>
            </a:r>
            <a:r>
              <a:rPr dirty="0"/>
              <a:t>), 4))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14160" y="1331594"/>
            <a:ext cx="4846320" cy="5057775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rPr sz="1400"/>
              <a:t>&gt; Desempenho no Teste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&gt; Acurácia no Conjunto de Teste: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0.5114  (51,14%)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Diagnóstico Crítico: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• O dataset possui 50% de comentários ofensivos e 50% neutros.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• Um algoritmo que simplesmente chutasse 'não ofensivo' para tudo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  obteria exatamente 50,00% de acurácia!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• O detector de lista proibida obteve 51,14% — ou seja, é praticamente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  equivalente a jogar uma moeda para decidir!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Por que falhou?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A língua portuguesa é rica e dinâmica. Reduzir ofensas a 3 palavras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/>
              <a:t>ignora milhares de termos ofensivos, gírias e sarcasmo.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1.7 HATEBR &amp; CLASSIFICAÇÃO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Classificador Real: TF-IDF + MultinomialNB no HateBR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71575"/>
            <a:ext cx="5486400" cy="5153025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rPr sz="1200"/>
              <a:t># --- Grid de N-gramas no HateBR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from sklearn.feature_extraction.text import TfidfVectorizer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from sklearn.naive_bayes import MultinomialNB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from sklearn.metrics import accuracy_score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sz="110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configs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("Unigrama (1,1)", (1, 1)),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("Uni + Bigrama (1,2)", (1, 2)),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("Uni + Bi + Trigrama (1,3)", (1, 3))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sz="110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for nome, ngram_range in configs: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vetorizador = TfidfVectorizer(ngram_range=ngram_range)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Xtr = vetorizador.fit_transform(X_treino)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Xte = vetorizador.transform(X_teste)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sz="110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modelo = MultinomialNB()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modelo.fit(Xtr, y_treino)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pred = modelo.predict(Xte)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 sz="1100"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acc = accuracy_score(y_teste, pred)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rPr sz="1100"/>
              <a:t>    print(f"{nome:&lt;26} vocabulário={len(vetorizador.vocabulary_):&gt;6}  acurácia={acc:.4f}")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71575"/>
            <a:ext cx="5029200" cy="51530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rPr sz="1400" dirty="0"/>
              <a:t>&gt; </a:t>
            </a:r>
            <a:r>
              <a:rPr sz="1400" dirty="0" err="1"/>
              <a:t>Resultados</a:t>
            </a:r>
            <a:r>
              <a:rPr sz="1400" dirty="0"/>
              <a:t> </a:t>
            </a:r>
            <a:r>
              <a:rPr sz="1400" dirty="0" err="1"/>
              <a:t>Comparativos</a:t>
            </a:r>
            <a:endParaRPr sz="14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&gt; </a:t>
            </a:r>
            <a:r>
              <a:rPr sz="1200" dirty="0" err="1"/>
              <a:t>Resultados</a:t>
            </a:r>
            <a:r>
              <a:rPr sz="1200" dirty="0"/>
              <a:t> no </a:t>
            </a:r>
            <a:r>
              <a:rPr sz="1200" dirty="0" err="1"/>
              <a:t>HateBR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Unigrama</a:t>
            </a:r>
            <a:r>
              <a:rPr sz="1200" dirty="0"/>
              <a:t> (1,1)              </a:t>
            </a:r>
            <a:endParaRPr lang="pt-BR"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vocabulário</a:t>
            </a:r>
            <a:r>
              <a:rPr sz="1200" dirty="0"/>
              <a:t>= 10.343  </a:t>
            </a:r>
            <a:endParaRPr lang="pt-BR"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acurácia</a:t>
            </a:r>
            <a:r>
              <a:rPr sz="1200" dirty="0"/>
              <a:t>=0.8500 (85.00%)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Uni + </a:t>
            </a:r>
            <a:r>
              <a:rPr sz="1200" dirty="0" err="1"/>
              <a:t>Bigrama</a:t>
            </a:r>
            <a:r>
              <a:rPr sz="1200" dirty="0"/>
              <a:t> (1,2)        </a:t>
            </a:r>
            <a:endParaRPr lang="pt-BR"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vocabulário</a:t>
            </a:r>
            <a:r>
              <a:rPr sz="1200" dirty="0"/>
              <a:t>= 55.135  </a:t>
            </a:r>
            <a:r>
              <a:rPr sz="1200" dirty="0" err="1"/>
              <a:t>acurácia</a:t>
            </a:r>
            <a:r>
              <a:rPr sz="1200" dirty="0"/>
              <a:t>=0.8493 (84.93%)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Uni + Bi + </a:t>
            </a:r>
            <a:r>
              <a:rPr sz="1200" dirty="0" err="1"/>
              <a:t>Trigrama</a:t>
            </a:r>
            <a:r>
              <a:rPr sz="1200" dirty="0"/>
              <a:t> (1,3)   </a:t>
            </a:r>
            <a:r>
              <a:rPr sz="1200" dirty="0" err="1"/>
              <a:t>vocabulário</a:t>
            </a:r>
            <a:r>
              <a:rPr sz="1200" dirty="0"/>
              <a:t>=110.289  </a:t>
            </a:r>
            <a:r>
              <a:rPr sz="1200" dirty="0" err="1"/>
              <a:t>acurácia</a:t>
            </a:r>
            <a:r>
              <a:rPr sz="1200" dirty="0"/>
              <a:t>=0.8457 (84.57%)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 err="1"/>
              <a:t>Dois</a:t>
            </a:r>
            <a:r>
              <a:rPr sz="1200" dirty="0"/>
              <a:t> Grandes </a:t>
            </a:r>
            <a:r>
              <a:rPr sz="1200" dirty="0" err="1"/>
              <a:t>Fatos</a:t>
            </a:r>
            <a:r>
              <a:rPr sz="1200" dirty="0"/>
              <a:t> </a:t>
            </a:r>
            <a:r>
              <a:rPr sz="1200" dirty="0" err="1"/>
              <a:t>Revelados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1. O Salto </a:t>
            </a:r>
            <a:r>
              <a:rPr sz="1200" dirty="0" err="1"/>
              <a:t>Gigante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   </a:t>
            </a:r>
            <a:r>
              <a:rPr sz="1200" dirty="0" err="1"/>
              <a:t>Saímos</a:t>
            </a:r>
            <a:r>
              <a:rPr sz="1200" dirty="0"/>
              <a:t> de 51,14% para 85,00%! </a:t>
            </a:r>
            <a:r>
              <a:rPr sz="1200" dirty="0" err="1"/>
              <a:t>Treinar</a:t>
            </a:r>
            <a:r>
              <a:rPr sz="1200" dirty="0"/>
              <a:t> </a:t>
            </a:r>
            <a:r>
              <a:rPr sz="1200" dirty="0" err="1"/>
              <a:t>sobre</a:t>
            </a:r>
            <a:r>
              <a:rPr sz="1200" dirty="0"/>
              <a:t> 5.600 </a:t>
            </a:r>
            <a:r>
              <a:rPr sz="1200" dirty="0" err="1"/>
              <a:t>exemplos</a:t>
            </a:r>
            <a:r>
              <a:rPr sz="1200" dirty="0"/>
              <a:t> </a:t>
            </a:r>
            <a:r>
              <a:rPr sz="1200" dirty="0" err="1"/>
              <a:t>reais</a:t>
            </a: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   </a:t>
            </a:r>
            <a:r>
              <a:rPr sz="1200" dirty="0" err="1"/>
              <a:t>anotados</a:t>
            </a:r>
            <a:r>
              <a:rPr sz="1200" dirty="0"/>
              <a:t> </a:t>
            </a:r>
            <a:r>
              <a:rPr sz="1200" dirty="0" err="1"/>
              <a:t>supera</a:t>
            </a:r>
            <a:r>
              <a:rPr sz="1200" dirty="0"/>
              <a:t> de </a:t>
            </a:r>
            <a:r>
              <a:rPr sz="1200" dirty="0" err="1"/>
              <a:t>longe</a:t>
            </a:r>
            <a:r>
              <a:rPr sz="1200" dirty="0"/>
              <a:t> </a:t>
            </a:r>
            <a:r>
              <a:rPr sz="1200" dirty="0" err="1"/>
              <a:t>qualquer</a:t>
            </a:r>
            <a:r>
              <a:rPr sz="1200" dirty="0"/>
              <a:t> </a:t>
            </a:r>
            <a:r>
              <a:rPr sz="1200" dirty="0" err="1"/>
              <a:t>heurística</a:t>
            </a:r>
            <a:r>
              <a:rPr sz="1200" dirty="0"/>
              <a:t> manual.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 sz="1200" dirty="0"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2. N-</a:t>
            </a:r>
            <a:r>
              <a:rPr sz="1200" dirty="0" err="1"/>
              <a:t>gramas</a:t>
            </a:r>
            <a:r>
              <a:rPr sz="1200" dirty="0"/>
              <a:t> 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melhoraram</a:t>
            </a:r>
            <a:r>
              <a:rPr sz="1200" dirty="0"/>
              <a:t> </a:t>
            </a:r>
            <a:r>
              <a:rPr sz="1200" dirty="0" err="1"/>
              <a:t>neste</a:t>
            </a:r>
            <a:r>
              <a:rPr sz="1200" dirty="0"/>
              <a:t> </a:t>
            </a:r>
            <a:r>
              <a:rPr sz="1200" dirty="0" err="1"/>
              <a:t>caso</a:t>
            </a:r>
            <a:r>
              <a:rPr sz="1200" dirty="0"/>
              <a:t>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   </a:t>
            </a:r>
            <a:r>
              <a:rPr sz="1200" dirty="0" err="1"/>
              <a:t>Adicionar</a:t>
            </a:r>
            <a:r>
              <a:rPr sz="1200" dirty="0"/>
              <a:t> bi e </a:t>
            </a:r>
            <a:r>
              <a:rPr sz="1200" dirty="0" err="1"/>
              <a:t>trigramas</a:t>
            </a:r>
            <a:r>
              <a:rPr sz="1200" dirty="0"/>
              <a:t> </a:t>
            </a:r>
            <a:r>
              <a:rPr sz="1200" dirty="0" err="1"/>
              <a:t>multiplicou</a:t>
            </a:r>
            <a:r>
              <a:rPr sz="1200" dirty="0"/>
              <a:t> o </a:t>
            </a:r>
            <a:r>
              <a:rPr sz="1200" dirty="0" err="1"/>
              <a:t>vocabulário</a:t>
            </a:r>
            <a:r>
              <a:rPr sz="1200" dirty="0"/>
              <a:t> por 10x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   (10k -&gt; 110k </a:t>
            </a:r>
            <a:r>
              <a:rPr sz="1200" dirty="0" err="1"/>
              <a:t>colunas</a:t>
            </a:r>
            <a:r>
              <a:rPr sz="1200" dirty="0"/>
              <a:t>), </a:t>
            </a:r>
            <a:r>
              <a:rPr sz="1200" dirty="0" err="1"/>
              <a:t>aumentando</a:t>
            </a:r>
            <a:r>
              <a:rPr sz="1200" dirty="0"/>
              <a:t> a </a:t>
            </a:r>
            <a:r>
              <a:rPr sz="1200" dirty="0" err="1"/>
              <a:t>esparsidade</a:t>
            </a:r>
            <a:r>
              <a:rPr sz="1200" dirty="0"/>
              <a:t> </a:t>
            </a:r>
            <a:r>
              <a:rPr sz="1200" dirty="0" err="1"/>
              <a:t>sem</a:t>
            </a:r>
            <a:r>
              <a:rPr sz="1200" dirty="0"/>
              <a:t> </a:t>
            </a:r>
            <a:r>
              <a:rPr sz="1200" dirty="0" err="1"/>
              <a:t>ganho</a:t>
            </a:r>
            <a:r>
              <a:rPr sz="1200" dirty="0"/>
              <a:t> de </a:t>
            </a:r>
            <a:r>
              <a:rPr sz="1200" dirty="0" err="1"/>
              <a:t>acurácia</a:t>
            </a:r>
            <a:r>
              <a:rPr sz="1200" dirty="0"/>
              <a:t>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rPr sz="1200" dirty="0"/>
              <a:t>   </a:t>
            </a:r>
            <a:r>
              <a:rPr sz="1200" dirty="0" err="1"/>
              <a:t>Em</a:t>
            </a:r>
            <a:r>
              <a:rPr sz="1200" dirty="0"/>
              <a:t> Machine Learning, </a:t>
            </a:r>
            <a:r>
              <a:rPr sz="1200" dirty="0" err="1"/>
              <a:t>hipóteses</a:t>
            </a:r>
            <a:r>
              <a:rPr sz="1200" dirty="0"/>
              <a:t> </a:t>
            </a:r>
            <a:r>
              <a:rPr sz="1200" dirty="0" err="1"/>
              <a:t>precisam</a:t>
            </a:r>
            <a:r>
              <a:rPr sz="1200" dirty="0"/>
              <a:t> ser </a:t>
            </a:r>
            <a:r>
              <a:rPr sz="1200" dirty="0" err="1"/>
              <a:t>validadas</a:t>
            </a:r>
            <a:r>
              <a:rPr sz="1200" dirty="0"/>
              <a:t> </a:t>
            </a:r>
            <a:r>
              <a:rPr sz="1200" dirty="0" err="1"/>
              <a:t>empiricamente</a:t>
            </a:r>
            <a:r>
              <a:rPr sz="1200" dirty="0"/>
              <a:t>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D9488"/>
                </a:solidFill>
                <a:latin typeface="Arial"/>
              </a:defRPr>
            </a:pPr>
            <a:r>
              <a:t>PARTE 2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Análise de Sentimentos I:</a:t>
            </a:r>
            <a:br/>
            <a:r>
              <a:t>Abordagens Baseadas em Léxicos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Como extrair a polaridade de um texto quando não temos milhares de exemplos anotados? Conhecendo os dicionários de sentimentos, o OpLexicon v3.0 e seus desafios estruturais.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2.1 FUNDAMENTOS DE SENTIMENTO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Análise de Sentimento: Conceito e as Duas Grandes Famílias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Análise de sentimento é a tarefa computacional de identificar e extrair opiniões, atitudes e polaridades (positiva, negativa ou neutra) expressas em linguagem natural. É uma das aplicações mais demandadas na indústria moderna (RUSSELL, 2019).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31745"/>
            <a:ext cx="52120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t"/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600"/>
              <a:t>Família 1: Baseada em Léxicos (Rule-Based)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sz="1400"/>
              <a:t>• Requisito: Não precisa de dados rotulados nem de treino prévio.</a:t>
            </a:r>
            <a:br>
              <a:rPr sz="1400"/>
            </a:br>
            <a:r>
              <a:rPr sz="1400"/>
              <a:t>• Como opera: Utiliza um dicionário pré-definido com pesos de polaridade (+1, -1) para cada palavra.</a:t>
            </a:r>
            <a:br>
              <a:rPr sz="1400"/>
            </a:br>
            <a:r>
              <a:rPr sz="1400"/>
              <a:t>• Vantagem: Rápido de colocar em produção e 100% interpretável.</a:t>
            </a:r>
            <a:br>
              <a:rPr sz="1400"/>
            </a:br>
            <a:r>
              <a:rPr sz="1400"/>
              <a:t>• Fraqueza: Não captura ironia, contexto ou gírias não catalogadas.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531745"/>
            <a:ext cx="52120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t"/>
          <a:lstStyle/>
          <a:p>
            <a:pPr algn="ctr">
              <a:spcAft>
                <a:spcPts val="8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rPr sz="1600"/>
              <a:t>Família 2: Classificadores Supervisionados (ML)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sz="1400"/>
              <a:t>• Requisito: Exige um dataset com milhares de exemplos anotados.</a:t>
            </a:r>
            <a:br>
              <a:rPr sz="1400"/>
            </a:br>
            <a:r>
              <a:rPr sz="1400"/>
              <a:t>• Como opera: O algoritmo (ex: Naive Bayes, SVM) ajusta pesos sobre os vetores TF-IDF aprendendo dos exemplos.</a:t>
            </a:r>
            <a:br>
              <a:rPr sz="1400"/>
            </a:br>
            <a:r>
              <a:rPr sz="1400"/>
              <a:t>• Vantagem: Aprende o vocabulário específico do domínio e atinge maior acurácia.</a:t>
            </a:r>
            <a:br>
              <a:rPr sz="1400"/>
            </a:br>
            <a:r>
              <a:rPr sz="1400"/>
              <a:t>• Fraqueza: Custo alto de anotação e risco de overfitting.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2.2 OPLEXICON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 OpLexicon v3.0: Dicionário de Sentimentos em Português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Carregando o OpLexicon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Carregamento direto via GitHub (PUC-RS - SOUZA; VIEIRA, 2012):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url_lexico = "https://raw.githubusercontent.com/marlovss/OpLexicon/main/OpLexicon.csv"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lexico_df = pd.read_csv(url_lexico, header=None, names=["palavra", "classe", "polaridade"])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Convertendo em dicionário chave-valor (palavra -&gt; polaridade):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lexico = dict(zip(lexico_df["palavra"], lexico_df["polaridade"]))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print("Total de palavras no léxico:", len(lexico))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print("bom     -&gt;", lexico.get("bom"))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print("ótimo   -&gt;", lexico.get("ótimo"))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print("péssimo -&gt;", lexico.get("péssimo"))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print("lento   -&gt;", lexico.get("lento"))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Dicionário em Memória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Carregamento e Inspeção: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Total de palavras no léxico: 24.446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bom     -&gt;  1  (Positivo)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ótimo   -&gt;  1  (Positivo)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péssimo -&gt; -1  (Negativo)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lento   -&gt; -1  (Negativo)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Sobre o OpLexicon: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Desenvolvido na PUC-RS por Souza &amp; Vieira (2012).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Contém 24.446 palavras únicas anotadas principalmente como adjetivos.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Polaridades padronizadas: +1 (positivo), -1 (negativo) e 0 (neutro).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Carregamento direto sem necessidade de download manual.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2.2 CUIDADOS DE PRÉ-PROCESSAMENTO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Atenção Crítica de Pré-Processamento: O Papel dos Acentos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19"/>
            <a:ext cx="10698480" cy="451675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Por que NÃO devemos remover acentos cegamente?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1600"/>
              <a:t>Nas sessões de limpeza de texto (Sessão 03), aprendemos a função `remover_acentos` (convertendo 'ótimo' → 'otimo', 'péssimo' → 'pessimo').</a:t>
            </a:r>
            <a:br>
              <a:rPr sz="1600"/>
            </a:br>
            <a:br>
              <a:rPr sz="1600"/>
            </a:br>
            <a:r>
              <a:rPr sz="1600"/>
              <a:t>No entanto, o OpLexicon foi catalogado com a ortografia oficial da língua portuguesa:</a:t>
            </a:r>
            <a:br>
              <a:rPr sz="1600"/>
            </a:br>
            <a:r>
              <a:rPr sz="1600"/>
              <a:t>• O dicionário contém as chaves 'ótimo', 'péssimo', 'horrível'.</a:t>
            </a:r>
            <a:br>
              <a:rPr sz="1600"/>
            </a:br>
            <a:r>
              <a:rPr sz="1600"/>
              <a:t>• O dicionário NÃO contém 'otimo', 'pessimo', 'horrivel'.</a:t>
            </a:r>
            <a:br>
              <a:rPr sz="1600"/>
            </a:br>
            <a:br>
              <a:rPr sz="1600"/>
            </a:br>
            <a:r>
              <a:rPr sz="1600"/>
              <a:t>O Efeito Colateral do Erro:</a:t>
            </a:r>
            <a:br>
              <a:rPr sz="1600"/>
            </a:br>
            <a:r>
              <a:rPr sz="1600"/>
              <a:t>Se você aplicar remoção de acentos antes de consultar o léxico:</a:t>
            </a:r>
            <a:br>
              <a:rPr sz="1600"/>
            </a:br>
            <a:r>
              <a:rPr sz="1600"/>
              <a:t>&gt;&gt;&gt; lexico.get('otimo')  -&gt; Retorna None (0)!</a:t>
            </a:r>
            <a:br>
              <a:rPr sz="1600"/>
            </a:br>
            <a:r>
              <a:rPr sz="1600"/>
              <a:t>A palavra mais forte da avaliação positiva será completamente ignorada pelo algoritmo!</a:t>
            </a:r>
            <a:br>
              <a:rPr sz="1600"/>
            </a:br>
            <a:br>
              <a:rPr sz="1600"/>
            </a:br>
            <a:r>
              <a:rPr sz="1600"/>
              <a:t>Lição para a vida profissional em PLN:</a:t>
            </a:r>
            <a:br>
              <a:rPr sz="1600"/>
            </a:br>
            <a:r>
              <a:rPr sz="1600"/>
              <a:t>Nem toda técnica de normalização deve ser aplicada indiscriminadamente. Cada modelo e cada recurso léxico impõe requisitos específicos de entrada.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2.3 SOMA DE POLARIDADES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Implementação da Soma Simples de Polaridade com Regex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Função polaridade_frase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re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def polaridade_frase(frase, lexico):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# Regex preserva caracteres acentuados da língua portuguesa: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palavras = re.findall(r"[a-zà-úA-ZÀ-Ú]+", frase.lower())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soma = 0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encontradas = []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for p in palavras: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if p in lexico and lexico[p] != 0: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soma += lexico[p]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encontradas.append((p, lexico[p]))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return soma, encontradas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testes = [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"o atendimento foi ótimo e rápido",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"o atendimento foi péssimo e lento",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"o produto é bom",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for f in testes: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soma, achadas = polaridade_frase(f, lexico)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print(f"{f!r:38} soma={soma:+d}  palavras={achadas}")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Resultados das Somas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Testes com Soma Simples: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atendimento foi ótimo e rápido'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→ soma=+2  palavras=[('ótimo', 1), ('rápido', 1)]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Classificação: POSITIVA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atendimento foi péssimo e lento'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→ soma=-2  palavras=[('péssimo', -1), ('lento', -1)]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Classificação: NEGATIVA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produto é bom'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→ soma=+1  palavras=[('bom', 1)]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Classificação: POSITIVA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Funciona de forma intuitiva para frases afirmativas diretas!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2.4 O DESAFIO DA NEGAÇÃO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da </a:t>
            </a:r>
            <a:r>
              <a:rPr dirty="0" err="1"/>
              <a:t>Negação</a:t>
            </a:r>
            <a:r>
              <a:rPr dirty="0"/>
              <a:t> e a </a:t>
            </a:r>
            <a:r>
              <a:rPr dirty="0" err="1"/>
              <a:t>Correção</a:t>
            </a:r>
            <a:r>
              <a:rPr dirty="0"/>
              <a:t> por </a:t>
            </a:r>
            <a:r>
              <a:rPr dirty="0" err="1"/>
              <a:t>Janela</a:t>
            </a:r>
            <a:endParaRPr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EA38E3B-ED66-4106-9C29-E1E497FEE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91546"/>
            <a:ext cx="9829515" cy="550069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rPr dirty="0"/>
              <a:t>2.4 O DESAFIO DA NEGAÇÃO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da </a:t>
            </a:r>
            <a:r>
              <a:rPr dirty="0" err="1"/>
              <a:t>Negação</a:t>
            </a:r>
            <a:r>
              <a:rPr dirty="0"/>
              <a:t> e a </a:t>
            </a:r>
            <a:r>
              <a:rPr dirty="0" err="1"/>
              <a:t>Correção</a:t>
            </a:r>
            <a:r>
              <a:rPr dirty="0"/>
              <a:t> por </a:t>
            </a:r>
            <a:r>
              <a:rPr dirty="0" err="1"/>
              <a:t>Janela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323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rPr sz="1600" dirty="0"/>
              <a:t>Por que a Soma Simples </a:t>
            </a:r>
            <a:r>
              <a:rPr sz="1600" dirty="0" err="1"/>
              <a:t>Falha</a:t>
            </a:r>
            <a:r>
              <a:rPr sz="1600" dirty="0"/>
              <a:t>?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Observe a </a:t>
            </a:r>
            <a:r>
              <a:rPr sz="1600" dirty="0" err="1"/>
              <a:t>frase</a:t>
            </a:r>
            <a:r>
              <a:rPr sz="1600" dirty="0"/>
              <a:t>: "o </a:t>
            </a:r>
            <a:r>
              <a:rPr sz="1600" dirty="0" err="1"/>
              <a:t>produto</a:t>
            </a:r>
            <a:r>
              <a:rPr sz="1600" dirty="0"/>
              <a:t> </a:t>
            </a:r>
            <a:r>
              <a:rPr sz="1600" dirty="0" err="1"/>
              <a:t>não</a:t>
            </a:r>
            <a:r>
              <a:rPr sz="1600" dirty="0"/>
              <a:t> é </a:t>
            </a:r>
            <a:r>
              <a:rPr sz="1600" dirty="0" err="1"/>
              <a:t>bom</a:t>
            </a:r>
            <a:r>
              <a:rPr sz="1600" dirty="0"/>
              <a:t>".</a:t>
            </a:r>
            <a:br>
              <a:rPr sz="1600" dirty="0"/>
            </a:br>
            <a:br>
              <a:rPr sz="1600" dirty="0"/>
            </a:br>
            <a:r>
              <a:rPr sz="1600" dirty="0"/>
              <a:t>• A soma </a:t>
            </a:r>
            <a:r>
              <a:rPr sz="1600" dirty="0" err="1"/>
              <a:t>ingênua</a:t>
            </a:r>
            <a:r>
              <a:rPr sz="1600" dirty="0"/>
              <a:t> </a:t>
            </a:r>
            <a:r>
              <a:rPr sz="1600" dirty="0" err="1"/>
              <a:t>ignora</a:t>
            </a:r>
            <a:r>
              <a:rPr sz="1600" dirty="0"/>
              <a:t> '</a:t>
            </a:r>
            <a:r>
              <a:rPr sz="1600" dirty="0" err="1"/>
              <a:t>não</a:t>
            </a:r>
            <a:r>
              <a:rPr sz="1600" dirty="0"/>
              <a:t>' (</a:t>
            </a:r>
            <a:r>
              <a:rPr sz="1600" dirty="0" err="1"/>
              <a:t>não</a:t>
            </a:r>
            <a:r>
              <a:rPr sz="1600" dirty="0"/>
              <a:t> é </a:t>
            </a:r>
            <a:r>
              <a:rPr sz="1600" dirty="0" err="1"/>
              <a:t>adjetivo</a:t>
            </a:r>
            <a:r>
              <a:rPr sz="1600" dirty="0"/>
              <a:t>) e consulta </a:t>
            </a:r>
            <a:r>
              <a:rPr sz="1600" dirty="0" err="1"/>
              <a:t>apenas</a:t>
            </a:r>
            <a:r>
              <a:rPr sz="1600" dirty="0"/>
              <a:t> '</a:t>
            </a:r>
            <a:r>
              <a:rPr sz="1600" dirty="0" err="1"/>
              <a:t>bom</a:t>
            </a:r>
            <a:r>
              <a:rPr sz="1600" dirty="0"/>
              <a:t>' (+1). </a:t>
            </a:r>
            <a:r>
              <a:rPr sz="1600" dirty="0" err="1"/>
              <a:t>Resultado</a:t>
            </a:r>
            <a:r>
              <a:rPr sz="1600" dirty="0"/>
              <a:t>: POSITIVO!</a:t>
            </a:r>
            <a:endParaRPr lang="pt-BR" sz="1600" dirty="0"/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br>
              <a:rPr sz="1600" dirty="0"/>
            </a:br>
            <a:r>
              <a:rPr sz="1600" dirty="0"/>
              <a:t>• A </a:t>
            </a:r>
            <a:r>
              <a:rPr sz="1600" dirty="0" err="1"/>
              <a:t>frase</a:t>
            </a:r>
            <a:r>
              <a:rPr sz="1600" dirty="0"/>
              <a:t> "</a:t>
            </a:r>
            <a:r>
              <a:rPr sz="1600" dirty="0" err="1"/>
              <a:t>não</a:t>
            </a:r>
            <a:r>
              <a:rPr sz="1600" dirty="0"/>
              <a:t> é </a:t>
            </a:r>
            <a:r>
              <a:rPr sz="1600" dirty="0" err="1"/>
              <a:t>ruim</a:t>
            </a:r>
            <a:r>
              <a:rPr sz="1600" dirty="0"/>
              <a:t>" soma '</a:t>
            </a:r>
            <a:r>
              <a:rPr sz="1600" dirty="0" err="1"/>
              <a:t>ruim</a:t>
            </a:r>
            <a:r>
              <a:rPr sz="1600" dirty="0"/>
              <a:t>' (-1) e </a:t>
            </a:r>
            <a:r>
              <a:rPr sz="1600" dirty="0" err="1"/>
              <a:t>sai</a:t>
            </a:r>
            <a:r>
              <a:rPr sz="1600" dirty="0"/>
              <a:t> NEGATIVA!</a:t>
            </a:r>
            <a:br>
              <a:rPr sz="1600" dirty="0"/>
            </a:br>
            <a:br>
              <a:rPr sz="1600" dirty="0"/>
            </a:br>
            <a:r>
              <a:rPr sz="1600" dirty="0" err="1"/>
              <a:t>Ambas</a:t>
            </a:r>
            <a:r>
              <a:rPr sz="1600" dirty="0"/>
              <a:t> </a:t>
            </a:r>
            <a:r>
              <a:rPr sz="1600" dirty="0" err="1"/>
              <a:t>saem</a:t>
            </a:r>
            <a:r>
              <a:rPr sz="1600" dirty="0"/>
              <a:t> </a:t>
            </a:r>
            <a:r>
              <a:rPr sz="1600" dirty="0" err="1"/>
              <a:t>invertidas</a:t>
            </a:r>
            <a:r>
              <a:rPr sz="1600" dirty="0"/>
              <a:t>!</a:t>
            </a:r>
            <a:br>
              <a:rPr sz="1600" dirty="0"/>
            </a:br>
            <a:br>
              <a:rPr sz="1600" dirty="0"/>
            </a:br>
            <a:r>
              <a:rPr sz="1600" dirty="0" err="1"/>
              <a:t>Solução</a:t>
            </a:r>
            <a:r>
              <a:rPr sz="1600" dirty="0"/>
              <a:t>: </a:t>
            </a:r>
            <a:r>
              <a:rPr sz="1600" dirty="0" err="1"/>
              <a:t>Janela</a:t>
            </a:r>
            <a:r>
              <a:rPr sz="1600" dirty="0"/>
              <a:t> de Look-back (k = 3):</a:t>
            </a:r>
            <a:br>
              <a:rPr sz="1600" dirty="0"/>
            </a:br>
            <a:r>
              <a:rPr sz="1600" dirty="0" err="1"/>
              <a:t>Ao</a:t>
            </a:r>
            <a:r>
              <a:rPr sz="1600" dirty="0"/>
              <a:t> </a:t>
            </a:r>
            <a:r>
              <a:rPr sz="1600" dirty="0" err="1"/>
              <a:t>encontrar</a:t>
            </a:r>
            <a:r>
              <a:rPr sz="1600" dirty="0"/>
              <a:t> </a:t>
            </a:r>
            <a:r>
              <a:rPr sz="1600" dirty="0" err="1"/>
              <a:t>uma</a:t>
            </a:r>
            <a:r>
              <a:rPr sz="1600" dirty="0"/>
              <a:t> </a:t>
            </a:r>
            <a:r>
              <a:rPr sz="1600" dirty="0" err="1"/>
              <a:t>palavra</a:t>
            </a:r>
            <a:r>
              <a:rPr sz="1600" dirty="0"/>
              <a:t> </a:t>
            </a:r>
            <a:r>
              <a:rPr sz="1600" dirty="0" err="1"/>
              <a:t>polarizada</a:t>
            </a:r>
            <a:r>
              <a:rPr sz="1600" dirty="0"/>
              <a:t>, </a:t>
            </a:r>
            <a:r>
              <a:rPr sz="1600" dirty="0" err="1"/>
              <a:t>inspecionamos</a:t>
            </a:r>
            <a:r>
              <a:rPr sz="1600" dirty="0"/>
              <a:t> as 3 </a:t>
            </a:r>
            <a:r>
              <a:rPr sz="1600" dirty="0" err="1"/>
              <a:t>palavras</a:t>
            </a:r>
            <a:r>
              <a:rPr sz="1600" dirty="0"/>
              <a:t> </a:t>
            </a:r>
            <a:r>
              <a:rPr sz="1600" dirty="0" err="1"/>
              <a:t>anteriores</a:t>
            </a:r>
            <a:r>
              <a:rPr sz="1600" dirty="0"/>
              <a:t>. Se </a:t>
            </a:r>
            <a:r>
              <a:rPr sz="1600" dirty="0" err="1"/>
              <a:t>houver</a:t>
            </a:r>
            <a:r>
              <a:rPr sz="1600" dirty="0"/>
              <a:t> '</a:t>
            </a:r>
            <a:r>
              <a:rPr sz="1600" dirty="0" err="1"/>
              <a:t>não</a:t>
            </a:r>
            <a:r>
              <a:rPr sz="1600" dirty="0"/>
              <a:t>', </a:t>
            </a:r>
            <a:r>
              <a:rPr sz="1600" dirty="0" err="1"/>
              <a:t>invertemos</a:t>
            </a:r>
            <a:r>
              <a:rPr sz="1600" dirty="0"/>
              <a:t> o </a:t>
            </a:r>
            <a:r>
              <a:rPr sz="1600" dirty="0" err="1"/>
              <a:t>sinal</a:t>
            </a:r>
            <a:r>
              <a:rPr sz="1600" dirty="0"/>
              <a:t> do </a:t>
            </a:r>
            <a:r>
              <a:rPr sz="1600" dirty="0" err="1"/>
              <a:t>adjetivo</a:t>
            </a:r>
            <a:r>
              <a:rPr sz="1600" dirty="0"/>
              <a:t> (peso = -peso).</a:t>
            </a:r>
          </a:p>
        </p:txBody>
      </p:sp>
    </p:spTree>
    <p:extLst>
      <p:ext uri="{BB962C8B-B14F-4D97-AF65-F5344CB8AC3E}">
        <p14:creationId xmlns:p14="http://schemas.microsoft.com/office/powerpoint/2010/main" val="892651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2.4 ALGORITMO COM LOOK-BACK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Implementação da Janela Deslizante de Negação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Look-back Window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re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def polaridade_com_negacao(frase, lexico, janela=3):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palavras = re.findall(r"[a-zà-úA-ZÀ-Ú]+", frase.lower())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soma = 0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for i, p in enumerate(palavras):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if p in lexico and lexico[p] != 0: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peso = lexico[p]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# Inspeciona as 'janela' palavras anteriores: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contexto_antes = palavras[max(0, i - janela):i]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if "não" in contexto_antes: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    peso = -peso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        soma += peso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return soma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print("Sem correção:")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print("'o produto não é bom'  -&gt;", polaridade_frase("o produto não é bom", lexico)[0])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print("'o produto não é ruim' -&gt;", polaridade_frase("o produto não é ruim", lexico)[0])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Com janela de negação (janela=3):")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print("'o produto não é bom'  -&gt;", polaridade_com_negacao("o produto não é bom", lexico))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print("'o produto não é ruim' -&gt;", polaridade_com_negacao("o produto não é ruim", lexico))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Resultado Corrigido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Execução Comparativa: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Sem correção (Soma Ingênua):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produto não é bom'  -&gt; +1  [ERRO: Era pra ser negativo]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produto não é ruim' -&gt; -1  [ERRO: Era pra ser positivo]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Com janela de negação (janela=3):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produto não é bom'  -&gt; -1  [CORRIGIDO!]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'o produto não é ruim' -&gt; +1  [CORRIGIDO!]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Limitações que ainda restam: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A escolha de janela=3 é heurística.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Frases com negações distantes ou conectivos adversativos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podem escapar dessa regra simples.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2.5 &amp; 2.6 LIMITAÇÕES DO LÉXICO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Limitações Estruturais: Intensificadores, Ironia e Sarcasmo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1. Problema dos Intensificadores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Exemplo Prático:</a:t>
            </a:r>
            <a:br/>
            <a:r>
              <a:t>&gt;&gt;&gt; polaridade_frase("o produto é bom", lexico)</a:t>
            </a:r>
            <a:br/>
            <a:r>
              <a:t>(1, [('bom', 1)])</a:t>
            </a:r>
            <a:br/>
            <a:br/>
            <a:r>
              <a:t>&gt;&gt;&gt; polaridade_frase("o produto é muito bom", lexico)</a:t>
            </a:r>
            <a:br/>
            <a:r>
              <a:t>(1, [('bom', 1)])</a:t>
            </a:r>
            <a:br/>
            <a:br/>
            <a:r>
              <a:t>Ambas as avaliações saem com a mesma pontuação (+1)!</a:t>
            </a:r>
            <a:br/>
            <a:br/>
            <a:r>
              <a:t>Por que isso acontece?</a:t>
            </a:r>
            <a:br/>
            <a:r>
              <a:t>O termo "muito" é um advérbio intensificador e não está no OpLexicon (que é focado em adjetivos). Sem uma regra de amplificação (ex: multiplicar adjetivo por 1.5), a intensidade do sentimento é ignorada.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t"/>
          <a:lstStyle/>
          <a:p>
            <a:pPr algn="ctr">
              <a:spcAft>
                <a:spcPts val="1000"/>
              </a:spcAft>
              <a:defRPr sz="1500" b="1">
                <a:solidFill>
                  <a:srgbClr val="DC2626"/>
                </a:solidFill>
                <a:latin typeface="Arial"/>
              </a:defRPr>
            </a:pPr>
            <a:r>
              <a:t>2. Quando o Léxico Falha de Vez: Sarcasmo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Considere o comentário real:</a:t>
            </a:r>
            <a:br/>
            <a:r>
              <a:t>"Que atendimento incrível, esperei 3 horas."</a:t>
            </a:r>
            <a:br/>
            <a:br/>
            <a:r>
              <a:t>• O termo "incrível" consta no OpLexicon com polaridade +1.</a:t>
            </a:r>
            <a:br/>
            <a:r>
              <a:t>• O cálculo do léxico classifica o texto como POSITIVO (+1).</a:t>
            </a:r>
            <a:br/>
            <a:r>
              <a:t>• No entanto, qualquer humano percebe imediatamente que se trata de uma crítica ferrenha e sarcástica!</a:t>
            </a:r>
            <a:br/>
            <a:br/>
            <a:r>
              <a:t>Conclusão Inevitável:</a:t>
            </a:r>
            <a:br/>
            <a:r>
              <a:t>Nenhuma soma ingênua de palavras é capaz de resolver ironia e sarcasmo. O léxico não possui compreensão pragmática de mundo nem de contexto situacional.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2.7 LÉXICO NO HATEBR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Estudo de Caso: Aplicando o OpLexicon no Dataset HateBR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Courier New"/>
              </a:defRPr>
            </a:pPr>
            <a:r>
              <a:t># --- Classificando HateBR com OpLexicon ---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re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sklearn.metrics import accuracy_score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Função rápida para avaliar o dataset inteiro: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def polaridade_frase_simples(frase, lexico):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palavras = re.findall(r"[a-zà-úA-ZÀ-Ú]+", str(frase).lower())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return sum(lexico.get(p, 0) for p in palavras)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# Hipótese: Comentário negativo (soma &lt; 0) tem chance de ser ofensivo (1):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pred_lexico = X_teste.apply(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    lambda t: 1 if polaridade_frase_simples(t, lexico) &lt; 0 else 0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acc_lexico = accuracy_score(y_teste, pred_lexico)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print("Acurácia do Léxico no HateBR:", round(acc_lexico, 4))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>
              <a:spcAft>
                <a:spcPts val="400"/>
              </a:spcAft>
              <a:defRPr sz="1000" b="1">
                <a:solidFill>
                  <a:srgbClr val="0D9488"/>
                </a:solidFill>
                <a:latin typeface="Courier New"/>
              </a:defRPr>
            </a:pPr>
            <a:r>
              <a:t>&gt; Acurácia no Teste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&gt; Acurácia Obtida no Conjunto de Teste: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0.6657  (66,57%)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Análise dos Resultados: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O léxico alcançou 66,57% de acurácia.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Ele superou com folga o detector ingênuo (51,14%).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Por que melhorou? Porque o OpLexicon cobre mais de 24 mil palavras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carregadas de valor afetivo, detectando termos hostis indiretos.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endParaRPr/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• Mas por que ainda perde para os 85,00% do Machine Learning?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1. O OpLexicon foi desenhado para sentimento geral (produtos, reviews),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   e não especificamente para discurso de ódio e toxicidade.</a:t>
            </a:r>
          </a:p>
          <a:p>
            <a:pPr>
              <a:defRPr sz="950">
                <a:solidFill>
                  <a:srgbClr val="334155"/>
                </a:solidFill>
                <a:latin typeface="Courier New"/>
              </a:defRPr>
            </a:pPr>
            <a:r>
              <a:t>  2. Ele não aprende o vocabulário e as gírias do Instagram brasileiro.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SÍNTESE DOS EXPERIMENTOS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 Grande Comparação: Três Abordagens no Mesmo Dataset</a:t>
            </a:r>
          </a:p>
        </p:txBody>
      </p:sp>
      <p:pic>
        <p:nvPicPr>
          <p:cNvPr id="3" name="Picture 2" descr="diagram_hateb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Conclusões Empíricas Definitivas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1. O Detector Ingênuo (51%):</a:t>
            </a:r>
            <a:br/>
            <a:r>
              <a:t>Regras manuais rígidas falham diante da riqueza da linguagem natural.</a:t>
            </a:r>
            <a:br/>
            <a:br/>
            <a:r>
              <a:t>2. O Léxico de Sentimentos (67%):</a:t>
            </a:r>
            <a:br/>
            <a:r>
              <a:t>Excelente para uma primeira aproximação não supervisionada, mas limitado pelo dicionário genérico.</a:t>
            </a:r>
            <a:br/>
            <a:br/>
            <a:r>
              <a:t>3. Machine Learning Real (85%):</a:t>
            </a:r>
            <a:br/>
            <a:r>
              <a:t>O modelo supervisionado (TF-IDF + Naive Bayes) supera todas as abordagens manuais porque ajusta pesos probabilísticos diretamente a partir dos 5.600 comentários reais do corpus de treino.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PRÓXIMOS PASSOS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Conectando ao Futuro do Curso: O Que Vem Pela Frente?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Como Resolver os Limites Encontrados Hoje?</a:t>
            </a:r>
          </a:p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rPr sz="1600"/>
              <a:t>1. Ligação de Sentimento a Alvos Específicos (Aspect-Based Sentiment - Sessão 11):</a:t>
            </a:r>
            <a:br>
              <a:rPr sz="1600"/>
            </a:br>
            <a:r>
              <a:rPr sz="1600"/>
              <a:t>Na avaliação "o produto é bom mas a bateria é fraca", a soma simples mistura tudo. Na Sessão 11, usaremos POS Tagging e árvores de dependência sintática (`token.head`) com spaCy para vincular 'bom' a 'produto' e 'fraca' exclusivamente a 'bateria'.</a:t>
            </a:r>
            <a:br>
              <a:rPr sz="1600"/>
            </a:br>
            <a:br>
              <a:rPr sz="1600"/>
            </a:br>
            <a:r>
              <a:rPr sz="1600"/>
              <a:t>2. Embeddings Densos Treinados (Word2Vec - Sessão 08):</a:t>
            </a:r>
            <a:br>
              <a:rPr sz="1600"/>
            </a:br>
            <a:r>
              <a:rPr sz="1600"/>
              <a:t>Hoje vimos números ilustrativos para o cosseno. Na Sessão 08, treinaremos representações densas reais sobre grandes volumes de texto com a biblioteca gensim.</a:t>
            </a:r>
            <a:br>
              <a:rPr sz="1600"/>
            </a:br>
            <a:br>
              <a:rPr sz="1600"/>
            </a:br>
            <a:r>
              <a:rPr sz="1600"/>
              <a:t>3. Transformers e Modelos de Linguagem Pré-Treinados (BERT - Sessões 12 a 16):</a:t>
            </a:r>
            <a:br>
              <a:rPr sz="1600"/>
            </a:br>
            <a:r>
              <a:rPr sz="1600"/>
              <a:t>Para superar a barreira dos 85% e dominar sarcasmo, negações complexas e contexto profundo, usaremos arquiteturas neurais de atenção que representam o estado da arte do PLN.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CONCLUSÃO DA AULA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Síntese dos Aprendizados do Dia: Os 4 Pilares Centrais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1. VETORIZAÇÃO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sz="1400"/>
              <a:t>BoW, TF-IDF e N-gramas convertem linguagem em matrizes. O TF-IDF resolve a esparsidade e penaliza termos banais dando peso a termos discriminativos.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2. REVISÃO DE ML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sz="1400"/>
              <a:t>Supervisionado, Não-supervisionado e Reforço. O Naive Bayes desmistifica o treinamento através de contagens e probabilidades condicionais diretas.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3. LÉXICOS (OPLEXICON)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sz="1400"/>
              <a:t>Permite classificar sentimentos sem dados anotados somando polaridades (+1, -1), mas sofre com negações, intensificadores e sarcasmo.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  <a:latin typeface="Arial"/>
              </a:defRPr>
            </a:pPr>
            <a:r>
              <a:t>4. O ARCO HATEBR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rPr sz="1400"/>
              <a:t>Evidência prática empírica: Detector Ingênuo (51%) -&gt; Léxico de Sentimento (67%) -&gt; Classificador de Machine Learning (85%).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  <a:latin typeface="Arial"/>
              </a:defRPr>
            </a:pPr>
            <a:r>
              <a:t>MATERIAL DE APOIO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Referências Bibliográficas para Aprofundamento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rPr dirty="0"/>
              <a:t>Fontes e </a:t>
            </a:r>
            <a:r>
              <a:rPr dirty="0" err="1"/>
              <a:t>Leituras</a:t>
            </a:r>
            <a:r>
              <a:rPr dirty="0"/>
              <a:t> </a:t>
            </a:r>
            <a:r>
              <a:rPr dirty="0" err="1"/>
              <a:t>Recomendadas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GÉRON, A. </a:t>
            </a:r>
            <a:r>
              <a:rPr sz="1600" dirty="0" err="1"/>
              <a:t>Mãos</a:t>
            </a:r>
            <a:r>
              <a:rPr sz="1600" dirty="0"/>
              <a:t> à </a:t>
            </a:r>
            <a:r>
              <a:rPr sz="1600" dirty="0" err="1"/>
              <a:t>Obra</a:t>
            </a:r>
            <a:r>
              <a:rPr sz="1600" dirty="0"/>
              <a:t>: </a:t>
            </a:r>
            <a:r>
              <a:rPr sz="1600" dirty="0" err="1"/>
              <a:t>Aprendizado</a:t>
            </a:r>
            <a:r>
              <a:rPr sz="1600" dirty="0"/>
              <a:t> de </a:t>
            </a:r>
            <a:r>
              <a:rPr sz="1600" dirty="0" err="1"/>
              <a:t>Máquina</a:t>
            </a:r>
            <a:r>
              <a:rPr sz="1600" dirty="0"/>
              <a:t> com </a:t>
            </a:r>
            <a:r>
              <a:rPr sz="1600" dirty="0" err="1"/>
              <a:t>Scikit</a:t>
            </a:r>
            <a:r>
              <a:rPr sz="1600" dirty="0"/>
              <a:t>-Learn &amp; TensorFlow. Alta Books, 2019.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HOBSON, L.; COLE, H.; HANNES, H. Natural Language Processing in Action. Manning, 2019.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MCKINNEY, W. Python Para </a:t>
            </a:r>
            <a:r>
              <a:rPr sz="1600" dirty="0" err="1"/>
              <a:t>Análise</a:t>
            </a:r>
            <a:r>
              <a:rPr sz="1600" dirty="0"/>
              <a:t> de Dados. </a:t>
            </a:r>
            <a:r>
              <a:rPr sz="1600" dirty="0" err="1"/>
              <a:t>Novatec</a:t>
            </a:r>
            <a:r>
              <a:rPr sz="1600" dirty="0"/>
              <a:t>, 2018.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RUSSELL, M. A. </a:t>
            </a:r>
            <a:r>
              <a:rPr sz="1600" dirty="0" err="1"/>
              <a:t>Mineração</a:t>
            </a:r>
            <a:r>
              <a:rPr sz="1600" dirty="0"/>
              <a:t> de Dados da Web Social. </a:t>
            </a:r>
            <a:r>
              <a:rPr sz="1600" dirty="0" err="1"/>
              <a:t>Novatec</a:t>
            </a:r>
            <a:r>
              <a:rPr sz="1600" dirty="0"/>
              <a:t>, 2019.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VARGAS, F. et al. </a:t>
            </a:r>
            <a:r>
              <a:rPr sz="1600" dirty="0" err="1"/>
              <a:t>HateBR</a:t>
            </a:r>
            <a:r>
              <a:rPr sz="1600" dirty="0"/>
              <a:t>: A Large Expert Annotated Corpus of Brazilian Instagram Comments for Offensive Language and Hate Speech Detection. LREC, 2022. Dataset: github.com/</a:t>
            </a:r>
            <a:r>
              <a:rPr sz="1600" dirty="0" err="1"/>
              <a:t>franciellevargas</a:t>
            </a:r>
            <a:r>
              <a:rPr sz="1600" dirty="0"/>
              <a:t>/</a:t>
            </a:r>
            <a:r>
              <a:rPr sz="1600" dirty="0" err="1"/>
              <a:t>HateBR</a:t>
            </a:r>
            <a:endParaRPr sz="1600" dirty="0"/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SOUZA, M.; VIEIRA, R. Sentiment Analysis on Twitter Data for Portuguese Language. PROPOR, 2012. (</a:t>
            </a:r>
            <a:r>
              <a:rPr sz="1600" dirty="0" err="1"/>
              <a:t>OpLexicon</a:t>
            </a:r>
            <a:r>
              <a:rPr sz="1600" dirty="0"/>
              <a:t> v3.0 - PUC-RS).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OUYANG, L. et al. Training language models to follow instructions with human feedback (</a:t>
            </a:r>
            <a:r>
              <a:rPr sz="1600" dirty="0" err="1"/>
              <a:t>InstructGPT</a:t>
            </a:r>
            <a:r>
              <a:rPr sz="1600" dirty="0"/>
              <a:t> / RLHF). </a:t>
            </a:r>
            <a:r>
              <a:rPr sz="1600" dirty="0" err="1"/>
              <a:t>OpenAI</a:t>
            </a:r>
            <a:r>
              <a:rPr sz="1600" dirty="0"/>
              <a:t>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8950</Words>
  <Application>Microsoft Office PowerPoint</Application>
  <PresentationFormat>Widescreen</PresentationFormat>
  <Paragraphs>711</Paragraphs>
  <Slides>43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Cintia</dc:creator>
  <cp:keywords/>
  <dc:description>generated using python-pptx</dc:description>
  <cp:lastModifiedBy>Cíntia Maria de Araújo Pinho</cp:lastModifiedBy>
  <cp:revision>11</cp:revision>
  <dcterms:created xsi:type="dcterms:W3CDTF">2013-01-27T09:14:16Z</dcterms:created>
  <dcterms:modified xsi:type="dcterms:W3CDTF">2026-09-05T11:09:30Z</dcterms:modified>
  <cp:category/>
</cp:coreProperties>
</file>