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01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B2430"/>
                </a:solidFill>
                <a:latin typeface="Georgia"/>
              </a:defRPr>
            </a:pPr>
            <a:r>
              <a:t>O que é PLN,</a:t>
            </a:r>
          </a:p>
          <a:p>
            <a:pPr>
              <a:defRPr sz="4800" b="1">
                <a:solidFill>
                  <a:srgbClr val="1B2430"/>
                </a:solidFill>
                <a:latin typeface="Georgia"/>
              </a:defRPr>
            </a:pPr>
            <a:r>
              <a:t>na prática?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5B6472"/>
                </a:solidFill>
                <a:latin typeface="Calibri"/>
              </a:defRPr>
            </a:pPr>
            <a:r>
              <a:t>Não é promessa de futuro. É o que já roda por trás de coisas que você usa todo dia — com fonte pra provar.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43484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146B63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02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430"/>
                </a:solidFill>
                <a:latin typeface="Georgia"/>
              </a:defRPr>
            </a:pPr>
            <a:r>
              <a:t>O que é PLN?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607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0" i="0">
                <a:solidFill>
                  <a:srgbClr val="5B6472"/>
                </a:solidFill>
                <a:latin typeface="Calibri"/>
              </a:defRPr>
            </a:pPr>
            <a:r>
              <a:rPr sz="1600" dirty="0"/>
              <a:t>PLN é a </a:t>
            </a:r>
            <a:r>
              <a:rPr sz="1600" dirty="0" err="1"/>
              <a:t>área</a:t>
            </a:r>
            <a:r>
              <a:rPr sz="1600" dirty="0"/>
              <a:t> da </a:t>
            </a:r>
            <a:r>
              <a:rPr sz="1600" dirty="0" err="1"/>
              <a:t>Inteligência</a:t>
            </a:r>
            <a:r>
              <a:rPr sz="1600" dirty="0"/>
              <a:t> Artificial que </a:t>
            </a:r>
            <a:r>
              <a:rPr sz="1600" dirty="0" err="1"/>
              <a:t>ensina</a:t>
            </a:r>
            <a:r>
              <a:rPr sz="1600" dirty="0"/>
              <a:t> </a:t>
            </a:r>
            <a:r>
              <a:rPr sz="1600" dirty="0" err="1"/>
              <a:t>computadores</a:t>
            </a:r>
            <a:r>
              <a:rPr sz="1600" dirty="0"/>
              <a:t> a </a:t>
            </a:r>
            <a:r>
              <a:rPr sz="1600" dirty="0" err="1"/>
              <a:t>ler</a:t>
            </a:r>
            <a:r>
              <a:rPr sz="1600" dirty="0"/>
              <a:t>, </a:t>
            </a:r>
            <a:r>
              <a:rPr sz="1600" dirty="0" err="1"/>
              <a:t>entender</a:t>
            </a:r>
            <a:r>
              <a:rPr sz="1600" dirty="0"/>
              <a:t>, </a:t>
            </a:r>
            <a:r>
              <a:rPr sz="1600" dirty="0" err="1"/>
              <a:t>gerar</a:t>
            </a:r>
            <a:r>
              <a:rPr sz="1600" dirty="0"/>
              <a:t> e responder </a:t>
            </a:r>
            <a:r>
              <a:rPr sz="1600" dirty="0" err="1"/>
              <a:t>linguagem</a:t>
            </a:r>
            <a:r>
              <a:rPr sz="1600" dirty="0"/>
              <a:t> </a:t>
            </a:r>
            <a:r>
              <a:rPr sz="1600" dirty="0" err="1"/>
              <a:t>humana</a:t>
            </a:r>
            <a:r>
              <a:rPr sz="1600" dirty="0"/>
              <a:t> — a </a:t>
            </a:r>
            <a:r>
              <a:rPr sz="1600" dirty="0" err="1"/>
              <a:t>mesma</a:t>
            </a:r>
            <a:r>
              <a:rPr sz="1600" dirty="0"/>
              <a:t> que </a:t>
            </a:r>
            <a:r>
              <a:rPr sz="1600" dirty="0" err="1"/>
              <a:t>você</a:t>
            </a:r>
            <a:r>
              <a:rPr sz="1600" dirty="0"/>
              <a:t> </a:t>
            </a:r>
            <a:r>
              <a:rPr sz="1600" dirty="0" err="1"/>
              <a:t>usa</a:t>
            </a:r>
            <a:r>
              <a:rPr sz="1600" dirty="0"/>
              <a:t> </a:t>
            </a:r>
            <a:r>
              <a:rPr sz="1600" dirty="0" err="1"/>
              <a:t>pra</a:t>
            </a:r>
            <a:r>
              <a:rPr sz="1600" dirty="0"/>
              <a:t> </a:t>
            </a:r>
            <a:r>
              <a:rPr sz="1600" dirty="0" err="1"/>
              <a:t>falar</a:t>
            </a:r>
            <a:r>
              <a:rPr sz="1600" dirty="0"/>
              <a:t> e </a:t>
            </a:r>
            <a:r>
              <a:rPr sz="1600" dirty="0" err="1"/>
              <a:t>escrever</a:t>
            </a:r>
            <a:r>
              <a:rPr sz="1600" dirty="0"/>
              <a:t>, </a:t>
            </a:r>
            <a:r>
              <a:rPr sz="1600" dirty="0" err="1"/>
              <a:t>cheia</a:t>
            </a:r>
            <a:r>
              <a:rPr sz="1600" dirty="0"/>
              <a:t> de </a:t>
            </a:r>
            <a:r>
              <a:rPr sz="1600" dirty="0" err="1"/>
              <a:t>ambiguidade</a:t>
            </a:r>
            <a:r>
              <a:rPr sz="1600" dirty="0"/>
              <a:t>, </a:t>
            </a:r>
            <a:r>
              <a:rPr sz="1600" dirty="0" err="1"/>
              <a:t>gírias</a:t>
            </a:r>
            <a:r>
              <a:rPr sz="1600" dirty="0"/>
              <a:t> e </a:t>
            </a:r>
            <a:r>
              <a:rPr sz="1600" dirty="0" err="1"/>
              <a:t>exceções</a:t>
            </a:r>
            <a:r>
              <a:rPr sz="1600" dirty="0"/>
              <a:t>, </a:t>
            </a:r>
            <a:r>
              <a:rPr sz="1600" dirty="0" err="1"/>
              <a:t>bem</a:t>
            </a:r>
            <a:r>
              <a:rPr sz="1600" dirty="0"/>
              <a:t> </a:t>
            </a:r>
            <a:r>
              <a:rPr sz="1600" dirty="0" err="1"/>
              <a:t>diferente</a:t>
            </a:r>
            <a:r>
              <a:rPr sz="1600" dirty="0"/>
              <a:t> de </a:t>
            </a:r>
            <a:r>
              <a:rPr sz="1600" dirty="0" err="1"/>
              <a:t>uma</a:t>
            </a:r>
            <a:r>
              <a:rPr sz="1600" dirty="0"/>
              <a:t> </a:t>
            </a:r>
            <a:r>
              <a:rPr sz="1600" dirty="0" err="1"/>
              <a:t>linguagem</a:t>
            </a:r>
            <a:r>
              <a:rPr sz="1600" dirty="0"/>
              <a:t> de </a:t>
            </a:r>
            <a:r>
              <a:rPr sz="1600" dirty="0" err="1"/>
              <a:t>programação</a:t>
            </a:r>
            <a:r>
              <a:rPr sz="1600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 i="0">
                <a:solidFill>
                  <a:srgbClr val="1B2430"/>
                </a:solidFill>
                <a:latin typeface="Calibri"/>
              </a:defRPr>
            </a:pPr>
            <a:r>
              <a:t>Isso não é teoria distante — você já usa PLN o tempo todo, mesmo sem perceber: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54680"/>
            <a:ext cx="960120" cy="438912"/>
          </a:xfrm>
          <a:prstGeom prst="roundRect">
            <a:avLst>
              <a:gd name="adj" fmla="val 50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  <a:defRPr sz="1250" b="1" i="0">
                <a:solidFill>
                  <a:srgbClr val="146B63"/>
                </a:solidFill>
                <a:latin typeface="Calibri"/>
              </a:defRPr>
            </a:pPr>
            <a:r>
              <a:t>Busca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3154680"/>
            <a:ext cx="1261872" cy="438912"/>
          </a:xfrm>
          <a:prstGeom prst="roundRect">
            <a:avLst>
              <a:gd name="adj" fmla="val 50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  <a:defRPr sz="1250" b="1" i="0">
                <a:solidFill>
                  <a:srgbClr val="146B63"/>
                </a:solidFill>
                <a:latin typeface="Calibri"/>
              </a:defRPr>
            </a:pPr>
            <a:r>
              <a:t>Tradução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3154680"/>
            <a:ext cx="2468880" cy="438912"/>
          </a:xfrm>
          <a:prstGeom prst="roundRect">
            <a:avLst>
              <a:gd name="adj" fmla="val 50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  <a:defRPr sz="1250" b="1" i="0">
                <a:solidFill>
                  <a:srgbClr val="146B63"/>
                </a:solidFill>
                <a:latin typeface="Calibri"/>
              </a:defRPr>
            </a:pPr>
            <a:r>
              <a:t>Corretor ortográfico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154680"/>
            <a:ext cx="1161288" cy="438912"/>
          </a:xfrm>
          <a:prstGeom prst="roundRect">
            <a:avLst>
              <a:gd name="adj" fmla="val 50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  <a:defRPr sz="1250" b="1" i="0">
                <a:solidFill>
                  <a:srgbClr val="146B63"/>
                </a:solidFill>
                <a:latin typeface="Calibri"/>
              </a:defRPr>
            </a:pPr>
            <a:r>
              <a:t>Chatbot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154680"/>
            <a:ext cx="2167128" cy="438912"/>
          </a:xfrm>
          <a:prstGeom prst="roundRect">
            <a:avLst>
              <a:gd name="adj" fmla="val 50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  <a:defRPr sz="1250" b="1" i="0">
                <a:solidFill>
                  <a:srgbClr val="146B63"/>
                </a:solidFill>
                <a:latin typeface="Calibri"/>
              </a:defRPr>
            </a:pPr>
            <a:r>
              <a:t>Assistente de voz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30752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8B93A0"/>
                </a:solidFill>
                <a:latin typeface="Calibri"/>
              </a:defRPr>
            </a:pPr>
            <a:r>
              <a:rPr sz="1600" dirty="0"/>
              <a:t>e </a:t>
            </a:r>
            <a:r>
              <a:rPr sz="1600" dirty="0" err="1"/>
              <a:t>bem</a:t>
            </a:r>
            <a:r>
              <a:rPr sz="1600" dirty="0"/>
              <a:t> </a:t>
            </a:r>
            <a:r>
              <a:rPr sz="1600" dirty="0" err="1"/>
              <a:t>mais</a:t>
            </a:r>
            <a:r>
              <a:rPr sz="1600" dirty="0"/>
              <a:t> — a </a:t>
            </a:r>
            <a:r>
              <a:rPr sz="1600" dirty="0" err="1"/>
              <a:t>lista</a:t>
            </a:r>
            <a:r>
              <a:rPr sz="1600" dirty="0"/>
              <a:t> </a:t>
            </a:r>
            <a:r>
              <a:rPr sz="1600" dirty="0" err="1"/>
              <a:t>completa</a:t>
            </a:r>
            <a:r>
              <a:rPr sz="1600" dirty="0"/>
              <a:t> </a:t>
            </a:r>
            <a:r>
              <a:rPr sz="1600" dirty="0" err="1"/>
              <a:t>está</a:t>
            </a:r>
            <a:r>
              <a:rPr sz="1600" dirty="0"/>
              <a:t> </a:t>
            </a:r>
            <a:r>
              <a:rPr dirty="0"/>
              <a:t>no</a:t>
            </a:r>
            <a:r>
              <a:rPr sz="1600" dirty="0"/>
              <a:t> </a:t>
            </a:r>
            <a:r>
              <a:rPr sz="1600" dirty="0" err="1"/>
              <a:t>próximo</a:t>
            </a:r>
            <a:r>
              <a:rPr sz="1600" dirty="0"/>
              <a:t> slide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3A0"/>
                </a:solidFill>
                <a:latin typeface="Consolas"/>
              </a:defRPr>
            </a:pPr>
            <a:r>
              <a:rPr sz="1400" dirty="0"/>
              <a:t>E POR TRÁS DE CADA FRASE QUE VOCÊ ESCREVE, ISSO: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16002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B2430"/>
                </a:solidFill>
                <a:latin typeface="Georgia"/>
              </a:defRPr>
            </a:pPr>
            <a:r>
              <a:t>Esse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13892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EEEEC"/>
          </a:solidFill>
          <a:ln w="12700">
            <a:solidFill>
              <a:srgbClr val="8B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  <a:defRPr sz="1000" b="0" i="0">
                <a:solidFill>
                  <a:srgbClr val="8B93A0"/>
                </a:solidFill>
                <a:latin typeface="Consolas"/>
              </a:defRPr>
            </a:pPr>
            <a:r>
              <a:t>pron.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572000"/>
            <a:ext cx="25603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B2430"/>
                </a:solidFill>
                <a:latin typeface="Georgia"/>
              </a:defRPr>
            </a:pPr>
            <a:r>
              <a:t>atendimento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513892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  <a:defRPr sz="1000" b="0" i="0">
                <a:solidFill>
                  <a:srgbClr val="146B63"/>
                </a:solidFill>
                <a:latin typeface="Consolas"/>
              </a:defRPr>
            </a:pPr>
            <a:r>
              <a:t>subst.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572000"/>
            <a:ext cx="1463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B2430"/>
                </a:solidFill>
                <a:latin typeface="Georgia"/>
              </a:defRPr>
            </a:pPr>
            <a:r>
              <a:t>foi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513892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 w="12700">
            <a:solidFill>
              <a:srgbClr val="5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  <a:defRPr sz="1000" b="0" i="0">
                <a:solidFill>
                  <a:srgbClr val="5B5FB0"/>
                </a:solidFill>
                <a:latin typeface="Consolas"/>
              </a:defRPr>
            </a:pPr>
            <a:r>
              <a:t>verbo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4572000"/>
            <a:ext cx="2148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B2430"/>
                </a:solidFill>
                <a:latin typeface="Georgia"/>
              </a:defRPr>
            </a:pPr>
            <a:r>
              <a:t>incrível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5138928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BEBD6"/>
          </a:solidFill>
          <a:ln w="12700">
            <a:solidFill>
              <a:srgbClr val="B45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  <a:defRPr sz="1000" b="0" i="0">
                <a:solidFill>
                  <a:srgbClr val="B4590E"/>
                </a:solidFill>
                <a:latin typeface="Consolas"/>
              </a:defRPr>
            </a:pPr>
            <a:r>
              <a:t>adj.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3A0"/>
                </a:solidFill>
                <a:latin typeface="Consolas"/>
              </a:defRPr>
            </a:pPr>
            <a:r>
              <a:t>(FERREIRA; LOPES, 2019)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03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430"/>
                </a:solidFill>
                <a:latin typeface="Georgia"/>
              </a:defRPr>
            </a:pPr>
            <a:r>
              <a:t>Direto do livro-texto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65760" rIns="457200" bIns="365760" rtlCol="0" anchor="ctr"/>
          <a:lstStyle/>
          <a:p>
            <a:pPr algn="l">
              <a:spcAft>
                <a:spcPts val="0"/>
              </a:spcAft>
              <a:defRPr sz="1900" b="0" i="1">
                <a:solidFill>
                  <a:srgbClr val="1B2430"/>
                </a:solidFill>
                <a:latin typeface="Georgia"/>
              </a:defRPr>
            </a:pPr>
            <a:r>
              <a:t>“A todo momento, estamos às voltas com programas de computador que interpretam e produzem texto e fala, corrigem o que digitamos, sugerem possibilidades de expressão, dialogam, traduzem, classificam dados linguísticos e buscam informações em gigantescos bancos de dados. Tudo isso faz parte do universo da Linguística Computacional e do processamento de linguagem natural.”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3A0"/>
                </a:solidFill>
                <a:latin typeface="Consolas"/>
              </a:defRPr>
            </a:pPr>
            <a:r>
              <a:t>FERREIRA, M.; LOPES, M. Para conhecer linguística computacional. Contexto, 2019 — sinopse oficial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46B63"/>
                </a:solidFill>
                <a:latin typeface="Consolas"/>
              </a:defRPr>
            </a:pPr>
            <a:r>
              <a:t>books.google.com — id=odtFEQAAQBAJ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B93A0"/>
                </a:solidFill>
                <a:latin typeface="Calibri"/>
              </a:defRPr>
            </a:pPr>
            <a:r>
              <a:t>Repare: interpretar e produzir texto e fala, corrigir digitação, sugerir expressão, dialogar, traduzir, classificar, buscar informação — sete aplicações de PLN numa frase só.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04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5953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430"/>
                </a:solidFill>
                <a:latin typeface="Georgia"/>
              </a:defRPr>
            </a:pPr>
            <a:r>
              <a:rPr dirty="0"/>
              <a:t>PLN 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fronteira</a:t>
            </a:r>
            <a:r>
              <a:rPr dirty="0"/>
              <a:t> de </a:t>
            </a:r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campos</a:t>
            </a:r>
            <a:endParaRPr dirty="0"/>
          </a:p>
        </p:txBody>
      </p:sp>
      <p:pic>
        <p:nvPicPr>
          <p:cNvPr id="5" name="Picture 4" descr="pln-tres-pila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274" y="977702"/>
            <a:ext cx="7359164" cy="56974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05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430"/>
                </a:solidFill>
                <a:latin typeface="Georgia"/>
              </a:defRPr>
            </a:pPr>
            <a:r>
              <a:t>O problema que o PLN resolve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800"/>
              </a:spcAft>
              <a:defRPr sz="1200" b="1" i="0">
                <a:solidFill>
                  <a:srgbClr val="146B63"/>
                </a:solidFill>
                <a:latin typeface="Consolas"/>
              </a:defRPr>
            </a:pPr>
            <a:r>
              <a:rPr sz="1600" dirty="0"/>
              <a:t>DADO ESTRUTURADO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5B6472"/>
                </a:solidFill>
                <a:latin typeface="Calibri"/>
              </a:defRPr>
            </a:pPr>
            <a:r>
              <a:rPr sz="1600" dirty="0" err="1"/>
              <a:t>Formato</a:t>
            </a:r>
            <a:r>
              <a:rPr sz="1600" dirty="0"/>
              <a:t> </a:t>
            </a:r>
            <a:r>
              <a:rPr sz="1600" dirty="0" err="1"/>
              <a:t>predefinido</a:t>
            </a:r>
            <a:r>
              <a:rPr sz="1600" dirty="0"/>
              <a:t> — </a:t>
            </a:r>
            <a:r>
              <a:rPr sz="1600" dirty="0" err="1"/>
              <a:t>linhas</a:t>
            </a:r>
            <a:r>
              <a:rPr sz="1600" dirty="0"/>
              <a:t> e </a:t>
            </a:r>
            <a:r>
              <a:rPr sz="1600" dirty="0" err="1"/>
              <a:t>colunas</a:t>
            </a:r>
            <a:r>
              <a:rPr sz="1600" dirty="0"/>
              <a:t> de </a:t>
            </a:r>
            <a:r>
              <a:rPr sz="1600" dirty="0" err="1"/>
              <a:t>uma</a:t>
            </a:r>
            <a:r>
              <a:rPr sz="1600" dirty="0"/>
              <a:t> </a:t>
            </a:r>
            <a:r>
              <a:rPr sz="1600" dirty="0" err="1"/>
              <a:t>tabela</a:t>
            </a:r>
            <a:r>
              <a:rPr sz="1600" dirty="0"/>
              <a:t>, </a:t>
            </a:r>
            <a:r>
              <a:rPr sz="1600" dirty="0" err="1"/>
              <a:t>campos</a:t>
            </a:r>
            <a:r>
              <a:rPr sz="1600" dirty="0"/>
              <a:t> com </a:t>
            </a:r>
            <a:r>
              <a:rPr sz="1600" dirty="0" err="1"/>
              <a:t>tipo</a:t>
            </a:r>
            <a:r>
              <a:rPr sz="1600" dirty="0"/>
              <a:t> e </a:t>
            </a:r>
            <a:r>
              <a:rPr sz="1600" dirty="0" err="1"/>
              <a:t>relação</a:t>
            </a:r>
            <a:r>
              <a:rPr sz="1600" dirty="0"/>
              <a:t> </a:t>
            </a:r>
            <a:r>
              <a:rPr sz="1600" dirty="0" err="1"/>
              <a:t>conhecidos</a:t>
            </a:r>
            <a:r>
              <a:rPr sz="1600" dirty="0"/>
              <a:t> de </a:t>
            </a:r>
            <a:r>
              <a:rPr sz="1600" dirty="0" err="1"/>
              <a:t>antemão</a:t>
            </a:r>
            <a:r>
              <a:rPr sz="16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800"/>
              </a:spcAft>
              <a:defRPr sz="1200" b="1" i="0">
                <a:solidFill>
                  <a:srgbClr val="146B63"/>
                </a:solidFill>
                <a:latin typeface="Consolas"/>
              </a:defRPr>
            </a:pPr>
            <a:r>
              <a:rPr sz="1600" dirty="0"/>
              <a:t>DADO NÃO ESTRUTURADO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5B6472"/>
                </a:solidFill>
                <a:latin typeface="Calibri"/>
              </a:defRPr>
            </a:pPr>
            <a:r>
              <a:rPr sz="1600" dirty="0" err="1"/>
              <a:t>Não</a:t>
            </a:r>
            <a:r>
              <a:rPr sz="1600" dirty="0"/>
              <a:t> segue </a:t>
            </a:r>
            <a:r>
              <a:rPr sz="1600" dirty="0" err="1"/>
              <a:t>esquema</a:t>
            </a:r>
            <a:r>
              <a:rPr sz="1600" dirty="0"/>
              <a:t> </a:t>
            </a:r>
            <a:r>
              <a:rPr sz="1600" dirty="0" err="1"/>
              <a:t>nenhum</a:t>
            </a:r>
            <a:r>
              <a:rPr sz="1600" dirty="0"/>
              <a:t> — um e-mail, um </a:t>
            </a:r>
            <a:r>
              <a:rPr sz="1600" dirty="0" err="1"/>
              <a:t>laudo</a:t>
            </a:r>
            <a:r>
              <a:rPr sz="1600" dirty="0"/>
              <a:t> </a:t>
            </a:r>
            <a:r>
              <a:rPr sz="1600" dirty="0" err="1"/>
              <a:t>médico</a:t>
            </a:r>
            <a:r>
              <a:rPr sz="1600" dirty="0"/>
              <a:t>, </a:t>
            </a:r>
            <a:r>
              <a:rPr sz="1600" dirty="0" err="1"/>
              <a:t>uma</a:t>
            </a:r>
            <a:r>
              <a:rPr sz="1600" dirty="0"/>
              <a:t> </a:t>
            </a:r>
            <a:r>
              <a:rPr sz="1600" dirty="0" err="1"/>
              <a:t>avaliação</a:t>
            </a:r>
            <a:r>
              <a:rPr sz="1600" dirty="0"/>
              <a:t>, um post. </a:t>
            </a:r>
            <a:r>
              <a:rPr sz="1600" dirty="0" err="1"/>
              <a:t>Significado</a:t>
            </a:r>
            <a:r>
              <a:rPr sz="1600" dirty="0"/>
              <a:t> </a:t>
            </a:r>
            <a:r>
              <a:rPr sz="1600" dirty="0" err="1"/>
              <a:t>exige</a:t>
            </a:r>
            <a:r>
              <a:rPr sz="1600" dirty="0"/>
              <a:t> </a:t>
            </a:r>
            <a:r>
              <a:rPr sz="1600" dirty="0" err="1"/>
              <a:t>interpretação</a:t>
            </a:r>
            <a:r>
              <a:rPr sz="16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3840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146B63"/>
                </a:solidFill>
                <a:latin typeface="Georgia"/>
              </a:defRPr>
            </a:pPr>
            <a:r>
              <a:t>80–90%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5120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6472"/>
                </a:solidFill>
                <a:latin typeface="Calibri"/>
              </a:defRPr>
            </a:pPr>
            <a:r>
              <a:rPr sz="1600" dirty="0"/>
              <a:t>de </a:t>
            </a:r>
            <a:r>
              <a:rPr sz="1600" dirty="0" err="1"/>
              <a:t>todos</a:t>
            </a:r>
            <a:r>
              <a:rPr sz="1600" dirty="0"/>
              <a:t> </a:t>
            </a:r>
            <a:r>
              <a:rPr sz="1600" dirty="0" err="1"/>
              <a:t>os</a:t>
            </a:r>
            <a:r>
              <a:rPr sz="1600" dirty="0"/>
              <a:t> dados </a:t>
            </a:r>
            <a:r>
              <a:rPr sz="1600" dirty="0" err="1"/>
              <a:t>produzidos</a:t>
            </a:r>
            <a:r>
              <a:rPr sz="1600" dirty="0"/>
              <a:t> no </a:t>
            </a:r>
            <a:r>
              <a:rPr sz="1600" dirty="0" err="1"/>
              <a:t>mundo</a:t>
            </a:r>
            <a:r>
              <a:rPr sz="1600" dirty="0"/>
              <a:t> </a:t>
            </a:r>
            <a:r>
              <a:rPr sz="1600" dirty="0" err="1"/>
              <a:t>são</a:t>
            </a:r>
            <a:r>
              <a:rPr sz="1600" dirty="0"/>
              <a:t> </a:t>
            </a:r>
            <a:r>
              <a:rPr sz="1600" dirty="0" err="1"/>
              <a:t>não</a:t>
            </a:r>
            <a:r>
              <a:rPr sz="1600" dirty="0"/>
              <a:t> </a:t>
            </a:r>
            <a:r>
              <a:rPr sz="1600" dirty="0" err="1"/>
              <a:t>estruturados</a:t>
            </a:r>
            <a:r>
              <a:rPr sz="1600" dirty="0"/>
              <a:t> — a </a:t>
            </a:r>
            <a:r>
              <a:rPr sz="1600" dirty="0" err="1"/>
              <a:t>maior</a:t>
            </a:r>
            <a:r>
              <a:rPr sz="1600" dirty="0"/>
              <a:t> parte, </a:t>
            </a:r>
            <a:r>
              <a:rPr sz="1600" dirty="0" err="1"/>
              <a:t>em</a:t>
            </a:r>
            <a:r>
              <a:rPr sz="1600" dirty="0"/>
              <a:t> forma de </a:t>
            </a:r>
            <a:r>
              <a:rPr sz="1600" dirty="0" err="1"/>
              <a:t>texto</a:t>
            </a:r>
            <a:r>
              <a:rPr sz="1600" dirty="0"/>
              <a:t> (CASELI; NUNES, 2023).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520440"/>
            <a:ext cx="4709160" cy="2468880"/>
          </a:xfrm>
          <a:prstGeom prst="roundRect">
            <a:avLst>
              <a:gd name="adj" fmla="val 6000"/>
            </a:avLst>
          </a:prstGeom>
          <a:solidFill>
            <a:srgbClr val="DCEEEA"/>
          </a:solidFill>
          <a:ln w="1524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l">
              <a:spcAft>
                <a:spcPts val="1000"/>
              </a:spcAft>
              <a:defRPr sz="1300" b="0" i="1">
                <a:solidFill>
                  <a:srgbClr val="1B2430"/>
                </a:solidFill>
                <a:latin typeface="Calibri"/>
              </a:defRPr>
            </a:pPr>
            <a:r>
              <a:rPr sz="1600" dirty="0"/>
              <a:t>Um hospital </a:t>
            </a:r>
            <a:r>
              <a:rPr sz="1600" dirty="0" err="1"/>
              <a:t>pode</a:t>
            </a:r>
            <a:r>
              <a:rPr sz="1600" dirty="0"/>
              <a:t> </a:t>
            </a:r>
            <a:r>
              <a:rPr sz="1600" dirty="0" err="1"/>
              <a:t>ter</a:t>
            </a:r>
            <a:r>
              <a:rPr sz="1600" dirty="0"/>
              <a:t> </a:t>
            </a:r>
            <a:r>
              <a:rPr sz="1600" dirty="0" err="1"/>
              <a:t>milhões</a:t>
            </a:r>
            <a:r>
              <a:rPr sz="1600" dirty="0"/>
              <a:t> de </a:t>
            </a:r>
            <a:r>
              <a:rPr sz="1600" dirty="0" err="1"/>
              <a:t>prontuários</a:t>
            </a:r>
            <a:r>
              <a:rPr sz="1600" dirty="0"/>
              <a:t> </a:t>
            </a:r>
            <a:r>
              <a:rPr sz="1600" dirty="0" err="1"/>
              <a:t>digitalizados</a:t>
            </a:r>
            <a:r>
              <a:rPr sz="1600" dirty="0"/>
              <a:t> — mas </a:t>
            </a:r>
            <a:r>
              <a:rPr sz="1600" dirty="0" err="1"/>
              <a:t>perguntas</a:t>
            </a:r>
            <a:r>
              <a:rPr sz="1600" dirty="0"/>
              <a:t> simples </a:t>
            </a:r>
            <a:r>
              <a:rPr sz="1600" dirty="0" err="1"/>
              <a:t>como</a:t>
            </a:r>
            <a:r>
              <a:rPr sz="1600" dirty="0"/>
              <a:t> “</a:t>
            </a:r>
            <a:r>
              <a:rPr sz="1600" dirty="0" err="1"/>
              <a:t>quantos</a:t>
            </a:r>
            <a:r>
              <a:rPr sz="1600" dirty="0"/>
              <a:t> </a:t>
            </a:r>
            <a:r>
              <a:rPr sz="1600" dirty="0" err="1"/>
              <a:t>pacientes</a:t>
            </a:r>
            <a:r>
              <a:rPr sz="1600" dirty="0"/>
              <a:t> com </a:t>
            </a:r>
            <a:r>
              <a:rPr sz="1600" dirty="0" err="1"/>
              <a:t>mais</a:t>
            </a:r>
            <a:r>
              <a:rPr sz="1600" dirty="0"/>
              <a:t> de 60 </a:t>
            </a:r>
            <a:r>
              <a:rPr sz="1600" dirty="0" err="1"/>
              <a:t>anos</a:t>
            </a:r>
            <a:r>
              <a:rPr sz="1600" dirty="0"/>
              <a:t> </a:t>
            </a:r>
            <a:r>
              <a:rPr sz="1600" dirty="0" err="1"/>
              <a:t>tiveram</a:t>
            </a:r>
            <a:r>
              <a:rPr sz="1600" dirty="0"/>
              <a:t> </a:t>
            </a:r>
            <a:r>
              <a:rPr sz="1600" dirty="0" err="1"/>
              <a:t>certo</a:t>
            </a:r>
            <a:r>
              <a:rPr sz="1600" dirty="0"/>
              <a:t> </a:t>
            </a:r>
            <a:r>
              <a:rPr sz="1600" dirty="0" err="1"/>
              <a:t>sintoma</a:t>
            </a:r>
            <a:r>
              <a:rPr sz="1600" dirty="0"/>
              <a:t> </a:t>
            </a:r>
            <a:r>
              <a:rPr sz="1600" dirty="0" err="1"/>
              <a:t>nos</a:t>
            </a:r>
            <a:r>
              <a:rPr sz="1600" dirty="0"/>
              <a:t> </a:t>
            </a:r>
            <a:r>
              <a:rPr sz="1600" dirty="0" err="1"/>
              <a:t>últimos</a:t>
            </a:r>
            <a:r>
              <a:rPr sz="1600" dirty="0"/>
              <a:t> 5 </a:t>
            </a:r>
            <a:r>
              <a:rPr sz="1600" dirty="0" err="1"/>
              <a:t>anos</a:t>
            </a:r>
            <a:r>
              <a:rPr sz="1600" dirty="0"/>
              <a:t>?” </a:t>
            </a:r>
            <a:r>
              <a:rPr sz="1600" dirty="0" err="1"/>
              <a:t>seguem</a:t>
            </a:r>
            <a:r>
              <a:rPr sz="1600" dirty="0"/>
              <a:t> </a:t>
            </a:r>
            <a:r>
              <a:rPr sz="1600" dirty="0" err="1"/>
              <a:t>sem</a:t>
            </a:r>
            <a:r>
              <a:rPr sz="1600" dirty="0"/>
              <a:t> </a:t>
            </a:r>
            <a:r>
              <a:rPr sz="1600" dirty="0" err="1"/>
              <a:t>resposta</a:t>
            </a:r>
            <a:r>
              <a:rPr sz="1600" dirty="0"/>
              <a:t> se </a:t>
            </a:r>
            <a:r>
              <a:rPr sz="1600" dirty="0" err="1"/>
              <a:t>ninguém</a:t>
            </a:r>
            <a:r>
              <a:rPr sz="1600" dirty="0"/>
              <a:t> </a:t>
            </a:r>
            <a:r>
              <a:rPr sz="1600" dirty="0" err="1"/>
              <a:t>processar</a:t>
            </a:r>
            <a:r>
              <a:rPr sz="1600" dirty="0"/>
              <a:t> o </a:t>
            </a:r>
            <a:r>
              <a:rPr sz="1600" dirty="0" err="1"/>
              <a:t>texto</a:t>
            </a:r>
            <a:r>
              <a:rPr sz="1600" dirty="0"/>
              <a:t>.</a:t>
            </a:r>
          </a:p>
          <a:p>
            <a:pPr algn="l">
              <a:spcAft>
                <a:spcPts val="200"/>
              </a:spcAft>
              <a:defRPr sz="1300" b="1" i="0">
                <a:solidFill>
                  <a:srgbClr val="146B63"/>
                </a:solidFill>
                <a:latin typeface="Calibri"/>
              </a:defRPr>
            </a:pPr>
            <a:r>
              <a:rPr sz="1600" dirty="0" err="1"/>
              <a:t>Sem</a:t>
            </a:r>
            <a:r>
              <a:rPr sz="1600" dirty="0"/>
              <a:t> PLN, </a:t>
            </a:r>
            <a:r>
              <a:rPr sz="1600" dirty="0" err="1"/>
              <a:t>esse</a:t>
            </a:r>
            <a:r>
              <a:rPr sz="1600" dirty="0"/>
              <a:t> volume de dados é </a:t>
            </a:r>
            <a:r>
              <a:rPr sz="1600" dirty="0" err="1"/>
              <a:t>computacionalmente</a:t>
            </a:r>
            <a:r>
              <a:rPr sz="1600" dirty="0"/>
              <a:t> </a:t>
            </a:r>
            <a:r>
              <a:rPr sz="1600" dirty="0" err="1"/>
              <a:t>invisível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06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430"/>
                </a:solidFill>
                <a:latin typeface="Georgia"/>
              </a:defRPr>
            </a:pPr>
            <a:r>
              <a:t>Por que isso é difícil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290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  <a:defRPr sz="1050" b="1" i="0">
                <a:solidFill>
                  <a:srgbClr val="146B63"/>
                </a:solidFill>
                <a:latin typeface="Consolas"/>
              </a:defRPr>
            </a:pPr>
            <a:r>
              <a:t>AMBIGUIDADE LEXICAL</a:t>
            </a:r>
          </a:p>
          <a:p>
            <a:pPr algn="l">
              <a:spcAft>
                <a:spcPts val="600"/>
              </a:spcAft>
              <a:defRPr sz="1700" b="0" i="1">
                <a:solidFill>
                  <a:srgbClr val="1B2430"/>
                </a:solidFill>
                <a:latin typeface="Georgia"/>
              </a:defRPr>
            </a:pPr>
            <a:r>
              <a:t>“manga”</a:t>
            </a:r>
          </a:p>
          <a:p>
            <a:pPr algn="l">
              <a:spcAft>
                <a:spcPts val="200"/>
              </a:spcAft>
              <a:defRPr sz="1250" b="0" i="0">
                <a:solidFill>
                  <a:srgbClr val="5B6472"/>
                </a:solidFill>
                <a:latin typeface="Calibri"/>
              </a:defRPr>
            </a:pPr>
            <a:r>
              <a:t>Fruta ou parte de uma roupa? Só o contexto resolve.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83080"/>
            <a:ext cx="34290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  <a:defRPr sz="1050" b="1" i="0">
                <a:solidFill>
                  <a:srgbClr val="146B63"/>
                </a:solidFill>
                <a:latin typeface="Consolas"/>
              </a:defRPr>
            </a:pPr>
            <a:r>
              <a:t>AMBIGUIDADE SINTÁTICA</a:t>
            </a:r>
          </a:p>
          <a:p>
            <a:pPr algn="l">
              <a:spcAft>
                <a:spcPts val="600"/>
              </a:spcAft>
              <a:defRPr sz="1700" b="0" i="1">
                <a:solidFill>
                  <a:srgbClr val="1B2430"/>
                </a:solidFill>
                <a:latin typeface="Georgia"/>
              </a:defRPr>
            </a:pPr>
            <a:r>
              <a:t>“vi o cachorro correndo”</a:t>
            </a:r>
          </a:p>
          <a:p>
            <a:pPr algn="l">
              <a:spcAft>
                <a:spcPts val="200"/>
              </a:spcAft>
              <a:defRPr sz="1250" b="0" i="0">
                <a:solidFill>
                  <a:srgbClr val="5B6472"/>
                </a:solidFill>
                <a:latin typeface="Calibri"/>
              </a:defRPr>
            </a:pPr>
            <a:r>
              <a:t>Quem estava correndo — eu ou o cachorro?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83080"/>
            <a:ext cx="34290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  <a:defRPr sz="1050" b="1" i="0">
                <a:solidFill>
                  <a:srgbClr val="146B63"/>
                </a:solidFill>
                <a:latin typeface="Consolas"/>
              </a:defRPr>
            </a:pPr>
            <a:r>
              <a:t>IRONIA</a:t>
            </a:r>
          </a:p>
          <a:p>
            <a:pPr algn="l">
              <a:spcAft>
                <a:spcPts val="600"/>
              </a:spcAft>
              <a:defRPr sz="1700" b="0" i="1">
                <a:solidFill>
                  <a:srgbClr val="1B2430"/>
                </a:solidFill>
                <a:latin typeface="Georgia"/>
              </a:defRPr>
            </a:pPr>
            <a:r>
              <a:t>“atendimento maravilhoso, esperei 2h”</a:t>
            </a:r>
          </a:p>
          <a:p>
            <a:pPr algn="l">
              <a:spcAft>
                <a:spcPts val="200"/>
              </a:spcAft>
              <a:defRPr sz="1250" b="0" i="0">
                <a:solidFill>
                  <a:srgbClr val="5B6472"/>
                </a:solidFill>
                <a:latin typeface="Calibri"/>
              </a:defRPr>
            </a:pPr>
            <a:r>
              <a:t>Sentimento oposto ao literal.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1740" y="3840480"/>
            <a:ext cx="34290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  <a:defRPr sz="1050" b="1" i="0">
                <a:solidFill>
                  <a:srgbClr val="146B63"/>
                </a:solidFill>
                <a:latin typeface="Consolas"/>
              </a:defRPr>
            </a:pPr>
            <a:r>
              <a:t>CONTEXTO E REFERÊNCIA</a:t>
            </a:r>
          </a:p>
          <a:p>
            <a:pPr algn="l">
              <a:spcAft>
                <a:spcPts val="600"/>
              </a:spcAft>
              <a:defRPr sz="1700" b="0" i="1">
                <a:solidFill>
                  <a:srgbClr val="1B2430"/>
                </a:solidFill>
                <a:latin typeface="Georgia"/>
              </a:defRPr>
            </a:pPr>
            <a:r>
              <a:t>“Maria chegou. Ela estava atrasada.”</a:t>
            </a:r>
          </a:p>
          <a:p>
            <a:pPr algn="l">
              <a:spcAft>
                <a:spcPts val="200"/>
              </a:spcAft>
              <a:defRPr sz="1250" b="0" i="0">
                <a:solidFill>
                  <a:srgbClr val="5B6472"/>
                </a:solidFill>
                <a:latin typeface="Calibri"/>
              </a:defRPr>
            </a:pPr>
            <a:r>
              <a:t>O computador precisa saber que “ela” é a Maria.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60" y="3840480"/>
            <a:ext cx="34290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  <a:defRPr sz="1050" b="1" i="0">
                <a:solidFill>
                  <a:srgbClr val="146B63"/>
                </a:solidFill>
                <a:latin typeface="Consolas"/>
              </a:defRPr>
            </a:pPr>
            <a:r>
              <a:t>VARIAÇÃO E INFORMALIDADE</a:t>
            </a:r>
          </a:p>
          <a:p>
            <a:pPr algn="l">
              <a:spcAft>
                <a:spcPts val="600"/>
              </a:spcAft>
              <a:defRPr sz="1700" b="0" i="1">
                <a:solidFill>
                  <a:srgbClr val="1B2430"/>
                </a:solidFill>
                <a:latin typeface="Georgia"/>
              </a:defRPr>
            </a:pPr>
            <a:r>
              <a:t>“vc tá bem?”</a:t>
            </a:r>
          </a:p>
          <a:p>
            <a:pPr algn="l">
              <a:spcAft>
                <a:spcPts val="200"/>
              </a:spcAft>
              <a:defRPr sz="1250" b="0" i="0">
                <a:solidFill>
                  <a:srgbClr val="5B6472"/>
                </a:solidFill>
                <a:latin typeface="Calibri"/>
              </a:defRPr>
            </a:pPr>
            <a:r>
              <a:t>Gírias regionais, erros de digitação propositais ou não.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07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430"/>
                </a:solidFill>
                <a:latin typeface="Georgia"/>
              </a:defRPr>
            </a:pPr>
            <a:r>
              <a:t>PLN não nasceu com o ChatGPT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3429000"/>
            <a:ext cx="8595360" cy="0"/>
          </a:xfrm>
          <a:prstGeom prst="line">
            <a:avLst/>
          </a:prstGeom>
          <a:ln w="31750">
            <a:solidFill>
              <a:srgbClr val="DED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14983" y="3346704"/>
            <a:ext cx="164592" cy="164592"/>
          </a:xfrm>
          <a:prstGeom prst="ellipse">
            <a:avLst/>
          </a:prstGeom>
          <a:solidFill>
            <a:srgbClr val="8B9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182879" y="28803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3A0"/>
                </a:solidFill>
                <a:latin typeface="Consolas"/>
              </a:defRPr>
            </a:pPr>
            <a:r>
              <a:rPr sz="1600"/>
              <a:t>até ~1990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" y="3611880"/>
            <a:ext cx="20116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2430"/>
                </a:solidFill>
                <a:latin typeface="Calibri"/>
              </a:defRPr>
            </a:pPr>
            <a:r>
              <a:t>Regras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" y="4160520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5B6472"/>
                </a:solidFill>
                <a:latin typeface="Consolas"/>
              </a:defRPr>
            </a:pPr>
            <a:r>
              <a:rPr sz="1400"/>
              <a:t>escritas à mão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" y="4434840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8B93A0"/>
                </a:solidFill>
                <a:latin typeface="Consolas"/>
              </a:defRPr>
            </a:pPr>
            <a:r>
              <a:rPr sz="1200" dirty="0" err="1"/>
              <a:t>não</a:t>
            </a:r>
            <a:r>
              <a:rPr sz="1200" dirty="0"/>
              <a:t> </a:t>
            </a:r>
            <a:r>
              <a:rPr sz="1200" dirty="0" err="1"/>
              <a:t>escala</a:t>
            </a:r>
            <a:endParaRPr sz="1200" dirty="0"/>
          </a:p>
        </p:txBody>
      </p:sp>
      <p:sp>
        <p:nvSpPr>
          <p:cNvPr id="11" name="Oval 10"/>
          <p:cNvSpPr/>
          <p:nvPr/>
        </p:nvSpPr>
        <p:spPr>
          <a:xfrm>
            <a:off x="3712464" y="3346704"/>
            <a:ext cx="164592" cy="164592"/>
          </a:xfrm>
          <a:prstGeom prst="ellipse">
            <a:avLst/>
          </a:prstGeom>
          <a:solidFill>
            <a:srgbClr val="8B9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2880360" y="28803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3A0"/>
                </a:solidFill>
                <a:latin typeface="Consolas"/>
              </a:defRPr>
            </a:pPr>
            <a:r>
              <a:rPr sz="1600"/>
              <a:t>~1990–2010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611880"/>
            <a:ext cx="20116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2430"/>
                </a:solidFill>
                <a:latin typeface="Calibri"/>
              </a:defRPr>
            </a:pPr>
            <a:r>
              <a:t>Estatística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160520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5B6472"/>
                </a:solidFill>
                <a:latin typeface="Consolas"/>
              </a:defRPr>
            </a:pPr>
            <a:r>
              <a:rPr sz="1400"/>
              <a:t>padrões em corpora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434840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8B93A0"/>
                </a:solidFill>
                <a:latin typeface="Consolas"/>
              </a:defRPr>
            </a:pPr>
            <a:r>
              <a:rPr sz="1200"/>
              <a:t>features manuais</a:t>
            </a:r>
          </a:p>
        </p:txBody>
      </p:sp>
      <p:sp>
        <p:nvSpPr>
          <p:cNvPr id="16" name="Oval 15"/>
          <p:cNvSpPr/>
          <p:nvPr/>
        </p:nvSpPr>
        <p:spPr>
          <a:xfrm>
            <a:off x="6409944" y="3346704"/>
            <a:ext cx="164592" cy="164592"/>
          </a:xfrm>
          <a:prstGeom prst="ellipse">
            <a:avLst/>
          </a:prstGeom>
          <a:solidFill>
            <a:srgbClr val="8B9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5577840" y="28803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3A0"/>
                </a:solidFill>
                <a:latin typeface="Consolas"/>
              </a:defRPr>
            </a:pPr>
            <a:r>
              <a:rPr sz="1600"/>
              <a:t>~2010–2018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611880"/>
            <a:ext cx="2926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2430"/>
                </a:solidFill>
                <a:latin typeface="Calibri"/>
              </a:defRPr>
            </a:pPr>
            <a:r>
              <a:rPr dirty="0" err="1" smtClean="0"/>
              <a:t>Aprendizagem</a:t>
            </a:r>
            <a:r>
              <a:rPr lang="pt-BR" dirty="0" smtClean="0"/>
              <a:t>  </a:t>
            </a:r>
            <a:r>
              <a:rPr lang="pt-BR" dirty="0"/>
              <a:t>P</a:t>
            </a:r>
            <a:r>
              <a:rPr dirty="0" err="1" smtClean="0"/>
              <a:t>rofunda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5486400" y="4160520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5B6472"/>
                </a:solidFill>
                <a:latin typeface="Consolas"/>
              </a:defRPr>
            </a:pPr>
            <a:r>
              <a:rPr sz="1400"/>
              <a:t>redes neurais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434840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8B93A0"/>
                </a:solidFill>
                <a:latin typeface="Consolas"/>
              </a:defRPr>
            </a:pPr>
            <a:r>
              <a:rPr sz="1200"/>
              <a:t>exige muito dado</a:t>
            </a:r>
          </a:p>
        </p:txBody>
      </p:sp>
      <p:sp>
        <p:nvSpPr>
          <p:cNvPr id="21" name="Oval 20"/>
          <p:cNvSpPr/>
          <p:nvPr/>
        </p:nvSpPr>
        <p:spPr>
          <a:xfrm>
            <a:off x="9592056" y="3328416"/>
            <a:ext cx="201168" cy="201168"/>
          </a:xfrm>
          <a:prstGeom prst="ellipse">
            <a:avLst/>
          </a:prstGeom>
          <a:noFill/>
          <a:ln w="381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8778240" y="28803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46B63"/>
                </a:solidFill>
                <a:latin typeface="Consolas"/>
              </a:defRPr>
            </a:pPr>
            <a:r>
              <a:rPr sz="1600"/>
              <a:t>2018–hoje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611880"/>
            <a:ext cx="20116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6B63"/>
                </a:solidFill>
                <a:latin typeface="Calibri"/>
              </a:defRPr>
            </a:pPr>
            <a:r>
              <a:t>GPT, BERT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160520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5B6472"/>
                </a:solidFill>
                <a:latin typeface="Consolas"/>
              </a:defRPr>
            </a:pPr>
            <a:r>
              <a:rPr sz="1400" dirty="0" err="1"/>
              <a:t>bilhões</a:t>
            </a:r>
            <a:r>
              <a:rPr sz="1400" dirty="0"/>
              <a:t> de </a:t>
            </a:r>
            <a:r>
              <a:rPr sz="1400" dirty="0" err="1"/>
              <a:t>palavras</a:t>
            </a:r>
            <a:endParaRPr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8915400" y="4434002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8B93A0"/>
                </a:solidFill>
                <a:latin typeface="Consolas"/>
              </a:defRPr>
            </a:pPr>
            <a:r>
              <a:rPr sz="1200" dirty="0" err="1"/>
              <a:t>caixa-preta</a:t>
            </a:r>
            <a:r>
              <a:rPr sz="1200" dirty="0"/>
              <a:t>, </a:t>
            </a:r>
            <a:r>
              <a:rPr sz="1200" dirty="0" err="1"/>
              <a:t>viés</a:t>
            </a:r>
            <a:endParaRPr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640080" y="50292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B93A0"/>
                </a:solidFill>
                <a:latin typeface="Calibri"/>
              </a:defRPr>
            </a:pPr>
            <a:r>
              <a:t>Neste curso passamos pela evolução na prática: regras → estatística (TF-IDF, embeddings) → aprendizagem de máquina aplicada a PLN.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40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3A0"/>
                </a:solidFill>
                <a:latin typeface="Consolas"/>
              </a:defRPr>
            </a:pPr>
            <a:r>
              <a:t>(FERREIRA; LOPES, 2019; HOBSON; COLE; HANNES, 2019)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08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430"/>
                </a:solidFill>
                <a:latin typeface="Georgia"/>
              </a:defRPr>
            </a:pPr>
            <a:r>
              <a:t>Isso já roda na sua busca</a:t>
            </a:r>
          </a:p>
        </p:txBody>
      </p:sp>
      <p:pic>
        <p:nvPicPr>
          <p:cNvPr id="5" name="Picture 4" descr="mock-bus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70174"/>
            <a:ext cx="6022730" cy="24090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210312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146B63"/>
                </a:solidFill>
                <a:latin typeface="Georgia"/>
              </a:defRPr>
            </a:pPr>
            <a:r>
              <a:t>1 em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3246120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5B6472"/>
                </a:solidFill>
                <a:latin typeface="Calibri"/>
              </a:defRPr>
            </a:pPr>
            <a:r>
              <a:rPr dirty="0" err="1"/>
              <a:t>buscas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inglês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EUA </a:t>
            </a:r>
            <a:r>
              <a:rPr dirty="0" err="1"/>
              <a:t>passaram</a:t>
            </a:r>
            <a:r>
              <a:rPr dirty="0"/>
              <a:t> a </a:t>
            </a:r>
            <a:r>
              <a:rPr dirty="0" err="1"/>
              <a:t>ser</a:t>
            </a:r>
            <a:r>
              <a:rPr dirty="0"/>
              <a:t> </a:t>
            </a:r>
            <a:r>
              <a:rPr dirty="0" err="1"/>
              <a:t>entendidas</a:t>
            </a:r>
            <a:r>
              <a:rPr dirty="0"/>
              <a:t> de outro </a:t>
            </a:r>
            <a:r>
              <a:rPr dirty="0" err="1"/>
              <a:t>jeito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o Google </a:t>
            </a:r>
            <a:r>
              <a:rPr dirty="0" err="1"/>
              <a:t>trocou</a:t>
            </a:r>
            <a:r>
              <a:rPr dirty="0"/>
              <a:t> para o BERT, </a:t>
            </a:r>
            <a:r>
              <a:rPr dirty="0" err="1"/>
              <a:t>em</a:t>
            </a:r>
            <a:r>
              <a:rPr dirty="0"/>
              <a:t> out/2019 — “o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salto</a:t>
            </a:r>
            <a:r>
              <a:rPr dirty="0"/>
              <a:t> dos </a:t>
            </a:r>
            <a:r>
              <a:rPr dirty="0" err="1"/>
              <a:t>últimos</a:t>
            </a:r>
            <a:r>
              <a:rPr dirty="0"/>
              <a:t> </a:t>
            </a:r>
            <a:r>
              <a:rPr dirty="0" err="1"/>
              <a:t>cinco</a:t>
            </a:r>
            <a:r>
              <a:rPr dirty="0"/>
              <a:t> </a:t>
            </a:r>
            <a:r>
              <a:rPr dirty="0" err="1"/>
              <a:t>anos</a:t>
            </a:r>
            <a:r>
              <a:rPr dirty="0"/>
              <a:t>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3A0"/>
                </a:solidFill>
                <a:latin typeface="Consolas"/>
              </a:defRPr>
            </a:pPr>
            <a:r>
              <a:rPr dirty="0" err="1"/>
              <a:t>fonte</a:t>
            </a:r>
            <a:r>
              <a:rPr dirty="0"/>
              <a:t>: </a:t>
            </a:r>
            <a:r>
              <a:rPr dirty="0" err="1"/>
              <a:t>blog.google</a:t>
            </a:r>
            <a:r>
              <a:rPr dirty="0"/>
              <a:t> — GOOGLE, 2019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09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430"/>
                </a:solidFill>
                <a:latin typeface="Georgia"/>
              </a:defRPr>
            </a:pPr>
            <a:r>
              <a:t>E na tradução automática</a:t>
            </a:r>
          </a:p>
        </p:txBody>
      </p:sp>
      <p:pic>
        <p:nvPicPr>
          <p:cNvPr id="5" name="Picture 4" descr="mock-trad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57" y="2008162"/>
            <a:ext cx="6286503" cy="25146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210312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146B63"/>
                </a:solidFill>
                <a:latin typeface="Georgia"/>
              </a:defRPr>
            </a:pPr>
            <a:r>
              <a:t>55–85%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3246120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5B6472"/>
                </a:solidFill>
                <a:latin typeface="Calibri"/>
              </a:defRPr>
            </a:pP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erros</a:t>
            </a:r>
            <a:r>
              <a:rPr dirty="0"/>
              <a:t> de </a:t>
            </a:r>
            <a:r>
              <a:rPr dirty="0" err="1"/>
              <a:t>tradução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vários</a:t>
            </a:r>
            <a:r>
              <a:rPr dirty="0"/>
              <a:t> pares de </a:t>
            </a:r>
            <a:r>
              <a:rPr dirty="0" err="1"/>
              <a:t>idiomas</a:t>
            </a:r>
            <a:r>
              <a:rPr dirty="0"/>
              <a:t>, </a:t>
            </a:r>
            <a:r>
              <a:rPr dirty="0" err="1"/>
              <a:t>medido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tradutores</a:t>
            </a:r>
            <a:r>
              <a:rPr dirty="0"/>
              <a:t> </a:t>
            </a:r>
            <a:r>
              <a:rPr dirty="0" err="1"/>
              <a:t>humanos</a:t>
            </a:r>
            <a:r>
              <a:rPr dirty="0"/>
              <a:t> </a:t>
            </a:r>
            <a:r>
              <a:rPr dirty="0" err="1"/>
              <a:t>comparando</a:t>
            </a:r>
            <a:r>
              <a:rPr dirty="0"/>
              <a:t> com o </a:t>
            </a:r>
            <a:r>
              <a:rPr dirty="0" err="1"/>
              <a:t>sistema</a:t>
            </a:r>
            <a:r>
              <a:rPr dirty="0"/>
              <a:t> neural (GNMT).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3A0"/>
                </a:solidFill>
                <a:latin typeface="Consolas"/>
              </a:defRPr>
            </a:pPr>
            <a:r>
              <a:t>fonte: research.google — GOOGLE RESEARCH, 2016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10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430"/>
                </a:solidFill>
                <a:latin typeface="Georgia"/>
              </a:defRPr>
            </a:pPr>
            <a:r>
              <a:t>E no atendimento, aqui no Brasil</a:t>
            </a:r>
          </a:p>
        </p:txBody>
      </p:sp>
      <p:pic>
        <p:nvPicPr>
          <p:cNvPr id="5" name="Picture 4" descr="mock-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548640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210312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146B63"/>
                </a:solidFill>
                <a:latin typeface="Georgia"/>
              </a:defRPr>
            </a:pPr>
            <a:r>
              <a:t>69%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32461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5B6472"/>
                </a:solidFill>
                <a:latin typeface="Calibri"/>
              </a:defRPr>
            </a:pPr>
            <a:r>
              <a:t>dos consumidores brasileiros preferem ser atendidos por chatbot quando a dúvida é simples e rápida.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3A0"/>
                </a:solidFill>
                <a:latin typeface="Consolas"/>
              </a:defRPr>
            </a:pPr>
            <a:r>
              <a:t>fonte: ecommercebrasil.com.br — E-COMMERCE BRASIL, 2024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11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430"/>
                </a:solidFill>
                <a:latin typeface="Georgia"/>
              </a:defRPr>
            </a:pPr>
            <a:r>
              <a:t>E ainda tem mais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5B6472"/>
                </a:solidFill>
                <a:latin typeface="Calibri"/>
              </a:defRPr>
            </a:pPr>
            <a:r>
              <a:t>Sem estatística de manchete, mas igual de presentes no seu dia a dia: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2044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500"/>
              </a:spcAft>
              <a:defRPr sz="1450" b="1" i="0">
                <a:solidFill>
                  <a:srgbClr val="1B2430"/>
                </a:solidFill>
                <a:latin typeface="Georgia"/>
              </a:defRPr>
            </a:pPr>
            <a:r>
              <a:t>Corretor ortográfico</a:t>
            </a:r>
          </a:p>
          <a:p>
            <a:pPr algn="l">
              <a:spcAft>
                <a:spcPts val="200"/>
              </a:spcAft>
              <a:defRPr sz="1150" b="0" i="0">
                <a:solidFill>
                  <a:srgbClr val="5B6472"/>
                </a:solidFill>
                <a:latin typeface="Calibri"/>
              </a:defRPr>
            </a:pPr>
            <a:r>
              <a:t>Sugestão de correção enquanto você digita, no celular ou no editor de texto.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286000"/>
            <a:ext cx="352044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500"/>
              </a:spcAft>
              <a:defRPr sz="1450" b="1" i="0">
                <a:solidFill>
                  <a:srgbClr val="1B2430"/>
                </a:solidFill>
                <a:latin typeface="Georgia"/>
              </a:defRPr>
            </a:pPr>
            <a:r>
              <a:t>Legendas automáticas</a:t>
            </a:r>
          </a:p>
          <a:p>
            <a:pPr algn="l">
              <a:spcAft>
                <a:spcPts val="200"/>
              </a:spcAft>
              <a:defRPr sz="1150" b="0" i="0">
                <a:solidFill>
                  <a:srgbClr val="5B6472"/>
                </a:solidFill>
                <a:latin typeface="Calibri"/>
              </a:defRPr>
            </a:pPr>
            <a:r>
              <a:t>Geradas em tempo real em vídeos, streams e transmissões.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2286000"/>
            <a:ext cx="352044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500"/>
              </a:spcAft>
              <a:defRPr sz="1450" b="1" i="0">
                <a:solidFill>
                  <a:srgbClr val="1B2430"/>
                </a:solidFill>
                <a:latin typeface="Georgia"/>
              </a:defRPr>
            </a:pPr>
            <a:r>
              <a:t>Moderação de conteúdo</a:t>
            </a:r>
          </a:p>
          <a:p>
            <a:pPr algn="l">
              <a:spcAft>
                <a:spcPts val="200"/>
              </a:spcAft>
              <a:defRPr sz="1150" b="0" i="0">
                <a:solidFill>
                  <a:srgbClr val="5B6472"/>
                </a:solidFill>
                <a:latin typeface="Calibri"/>
              </a:defRPr>
            </a:pPr>
            <a:r>
              <a:t>Detecção automática de discurso de ódio, spam e conteúdo impróprio.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14800"/>
            <a:ext cx="352044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500"/>
              </a:spcAft>
              <a:defRPr sz="1450" b="1" i="0">
                <a:solidFill>
                  <a:srgbClr val="1B2430"/>
                </a:solidFill>
                <a:latin typeface="Georgia"/>
              </a:defRPr>
            </a:pPr>
            <a:r>
              <a:t>Classificação de spam</a:t>
            </a:r>
          </a:p>
          <a:p>
            <a:pPr algn="l">
              <a:spcAft>
                <a:spcPts val="200"/>
              </a:spcAft>
              <a:defRPr sz="1150" b="0" i="0">
                <a:solidFill>
                  <a:srgbClr val="5B6472"/>
                </a:solidFill>
                <a:latin typeface="Calibri"/>
              </a:defRPr>
            </a:pPr>
            <a:r>
              <a:t>Separar e-mail relevante de spam, automaticamente.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114800"/>
            <a:ext cx="352044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500"/>
              </a:spcAft>
              <a:defRPr sz="1450" b="1" i="0">
                <a:solidFill>
                  <a:srgbClr val="1B2430"/>
                </a:solidFill>
                <a:latin typeface="Georgia"/>
              </a:defRPr>
            </a:pPr>
            <a:r>
              <a:t>Resumo automático</a:t>
            </a:r>
          </a:p>
          <a:p>
            <a:pPr algn="l">
              <a:spcAft>
                <a:spcPts val="200"/>
              </a:spcAft>
              <a:defRPr sz="1150" b="0" i="0">
                <a:solidFill>
                  <a:srgbClr val="5B6472"/>
                </a:solidFill>
                <a:latin typeface="Calibri"/>
              </a:defRPr>
            </a:pPr>
            <a:r>
              <a:t>Reduzir um texto longo às informações principais.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4114800"/>
            <a:ext cx="352044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500"/>
              </a:spcAft>
              <a:defRPr sz="1450" b="1" i="0">
                <a:solidFill>
                  <a:srgbClr val="1B2430"/>
                </a:solidFill>
                <a:latin typeface="Georgia"/>
              </a:defRPr>
            </a:pPr>
            <a:r>
              <a:t>Análise de sentimento</a:t>
            </a:r>
          </a:p>
          <a:p>
            <a:pPr algn="l">
              <a:spcAft>
                <a:spcPts val="200"/>
              </a:spcAft>
              <a:defRPr sz="1150" b="0" i="0">
                <a:solidFill>
                  <a:srgbClr val="5B6472"/>
                </a:solidFill>
                <a:latin typeface="Calibri"/>
              </a:defRPr>
            </a:pPr>
            <a:r>
              <a:t>Empresas monitorando o que falam delas nas redes sociais.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12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430"/>
                </a:solidFill>
                <a:latin typeface="Georgia"/>
              </a:defRPr>
            </a:pPr>
            <a:r>
              <a:t>O desafio extra do português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  <a:defRPr sz="1700" b="1" i="0">
                <a:solidFill>
                  <a:srgbClr val="1B2430"/>
                </a:solidFill>
                <a:latin typeface="Georgia"/>
              </a:defRPr>
            </a:pPr>
            <a:r>
              <a:t>Morfologia rica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5B6472"/>
                </a:solidFill>
                <a:latin typeface="Calibri"/>
              </a:defRPr>
            </a:pPr>
            <a:r>
              <a:t>“Falar” tem dezenas de formas — falo, falei, falará, falasse... bem mais que em inglês.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  <a:defRPr sz="1700" b="1" i="0">
                <a:solidFill>
                  <a:srgbClr val="1B2430"/>
                </a:solidFill>
                <a:latin typeface="Georgia"/>
              </a:defRPr>
            </a:pPr>
            <a:r>
              <a:t>Acentuação e cedilha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5B6472"/>
                </a:solidFill>
                <a:latin typeface="Calibri"/>
              </a:defRPr>
            </a:pPr>
            <a:r>
              <a:t>“Está” e “esta” são palavras diferentes; muita gente escreve sem acento no dia a 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  <a:defRPr sz="1700" b="1" i="0">
                <a:solidFill>
                  <a:srgbClr val="1B2430"/>
                </a:solidFill>
                <a:latin typeface="Georgia"/>
              </a:defRPr>
            </a:pPr>
            <a:r>
              <a:t>PT-BR vs. PT-PT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5B6472"/>
                </a:solidFill>
                <a:latin typeface="Calibri"/>
              </a:defRPr>
            </a:pPr>
            <a:r>
              <a:t>Vocabulário e gramática mudam: “você” vs. “tu”, “ônibus” vs. “autocarro”.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79476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  <a:defRPr sz="1700" b="1" i="0">
                <a:solidFill>
                  <a:srgbClr val="1B2430"/>
                </a:solidFill>
                <a:latin typeface="Georgia"/>
              </a:defRPr>
            </a:pPr>
            <a:r>
              <a:t>Menos dados prontos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5B6472"/>
                </a:solidFill>
                <a:latin typeface="Calibri"/>
              </a:defRPr>
            </a:pPr>
            <a:r>
              <a:t>A pesquisa nasce pensando em inglês primeiro — muitas vezes é preciso adaptar ou treinar do zero.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3A0"/>
                </a:solidFill>
                <a:latin typeface="Consolas"/>
              </a:defRPr>
            </a:pPr>
            <a:r>
              <a:t>(FERREIRA; LOPES, 2019)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13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B2430"/>
                </a:solidFill>
                <a:latin typeface="Georgia"/>
              </a:defRPr>
            </a:pPr>
            <a:r>
              <a:t>PLN não é igual para todas as línguas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46B63"/>
                </a:solidFill>
                <a:latin typeface="Georgia"/>
              </a:defRPr>
            </a:pPr>
            <a:r>
              <a:t>&gt;90%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B6472"/>
                </a:solidFill>
                <a:latin typeface="Calibri"/>
              </a:defRPr>
            </a:pPr>
            <a:r>
              <a:t>dos recursos de PLN (corpora, modelos, ferramentas) concentrados em menos de 20 línguas — só 7 têm recursos ricos o bastante para PLN de ponta (JOSHI et al., 2020).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4709160" cy="1783080"/>
          </a:xfrm>
          <a:prstGeom prst="roundRect">
            <a:avLst>
              <a:gd name="adj" fmla="val 6000"/>
            </a:avLst>
          </a:prstGeom>
          <a:solidFill>
            <a:srgbClr val="DCEEEA"/>
          </a:solidFill>
          <a:ln w="1524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l">
              <a:spcAft>
                <a:spcPts val="600"/>
              </a:spcAft>
              <a:defRPr sz="1150" b="1" i="0">
                <a:solidFill>
                  <a:srgbClr val="146B63"/>
                </a:solidFill>
                <a:latin typeface="Consolas"/>
              </a:defRPr>
            </a:pPr>
            <a:r>
              <a:t>PORTUGUÊS BRASILEIRO</a:t>
            </a:r>
          </a:p>
          <a:p>
            <a:pPr algn="l">
              <a:spcAft>
                <a:spcPts val="200"/>
              </a:spcAft>
              <a:defRPr sz="1250" b="0" i="0">
                <a:solidFill>
                  <a:srgbClr val="1B2430"/>
                </a:solidFill>
                <a:latin typeface="Calibri"/>
              </a:defRPr>
            </a:pPr>
            <a:r>
              <a:t>Posição relativamente confortável: BERTimbau (NEURALMIND-AI, 2020) e corpora como o Mac-Morpho. Mesmo assim, atrás do inglês nas mesmas tarefas.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77639"/>
            <a:ext cx="1024128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1168" rIns="274320" bIns="201168" rtlCol="0" anchor="t"/>
          <a:lstStyle/>
          <a:p>
            <a:pPr algn="l">
              <a:spcAft>
                <a:spcPts val="600"/>
              </a:spcAft>
              <a:defRPr sz="1150" b="1" i="0">
                <a:solidFill>
                  <a:srgbClr val="B4590E"/>
                </a:solidFill>
                <a:latin typeface="Consolas"/>
              </a:defRPr>
            </a:pPr>
            <a:r>
              <a:t>LÍNGUAS INDÍGENAS DO BRASIL</a:t>
            </a:r>
          </a:p>
          <a:p>
            <a:pPr algn="l">
              <a:spcAft>
                <a:spcPts val="200"/>
              </a:spcAft>
              <a:defRPr sz="1250" b="0" i="0">
                <a:solidFill>
                  <a:srgbClr val="5B6472"/>
                </a:solidFill>
                <a:latin typeface="Calibri"/>
              </a:defRPr>
            </a:pPr>
            <a:r>
              <a:t>295 línguas indígenas faladas por 391 etnias no Brasil hoje (IBGE, 2025) — praticamente ausentes dos dados usados para treinar os modelos que vamos usar. Não é exclusão deliberada: é que não existe dado digital suficiente nesses idiomas. As ferramentas com que trabalhamos carregam um viés de representação — isso também é usar PLN de forma responsável.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14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430"/>
                </a:solidFill>
                <a:latin typeface="Georgia"/>
              </a:defRPr>
            </a:pPr>
            <a:r>
              <a:t>A hierarquia da compreensão</a:t>
            </a:r>
          </a:p>
        </p:txBody>
      </p:sp>
      <p:pic>
        <p:nvPicPr>
          <p:cNvPr id="5" name="Picture 4" descr="pln-hierarquia-compreen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017" y="1262574"/>
            <a:ext cx="7842419" cy="53916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15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430"/>
                </a:solidFill>
                <a:latin typeface="Georgia"/>
              </a:defRPr>
            </a:pPr>
            <a:r>
              <a:t>O pipeline do curso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196596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B2430"/>
                </a:solidFill>
                <a:latin typeface="Calibri"/>
              </a:defRPr>
            </a:pPr>
            <a:r>
              <a:t>Processamento</a:t>
            </a:r>
          </a:p>
          <a:p>
            <a:pPr algn="ctr">
              <a:defRPr sz="1400" b="1">
                <a:solidFill>
                  <a:srgbClr val="1B2430"/>
                </a:solidFill>
                <a:latin typeface="Calibri"/>
              </a:defRPr>
            </a:pPr>
            <a:r>
              <a:t>de 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033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6B63"/>
                </a:solidFill>
                <a:latin typeface="Consolas"/>
              </a:defRPr>
            </a:pPr>
            <a:r>
              <a:t>sessões 3–4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87168" y="2903220"/>
            <a:ext cx="246888" cy="182880"/>
          </a:xfrm>
          <a:prstGeom prst="rightArrow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61487" y="2377440"/>
            <a:ext cx="196596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B2430"/>
                </a:solidFill>
                <a:latin typeface="Calibri"/>
              </a:defRPr>
            </a:pPr>
            <a:r>
              <a:t>Extração de</a:t>
            </a:r>
          </a:p>
          <a:p>
            <a:pPr algn="ctr">
              <a:defRPr sz="1400" b="1">
                <a:solidFill>
                  <a:srgbClr val="1B2430"/>
                </a:solidFill>
                <a:latin typeface="Calibri"/>
              </a:defRPr>
            </a:pPr>
            <a:r>
              <a:t>características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7" y="37033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6B63"/>
                </a:solidFill>
                <a:latin typeface="Consolas"/>
              </a:defRPr>
            </a:pPr>
            <a:r>
              <a:t>sessão 5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45735" y="2903220"/>
            <a:ext cx="246888" cy="182880"/>
          </a:xfrm>
          <a:prstGeom prst="rightArrow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0055" y="2377440"/>
            <a:ext cx="196596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B2430"/>
                </a:solidFill>
                <a:latin typeface="Calibri"/>
              </a:defRPr>
            </a:pPr>
            <a:r>
              <a:t>Sintaxe &amp;</a:t>
            </a:r>
          </a:p>
          <a:p>
            <a:pPr algn="ctr">
              <a:defRPr sz="1400" b="1">
                <a:solidFill>
                  <a:srgbClr val="1B2430"/>
                </a:solidFill>
                <a:latin typeface="Calibri"/>
              </a:defRPr>
            </a:pPr>
            <a:r>
              <a:t>semântica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0055" y="37033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6B63"/>
                </a:solidFill>
                <a:latin typeface="Consolas"/>
              </a:defRPr>
            </a:pPr>
            <a:r>
              <a:t>sessões 7–9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04303" y="2903220"/>
            <a:ext cx="246888" cy="182880"/>
          </a:xfrm>
          <a:prstGeom prst="rightArrow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278623" y="2377440"/>
            <a:ext cx="196596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B2430"/>
                </a:solidFill>
                <a:latin typeface="Calibri"/>
              </a:defRPr>
            </a:pPr>
            <a:r>
              <a:t>Conhecimento &amp;</a:t>
            </a:r>
          </a:p>
          <a:p>
            <a:pPr algn="ctr">
              <a:defRPr sz="1400" b="1">
                <a:solidFill>
                  <a:srgbClr val="1B2430"/>
                </a:solidFill>
                <a:latin typeface="Calibri"/>
              </a:defRPr>
            </a:pPr>
            <a:r>
              <a:t>sentimento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8623" y="37033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6B63"/>
                </a:solidFill>
                <a:latin typeface="Consolas"/>
              </a:defRPr>
            </a:pPr>
            <a:r>
              <a:t>sessões 10–13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62872" y="2903220"/>
            <a:ext cx="246888" cy="182880"/>
          </a:xfrm>
          <a:prstGeom prst="rightArrow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37192" y="2377440"/>
            <a:ext cx="1965960" cy="1234440"/>
          </a:xfrm>
          <a:prstGeom prst="roundRect">
            <a:avLst>
              <a:gd name="adj" fmla="val 9000"/>
            </a:avLst>
          </a:prstGeom>
          <a:solidFill>
            <a:srgbClr val="DCEEEA"/>
          </a:solidFill>
          <a:ln w="1778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6B63"/>
                </a:solidFill>
                <a:latin typeface="Calibri"/>
              </a:defRPr>
            </a:pPr>
            <a:r>
              <a:t>ML, voz &amp;</a:t>
            </a:r>
          </a:p>
          <a:p>
            <a:pPr algn="ctr">
              <a:defRPr sz="1400" b="1">
                <a:solidFill>
                  <a:srgbClr val="146B63"/>
                </a:solidFill>
                <a:latin typeface="Calibri"/>
              </a:defRPr>
            </a:pPr>
            <a:r>
              <a:t>chatbots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2" y="37033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6B63"/>
                </a:solidFill>
                <a:latin typeface="Consolas"/>
              </a:defRPr>
            </a:pPr>
            <a:r>
              <a:t>sessões 14–16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B93A0"/>
                </a:solidFill>
                <a:latin typeface="Calibri"/>
              </a:defRPr>
            </a:pPr>
            <a:r>
              <a:t>Praticamente toda aplicação de PLN segue este caminho — é a ordem exata das próximas sessões.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16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430"/>
                </a:solidFill>
                <a:latin typeface="Georgia"/>
              </a:defRPr>
            </a:pPr>
            <a:r>
              <a:t>Primeiros conceitos:</a:t>
            </a:r>
          </a:p>
          <a:p>
            <a:pPr>
              <a:defRPr sz="2800" b="1">
                <a:solidFill>
                  <a:srgbClr val="1B2430"/>
                </a:solidFill>
                <a:latin typeface="Georgia"/>
              </a:defRPr>
            </a:pPr>
            <a:r>
              <a:t>por onde a máquina começa</a:t>
            </a:r>
          </a:p>
        </p:txBody>
      </p:sp>
      <p:sp>
        <p:nvSpPr>
          <p:cNvPr id="5" name="Oval 4"/>
          <p:cNvSpPr/>
          <p:nvPr/>
        </p:nvSpPr>
        <p:spPr>
          <a:xfrm>
            <a:off x="822959" y="2587752"/>
            <a:ext cx="91440" cy="91440"/>
          </a:xfrm>
          <a:prstGeom prst="ellipse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98755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2430"/>
                </a:solidFill>
                <a:latin typeface="Georgia"/>
              </a:defRPr>
            </a:pPr>
            <a:r>
              <a:rPr sz="2000"/>
              <a:t>Tokenização</a:t>
            </a:r>
          </a:p>
          <a:p>
            <a:pPr>
              <a:defRPr sz="1400">
                <a:solidFill>
                  <a:srgbClr val="5B6472"/>
                </a:solidFill>
                <a:latin typeface="Calibri"/>
              </a:defRPr>
            </a:pPr>
            <a:r>
              <a:rPr sz="1600"/>
              <a:t>Quebrar um texto em pedaços menores — tokens (palavras, pontuação). Sem token, não tem o que contar ou analisar depois.</a:t>
            </a:r>
          </a:p>
        </p:txBody>
      </p:sp>
      <p:sp>
        <p:nvSpPr>
          <p:cNvPr id="7" name="Oval 6"/>
          <p:cNvSpPr/>
          <p:nvPr/>
        </p:nvSpPr>
        <p:spPr>
          <a:xfrm>
            <a:off x="822959" y="3547872"/>
            <a:ext cx="91440" cy="91440"/>
          </a:xfrm>
          <a:prstGeom prst="ellipse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383279"/>
            <a:ext cx="9875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2430"/>
                </a:solidFill>
                <a:latin typeface="Georgia"/>
              </a:defRPr>
            </a:pPr>
            <a:r>
              <a:rPr sz="2000"/>
              <a:t>Segmentação de sentenças</a:t>
            </a:r>
          </a:p>
          <a:p>
            <a:pPr>
              <a:defRPr sz="1400">
                <a:solidFill>
                  <a:srgbClr val="5B6472"/>
                </a:solidFill>
                <a:latin typeface="Calibri"/>
              </a:defRPr>
            </a:pPr>
            <a:r>
              <a:rPr sz="1600"/>
              <a:t>Quebrar um texto em frases. Abreviações, números e siglas fazem um separador ingênuo errar.</a:t>
            </a:r>
          </a:p>
        </p:txBody>
      </p:sp>
      <p:sp>
        <p:nvSpPr>
          <p:cNvPr id="9" name="Oval 8"/>
          <p:cNvSpPr/>
          <p:nvPr/>
        </p:nvSpPr>
        <p:spPr>
          <a:xfrm>
            <a:off x="822959" y="4507992"/>
            <a:ext cx="91440" cy="91440"/>
          </a:xfrm>
          <a:prstGeom prst="ellipse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343400"/>
            <a:ext cx="9875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2430"/>
                </a:solidFill>
                <a:latin typeface="Georgia"/>
              </a:defRPr>
            </a:pPr>
            <a:r>
              <a:rPr sz="2000"/>
              <a:t>Frequência de palavras</a:t>
            </a:r>
          </a:p>
          <a:p>
            <a:pPr>
              <a:defRPr sz="1400">
                <a:solidFill>
                  <a:srgbClr val="5B6472"/>
                </a:solidFill>
                <a:latin typeface="Calibri"/>
              </a:defRPr>
            </a:pPr>
            <a:r>
              <a:rPr sz="1600"/>
              <a:t>Contar quantas vezes cada token aparece — o jeito mais simples de enxergar do que um texto trata.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B93A0"/>
                </a:solidFill>
                <a:latin typeface="Calibri"/>
              </a:defRPr>
            </a:pPr>
            <a:r>
              <a:t>No notebook de hoje você aplica os três, sem se preocupar ainda em limpar o resultado — isso vira assunto oficial na sessão 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17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430"/>
                </a:solidFill>
                <a:latin typeface="Georgia"/>
              </a:defRPr>
            </a:pPr>
            <a:r>
              <a:t>Ferramentas e atividade da 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760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6B63"/>
                </a:solidFill>
                <a:latin typeface="Consolas"/>
              </a:defRPr>
            </a:pPr>
            <a:r>
              <a:rPr sz="1600"/>
              <a:t>NLTK</a:t>
            </a:r>
          </a:p>
          <a:p>
            <a:pPr>
              <a:defRPr sz="1250">
                <a:solidFill>
                  <a:srgbClr val="5B6472"/>
                </a:solidFill>
                <a:latin typeface="Calibri"/>
              </a:defRPr>
            </a:pPr>
            <a:r>
              <a:rPr sz="1400"/>
              <a:t>Biblioteca clássica de PLN em Python — tokenização, corpora, exercícios didáticos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62072"/>
            <a:ext cx="5760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6B63"/>
                </a:solidFill>
                <a:latin typeface="Consolas"/>
              </a:defRPr>
            </a:pPr>
            <a:r>
              <a:rPr sz="1600"/>
              <a:t>spaCy</a:t>
            </a:r>
          </a:p>
          <a:p>
            <a:pPr>
              <a:defRPr sz="1250">
                <a:solidFill>
                  <a:srgbClr val="5B6472"/>
                </a:solidFill>
                <a:latin typeface="Calibri"/>
              </a:defRPr>
            </a:pPr>
            <a:r>
              <a:rPr sz="1400"/>
              <a:t>PLN em produção — mais rápida, com modelo pronto para português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58183"/>
            <a:ext cx="5760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6B63"/>
                </a:solidFill>
                <a:latin typeface="Consolas"/>
              </a:defRPr>
            </a:pPr>
            <a:r>
              <a:rPr sz="1600"/>
              <a:t>scikit-learn</a:t>
            </a:r>
          </a:p>
          <a:p>
            <a:pPr>
              <a:defRPr sz="1250">
                <a:solidFill>
                  <a:srgbClr val="5B6472"/>
                </a:solidFill>
                <a:latin typeface="Calibri"/>
              </a:defRPr>
            </a:pPr>
            <a:r>
              <a:rPr sz="1400"/>
              <a:t>Extração de características (TF-IDF) e modelos clássicos de aprendizagem de máquina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54296"/>
            <a:ext cx="5760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6B63"/>
                </a:solidFill>
                <a:latin typeface="Consolas"/>
              </a:defRPr>
            </a:pPr>
            <a:r>
              <a:rPr sz="1600"/>
              <a:t>pandas</a:t>
            </a:r>
          </a:p>
          <a:p>
            <a:pPr>
              <a:defRPr sz="1250">
                <a:solidFill>
                  <a:srgbClr val="5B6472"/>
                </a:solidFill>
                <a:latin typeface="Calibri"/>
              </a:defRPr>
            </a:pPr>
            <a:r>
              <a:rPr sz="1400"/>
              <a:t>Organizar e explorar os dados de texto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828800"/>
            <a:ext cx="4800600" cy="3931920"/>
          </a:xfrm>
          <a:prstGeom prst="roundRect">
            <a:avLst>
              <a:gd name="adj" fmla="val 6000"/>
            </a:avLst>
          </a:prstGeom>
          <a:solidFill>
            <a:srgbClr val="DCEEEA"/>
          </a:solidFill>
          <a:ln w="1778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spcAft>
                <a:spcPts val="1200"/>
              </a:spcAft>
              <a:defRPr sz="1200" b="1" i="0">
                <a:solidFill>
                  <a:srgbClr val="146B63"/>
                </a:solidFill>
                <a:latin typeface="Consolas"/>
              </a:defRPr>
            </a:pPr>
            <a:r>
              <a:rPr sz="1400"/>
              <a:t>ATIVIDADE DA SEMANA</a:t>
            </a:r>
          </a:p>
          <a:p>
            <a:pPr algn="l">
              <a:spcAft>
                <a:spcPts val="1000"/>
              </a:spcAft>
              <a:defRPr sz="1500" b="1" i="0">
                <a:solidFill>
                  <a:srgbClr val="1B2430"/>
                </a:solidFill>
                <a:latin typeface="Consolas"/>
              </a:defRPr>
            </a:pPr>
            <a:r>
              <a:rPr sz="1600"/>
              <a:t>introducao_pln.ipynb</a:t>
            </a:r>
          </a:p>
          <a:p>
            <a:pPr algn="l">
              <a:spcAft>
                <a:spcPts val="1000"/>
              </a:spcAft>
              <a:defRPr sz="1350" b="0" i="0">
                <a:solidFill>
                  <a:srgbClr val="1B2430"/>
                </a:solidFill>
                <a:latin typeface="Calibri"/>
              </a:defRPr>
            </a:pPr>
            <a:r>
              <a:rPr sz="1400"/>
              <a:t>Instala as bibliotecas, tokeniza seu primeiro texto em português e responde duas perguntas curtas de reflexão.</a:t>
            </a:r>
          </a:p>
          <a:p>
            <a:pPr algn="l">
              <a:spcAft>
                <a:spcPts val="200"/>
              </a:spcAft>
              <a:defRPr sz="1250" b="0" i="1">
                <a:solidFill>
                  <a:srgbClr val="5B6472"/>
                </a:solidFill>
                <a:latin typeface="Calibri"/>
              </a:defRPr>
            </a:pPr>
            <a:r>
              <a:rPr sz="1400"/>
              <a:t>Leva menos de uma hora — é só o primeiro contato, o aprofundamento vem na sessão 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02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18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430"/>
                </a:solidFill>
                <a:latin typeface="Georgia"/>
              </a:defRPr>
            </a:pPr>
            <a:r>
              <a:t>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93A0"/>
                </a:solidFill>
                <a:latin typeface="Consolas"/>
              </a:defRPr>
            </a:pPr>
            <a:r>
              <a:t>BIBLIOGRAFIA DA DISCIPLINA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B6472"/>
                </a:solidFill>
                <a:latin typeface="Calibri"/>
              </a:defRPr>
            </a:pPr>
            <a:r>
              <a:t>FERREIRA, M.; LOPES, M. Para conhecer linguística computacional. São Paulo: Contexto, 2019.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B6472"/>
                </a:solidFill>
                <a:latin typeface="Calibri"/>
              </a:defRPr>
            </a:pPr>
            <a:r>
              <a:t>HOBSON, L.; COLE, H.; HANNES, H. Natural Language Processing in Action. Manning, 2019.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B6472"/>
                </a:solidFill>
                <a:latin typeface="Calibri"/>
              </a:defRPr>
            </a:pPr>
            <a:r>
              <a:t>CASELI, H. M.; NUNES, M. G. V. (org.). Processamento de Linguagem Natural: conceitos, técnicas e aplicações em português. BPLN, 2023.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93A0"/>
                </a:solidFill>
                <a:latin typeface="Consolas"/>
              </a:defRPr>
            </a:pPr>
            <a:r>
              <a:t>FONTES CITADAS NESTA SESSÃO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5394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B6472"/>
                </a:solidFill>
                <a:latin typeface="Calibri"/>
              </a:defRPr>
            </a:pPr>
            <a:r>
              <a:t>FERREIRA; LOPES. Sinopse oficial do livro-texto — books.google.com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16352"/>
            <a:ext cx="5394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B6472"/>
                </a:solidFill>
                <a:latin typeface="Calibri"/>
              </a:defRPr>
            </a:pPr>
            <a:r>
              <a:t>GOOGLE. Understanding searches better than ever before, 2019 — blog.google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438144"/>
            <a:ext cx="5394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B6472"/>
                </a:solidFill>
                <a:latin typeface="Calibri"/>
              </a:defRPr>
            </a:pPr>
            <a:r>
              <a:t>GOOGLE RESEARCH. A Neural Network for Machine Translation, 2016 — research.google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059936"/>
            <a:ext cx="5394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B6472"/>
                </a:solidFill>
                <a:latin typeface="Calibri"/>
              </a:defRPr>
            </a:pPr>
            <a:r>
              <a:t>E-COMMERCE BRASIL. 69% preferem ser atendidos por chatbots, 2024 — ecommercebrasil.com.br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681728"/>
            <a:ext cx="5394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B6472"/>
                </a:solidFill>
                <a:latin typeface="Calibri"/>
              </a:defRPr>
            </a:pPr>
            <a:r>
              <a:t>JOSHI et al. The State and Fate of Linguistic Diversity in the NLP World, 2020 — aclanthology.org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303520"/>
            <a:ext cx="5394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B6472"/>
                </a:solidFill>
                <a:latin typeface="Calibri"/>
              </a:defRPr>
            </a:pPr>
            <a:r>
              <a:t>NEURALMIND-AI. BERTimbau, 2020 — huggingface.co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925312"/>
            <a:ext cx="5394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B6472"/>
                </a:solidFill>
                <a:latin typeface="Calibri"/>
              </a:defRPr>
            </a:pPr>
            <a:r>
              <a:t>IBGE. Censo Demográfico 2022 — línguas indígenas, 2025 — agenciabrasil.ebc.com.br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1593</Words>
  <Application>Microsoft Office PowerPoint</Application>
  <PresentationFormat>Widescreen</PresentationFormat>
  <Paragraphs>204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Cíntia Maria de Araújo Pinho</cp:lastModifiedBy>
  <cp:revision>2</cp:revision>
  <dcterms:created xsi:type="dcterms:W3CDTF">2013-01-27T09:14:16Z</dcterms:created>
  <dcterms:modified xsi:type="dcterms:W3CDTF">2026-08-21T23:38:03Z</dcterms:modified>
  <cp:category/>
</cp:coreProperties>
</file>