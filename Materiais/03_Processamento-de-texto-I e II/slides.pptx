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B2430"/>
                </a:solidFill>
                <a:latin typeface="Georgia"/>
              </a:rPr>
              <a:t>Processamento de texto</a:t>
            </a:r>
          </a:p>
          <a:p>
            <a:pPr algn="l"/>
            <a:r>
              <a:rPr sz="4400" b="1" i="0">
                <a:solidFill>
                  <a:srgbClr val="1B2430"/>
                </a:solidFill>
                <a:latin typeface="Georgia"/>
              </a:rPr>
              <a:t>— Parte I 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5B6472"/>
                </a:solidFill>
                <a:latin typeface="Calibri"/>
              </a:rPr>
              <a:t>Da tokenização a fundo até reduzir “estudar”, “estudando” e “estudei” a uma forma só — em duas bibliotecas, para aprender a diferença entre elas.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502920" cy="73152"/>
          </a:xfrm>
          <a:prstGeom prst="roundRect">
            <a:avLst>
              <a:gd name="adj" fmla="val 12000"/>
            </a:avLst>
          </a:prstGeom>
          <a:solidFill>
            <a:srgbClr val="146B63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6B6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De onde viemos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2"/>
                </a:solidFill>
                <a:latin typeface="Calibri"/>
              </a:rPr>
              <a:t>Na sessão passada, tokenizamos um texto, separamos sentenças e contamos frequência de palavras — e sobraram dois problemas em aberto: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5029200" cy="13716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PONTUAÇÃO MISTURADA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vírgula e ponto contando como se fossem palavra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880360"/>
            <a:ext cx="5029200" cy="13716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PALAVRAS VAZIAS NO TOPO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“o”, “e”, “a” dominando a lista sem dizer nada do assunto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472"/>
                </a:solidFill>
                <a:latin typeface="Calibri"/>
              </a:rPr>
              <a:t>Hoje resolvemos os dois, damos um passo além na tokenização, e ainda vemos como reduzir variações de uma mesma palavra a uma forma só.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Tokenização, mais a 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Tokenizar parece simples até você esbarrar nos casos difíceis. Alguns que aparecem o tempo todo em português: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534924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CONTRAÇÕES E JUNÇÕES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“dela”, “no”, “pelo” já nascem grudados — separar errado muda o sentido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697480"/>
            <a:ext cx="534924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PALAVRAS COMPOSTAS COM HÍFEN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“guarda-chuva”, “self-service”: um token ou dois?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534924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URLs, E-MAILS, @MENÇÕES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word_tokenize pode espalhar “usuario@email.com” em pedaços sem sentido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526280"/>
            <a:ext cx="534924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NÚMEROS E UNIDADES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“R$ 29,90” ou “3,5kg”: separar o número do símbolo, ou não?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Por baixo do capô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000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B2430"/>
                </a:solidFill>
                <a:latin typeface="Calibri"/>
              </a:rPr>
              <a:t>Nenhum tokenizador “entende” português — todos resolvem esses casos com um catálogo de regras e exceções escritas à mão, não com compreensão da língua.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50000"/>
            <a:ext cx="10515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5B6472"/>
                </a:solidFill>
                <a:latin typeface="Calibri"/>
              </a:rPr>
              <a:t>O word_tokenize do NLTK segue as convenções do Penn Treebank (regras fixas de separação). O spaCy combina regra com uma lista de exceções própria de cada idioma — por isso o pt_core_news_sm costuma lidar melhor com contrações do português.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5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1B2430"/>
                </a:solidFill>
                <a:latin typeface="Calibri"/>
              </a:rPr>
              <a:t>O que muda de uma biblioteca pra outra é o tamanho e a qualidade desse catálogo de exceções — não alguma inteligência a 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200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93A0"/>
                </a:solidFill>
                <a:latin typeface="Consolas"/>
              </a:rPr>
              <a:t>(HOBSON; COLE; HANNES, 2019)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Normalização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Normalizar é reduzir variações que não importam para a tarefa, para que o computador trate coisas equivalentes como iguais: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0000"/>
            <a:ext cx="3200400" cy="48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46B63"/>
                </a:solidFill>
                <a:latin typeface="Calibri"/>
              </a:rPr>
              <a:t>CAIXA BAIXA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650000"/>
            <a:ext cx="6852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“Casa” e “casa” viram o mesmo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70000"/>
            <a:ext cx="3200400" cy="48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46B63"/>
                </a:solidFill>
                <a:latin typeface="Calibri"/>
              </a:rPr>
              <a:t>ACENTUAÇÃO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270000"/>
            <a:ext cx="6852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manter ou tirar — depende do texto do usuário, é uma escolha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90000"/>
            <a:ext cx="3200400" cy="48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46B63"/>
                </a:solidFill>
                <a:latin typeface="Calibri"/>
              </a:rPr>
              <a:t>ESPAÇOS E CARACTERES INVISÍVEIS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890000"/>
            <a:ext cx="6852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texto da web vem cheio de espaço duplo e quebra de linha solta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1B2430"/>
                </a:solidFill>
                <a:latin typeface="Calibri"/>
              </a:rPr>
              <a:t>Regra prática: normalize o suficiente para o problema, sem apagar informação que a tarefa precisa.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200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93A0"/>
                </a:solidFill>
                <a:latin typeface="Consolas"/>
              </a:rPr>
              <a:t>(VAJJATA; MAJUMDER; GUPTA; SURANA, 2020)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06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Expressões regulares (regex)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Uma linguagem para descrever padrões de texto — a ferramenta por trás da maior parte da limpeza de texto no dia a dia de PLN.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800000"/>
          <a:ext cx="105156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4200000"/>
                <a:gridCol w="3915600"/>
              </a:tblGrid>
              <a:tr h="45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Padrão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Significa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Exemplo que casa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\d+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um ou mais dígitos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29, 1990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\w+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letras/números/underline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casa, python3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[^\w\s]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não é letra, número nem espaço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!  ,  @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\s+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um ou mais espaços/quebras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espaço duplo, tab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http\S+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uma URL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https://site.com/pagina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Regex, na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Os cinco padrões do slide anterior, todos aplicados na mesma frase, com re.findall():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0000"/>
            <a:ext cx="1051560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import re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texto = "Comprei o produto por R$ 29,90 em https://loja.com, adorei!!"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re.findall(r'\d+', texto)        # -&gt; ['29', '90']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re.findall(r'\w+', texto)        # -&gt; ['Comprei', 'o', 'produto', ..., '29', '90', ...]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re.findall(r'[^\w\s]', texto)    # -&gt; ['$', ',', ':', '/', '/', '.', ',', '!', '!']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re.findall(r'\s+', texto)        # -&gt; 8 espaços encontrados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re.findall(r'http\S+', texto)    # -&gt; ['https://loja.com,']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5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2"/>
                </a:solidFill>
                <a:latin typeface="Calibri"/>
              </a:rPr>
              <a:t>Repare no último: http\S+ pegou a vírgula junto com a URL — \S+ não sabe onde a URL termina, só que não tem espaço. Regex não substitui a tokenização — entra para limpar antes de tokenizar e para filtrar tokens depois.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Funções para detectar padrões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2"/>
                </a:solidFill>
                <a:latin typeface="Calibri"/>
              </a:rPr>
              <a:t>Combinando slicing/.endswith() com regex, dá pra escrever pequenos “detectores” de características do português.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0000"/>
            <a:ext cx="10515600" cy="11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500" b="0">
                <a:solidFill>
                  <a:srgbClr val="1B2430"/>
                </a:solidFill>
                <a:latin typeface="Consolas"/>
              </a:rPr>
              <a:t>def nome_da_funcao(parametro):</a:t>
            </a:r>
          </a:p>
          <a:p>
            <a:pPr algn="l"/>
            <a:r>
              <a:rPr sz="1500" b="0">
                <a:solidFill>
                  <a:srgbClr val="1B2430"/>
                </a:solidFill>
                <a:latin typeface="Consolas"/>
              </a:rPr>
              <a:t>    resultado = ...  # o que a função faz</a:t>
            </a:r>
          </a:p>
          <a:p>
            <a:pPr algn="l"/>
            <a:r>
              <a:rPr sz="1500" b="0">
                <a:solidFill>
                  <a:srgbClr val="1B2430"/>
                </a:solidFill>
                <a:latin typeface="Consolas"/>
              </a:rPr>
              <a:t>    return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00000"/>
            <a:ext cx="10515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B2430"/>
                </a:solidFill>
                <a:latin typeface="Calibri"/>
              </a:rPr>
              <a:t>Nenhuma é perfeita — regra simples cobre o caso comum e quebra no caso raro. É exatamente por isso que, mais pra frente no curso, trocamos regra escrita à mão por estatística e aprendizagem de máquina.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09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Cinco detectores — e onde cada um quebra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PLURAL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“gatos” -&gt; True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quebra: “lápis”, “ônibus”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7373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ECEBFB"/>
          </a:solidFill>
          <a:ln w="12700">
            <a:solidFill>
              <a:srgbClr val="5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DIMINUTIVO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“cachorrinho” -&gt; True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nem todo -inho é tamanho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7373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INFINITIVO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“estudar” -&gt; True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quebra: “lugar”, “mulher”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ECEBFB"/>
          </a:solidFill>
          <a:ln w="12700">
            <a:solidFill>
              <a:srgbClr val="5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VOZ PASSIVA (regex)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“foi enviada” / “vende-se” -&gt; True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quebra: “entregue” (irregular), “casou-se” (reflexivo)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52044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LINGUAGEM INADEQUADA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lista de palavras proibidas</a:t>
            </a:r>
          </a:p>
          <a:p>
            <a:pPr algn="l"/>
            <a:r>
              <a:rPr sz="1200" b="1">
                <a:solidFill>
                  <a:srgbClr val="1B2430"/>
                </a:solidFill>
                <a:latin typeface="Calibri"/>
              </a:rPr>
              <a:t>quebra: “burro” pode ser bicho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5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B6472"/>
                </a:solidFill>
                <a:latin typeface="Calibri"/>
              </a:rPr>
              <a:t>Vocês vão testar — e quebrar de propósito — as cinco no notebook de hoje, e ver um caso real (dataset HateBR) de por que isso importa de verdade.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NLTK vs spaCy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A partir de hoje entra o spaCy também — vale entender por que existem os dois: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50000"/>
          <a:ext cx="105156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4200000"/>
                <a:gridCol w="4115600"/>
              </a:tblGrid>
              <a:tr h="51666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NLTK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spaCy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Filosofia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Didático, expõe os algoritmos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Pronto para produção, direto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Velocidade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Mais lento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Otimizado, mais rápido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Modelo PT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Regras genéricas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pt_core_news_sm treinado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Em servidor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Baixa dado em runtime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Modelo já empacotado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51667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Quando usar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Aprender, prototipar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Projetos reais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Um motivo bem prático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B2430"/>
                </a:solidFill>
                <a:latin typeface="Calibri"/>
              </a:rPr>
              <a:t>Em servidor, o nltk.download() costuma dar mais trabalho do que parece no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0000"/>
            <a:ext cx="3390000" cy="14000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SEM INTERNET LIBERADA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o download acontece em tempo de execução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2720" y="3100000"/>
            <a:ext cx="3390000" cy="14000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PASTA SEM PERMISSÃO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nltk_data tenta salvar num caminho padrão do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65360" y="3100000"/>
            <a:ext cx="3490320" cy="14000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CERTIFICADO SSL BLOQUEADO</a:t>
            </a:r>
          </a:p>
          <a:p>
            <a:pPr algn="l"/>
            <a:r>
              <a:rPr sz="1300" b="1">
                <a:solidFill>
                  <a:srgbClr val="1B2430"/>
                </a:solidFill>
                <a:latin typeface="Calibri"/>
              </a:rPr>
              <a:t>erro comum em ambientes corporativos/cloud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146B63"/>
                </a:solidFill>
                <a:latin typeface="Calibri"/>
              </a:rPr>
              <a:t>O spaCy evita boa parte disso: o modelo entra como um pacote normal, instalado junto com o resto do projeto — sem download separado ao rodar.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Stopwords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2"/>
                </a:solidFill>
                <a:latin typeface="Calibri"/>
              </a:rPr>
              <a:t>Palavras que aparecem em praticamente qualquer texto e, sozinhas, dizem pouco sobre o assunto dele — artigos, preposições, alguns pronomes e conjunções.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5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O NLTK já vem com uma lista pronta para português — não precisa escrever a sua.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50000"/>
            <a:ext cx="10515600" cy="155448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CUIDADO IMPORTANTE</a:t>
            </a:r>
          </a:p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“não gostei” sem o “não” vira “gostei” — o sentimento inverte. Remover stopword nem sempre é a decisão certa; depende da tarefa que vem depois.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200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93A0"/>
                </a:solidFill>
                <a:latin typeface="Consolas"/>
              </a:rPr>
              <a:t>(HOBSON; COLE; HANNES, 2019)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Juntando tudo: um pipeline de limpeza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2"/>
                </a:solidFill>
                <a:latin typeface="Calibri"/>
              </a:rPr>
              <a:t>Uma sequência comum, que você vai usar (com variações) no resto do curso: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0000"/>
            <a:ext cx="10515600" cy="62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B2430"/>
                </a:solidFill>
                <a:latin typeface="Calibri"/>
              </a:rPr>
              <a:t>1. Normalizar (caixa baixa, espaços)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00000"/>
            <a:ext cx="10515600" cy="62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B2430"/>
                </a:solidFill>
                <a:latin typeface="Calibri"/>
              </a:rPr>
              <a:t>2. Tokenizar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50000"/>
            <a:ext cx="10515600" cy="62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B2430"/>
                </a:solidFill>
                <a:latin typeface="Calibri"/>
              </a:rPr>
              <a:t>3. Filtrar pontuação (regex ou .isalpha())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00000"/>
            <a:ext cx="10515600" cy="62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B2430"/>
                </a:solidFill>
                <a:latin typeface="Calibri"/>
              </a:rPr>
              <a:t>4. Decidir se remove stopwords — e por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430"/>
                </a:solidFill>
                <a:latin typeface="Calibri"/>
              </a:rPr>
              <a:t>Cada etapa é uma decisão, não um passo automático.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Pipeline de limpeza — com NLTK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00000"/>
            <a:ext cx="1051560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comentario = "GENTE  o app caiu de novo!!! confere aqui https://status.exemplo.com.br  que raiva"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comentario.lower().strip()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re.sub(r"\s+", " ", texto)      # 1. normalizar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re.sub(r"http\S+", "", texto)   # 2. regex sobre o texto corrido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tokens = word_tokenize(texto, language='portuguese')          # 3. tokenizar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stop_pt = set(stopwords.words('portuguese'))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tokens_limpos = [t for t in tokens if t.isalpha() and t not in stop_pt]  # 4. filtrar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print(tokens_limpos)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0000"/>
            <a:ext cx="10515600" cy="520000"/>
          </a:xfrm>
          <a:prstGeom prst="roundRect">
            <a:avLst>
              <a:gd name="adj" fmla="val 6000"/>
            </a:avLst>
          </a:prstGeom>
          <a:solidFill>
            <a:srgbClr val="EEEEEC"/>
          </a:solidFill>
          <a:ln w="9525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 bIns="91440"/>
          <a:lstStyle/>
          <a:p>
            <a:pPr algn="l"/>
            <a:r>
              <a:rPr sz="1050" b="1">
                <a:solidFill>
                  <a:srgbClr val="8B93A0"/>
                </a:solidFill>
                <a:latin typeface="Consolas"/>
              </a:rPr>
              <a:t>SAÍDA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['gente', 'app', 'caiu', 'novo', 'confere', 'aqui', 'raiva']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2000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5B6472"/>
                </a:solidFill>
                <a:latin typeface="Calibri"/>
              </a:rPr>
              <a:t>Comentário real de rede social, deixado de propósito “sujo” — espaço duplo, URL solta.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Pipeline de limpeza — com spaCy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00000"/>
            <a:ext cx="10515600" cy="2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nlp = spacy.load("pt_core_news_sm")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comentario.lower().strip()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re.sub(r"\s+", " ", texto)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texto = re.sub(r"http\S+", "", texto)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doc = nlp(texto)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tokens_limpos = [t.text for t in doc if t.is_alpha and not t.is_stop]</a:t>
            </a:r>
          </a:p>
          <a:p>
            <a:pPr algn="l"/>
            <a:r>
              <a:rPr sz="1350" b="0">
                <a:solidFill>
                  <a:srgbClr val="1B2430"/>
                </a:solidFill>
                <a:latin typeface="Consolas"/>
              </a:rPr>
              <a:t>print(tokens_limpos)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0000"/>
            <a:ext cx="10515600" cy="520000"/>
          </a:xfrm>
          <a:prstGeom prst="roundRect">
            <a:avLst>
              <a:gd name="adj" fmla="val 6000"/>
            </a:avLst>
          </a:prstGeom>
          <a:solidFill>
            <a:srgbClr val="EEEEEC"/>
          </a:solidFill>
          <a:ln w="9525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 bIns="91440"/>
          <a:lstStyle/>
          <a:p>
            <a:pPr algn="l"/>
            <a:r>
              <a:rPr sz="1050" b="1">
                <a:solidFill>
                  <a:srgbClr val="8B93A0"/>
                </a:solidFill>
                <a:latin typeface="Consolas"/>
              </a:rPr>
              <a:t>SAÍDA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['gente', 'app', 'caiu', 'confere', 'raiva']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Mesma filosofia de sempre: no NLTK, cada checagem é escrita na mão (.isalpha(), ‘in stop_pt’). No spaCy, cada token já chega com .is_alpha e .is_stop prontos. Repare que a saída não é idêntica: NLTK manteve “novo” e “aqui”, spaCy não — as listas de stopword das duas bibliotecas não são as mesmas.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16 / 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00000"/>
            <a:ext cx="502920" cy="73152"/>
          </a:xfrm>
          <a:prstGeom prst="roundRect">
            <a:avLst>
              <a:gd name="adj" fmla="val 12000"/>
            </a:avLst>
          </a:prstGeom>
          <a:solidFill>
            <a:srgbClr val="146B63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6B63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50000"/>
            <a:ext cx="1078992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B2430"/>
                </a:solidFill>
                <a:latin typeface="Georgia"/>
              </a:rPr>
              <a:t>Parte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0000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5B6472"/>
                </a:solidFill>
                <a:latin typeface="Calibri"/>
              </a:rPr>
              <a:t>Reduzir “estudar”, “estudando” e “estudei” a uma forma só — e corrigir erro de digitação.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Por que normalizar não basta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0000"/>
            <a:ext cx="10515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B2430"/>
                </a:solidFill>
                <a:latin typeface="Calibri"/>
              </a:rPr>
              <a:t>Mesmo depois de tudo minúsculo e limpo, “estudar”, “estudando”, “estudei” e “estudo” continuam sendo quatro tokens diferentes pro computador — embora carreguem a mesma ideia central.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Contar frequência ou comparar textos fica menos preciso se variações assim entram como palavras diferentes. O objetivo agora é reduzir cada palavra a uma forma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200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93A0"/>
                </a:solidFill>
                <a:latin typeface="Consolas"/>
              </a:rPr>
              <a:t>(VAJJATA; MAJUMDER; GUPTA; SURANA, 2020)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Stemming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Corta o sufixo da palavra por regra, sem se importar se o resultado é uma palavra real — reduz formas parecidas a uma raiz aproximada.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0000"/>
            <a:ext cx="10515600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from nltk.stem import RSLPStemmer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stemmer = RSLPStemmer()  # RSLP = feito para português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for palavra in ['estudar', 'estudando', 'estudei', 'estudo']: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    print(palavra, '-&gt;', stemmer.stem(palavra))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0000"/>
            <a:ext cx="10515600" cy="1050000"/>
          </a:xfrm>
          <a:prstGeom prst="roundRect">
            <a:avLst>
              <a:gd name="adj" fmla="val 6000"/>
            </a:avLst>
          </a:prstGeom>
          <a:solidFill>
            <a:srgbClr val="EEEEEC"/>
          </a:solidFill>
          <a:ln w="9525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 bIns="91440"/>
          <a:lstStyle/>
          <a:p>
            <a:pPr algn="l"/>
            <a:r>
              <a:rPr sz="1050" b="1">
                <a:solidFill>
                  <a:srgbClr val="8B93A0"/>
                </a:solidFill>
                <a:latin typeface="Consolas"/>
              </a:rPr>
              <a:t>SAÍDA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estudar -&gt; estud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estudando -&gt; estud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estudei -&gt; estud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estudo -&gt; estud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50000"/>
            <a:ext cx="10515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Calibri"/>
              </a:rPr>
              <a:t>Rápido e barato, mas grosseiro: over-stemming (junta o que não devia) e under-stemming (deixa de juntar) — o resultado às vezes nem é uma palavra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19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Só NLTK aqui — de propósito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00000"/>
            <a:ext cx="10515600" cy="17000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O SPACY NÃO TEM STEMMER</a:t>
            </a:r>
          </a:p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Não é uma lacuna, é decisão de projeto: a equipe do spaCy considera que lematização já resolve melhor o mesmo problema (saída sempre é palavra real), então optaram por não incluir stemming no pacote.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Se um projeto com spaCy realmente precisar de stemming (por velocidade, em indexação de busca com muito volume), o jeito comum é trazer NLTK ou snowballstemmer junto — o spaCy não tenta cobrir esse caso.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5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46B63"/>
                </a:solidFill>
                <a:latin typeface="Calibri"/>
              </a:rPr>
              <a:t>Para stemming, NLTK é praticamente a única opção das duas — e é o contrário na próxima seção.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Lematização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Reduz a palavra à sua forma de dicionário (o lema) — usa a morfologia real da língua, exige saber a classe gramatical (“estudando” é verbo, o lema é “estudar”).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00000"/>
            <a:ext cx="10515600" cy="1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nlp = spacy.load("pt_core_news_sm")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doc = nlp('estudar estudando estudei estudo estudantil')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for token in doc:</a:t>
            </a:r>
          </a:p>
          <a:p>
            <a:pPr algn="l"/>
            <a:r>
              <a:rPr sz="1400" b="0">
                <a:solidFill>
                  <a:srgbClr val="1B2430"/>
                </a:solidFill>
                <a:latin typeface="Consolas"/>
              </a:rPr>
              <a:t>    print(token.text, '-&gt;', token.lemma_)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80000"/>
            <a:ext cx="10515600" cy="1450000"/>
          </a:xfrm>
          <a:prstGeom prst="roundRect">
            <a:avLst>
              <a:gd name="adj" fmla="val 6000"/>
            </a:avLst>
          </a:prstGeom>
          <a:solidFill>
            <a:srgbClr val="EEEEEC"/>
          </a:solidFill>
          <a:ln w="9525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 bIns="91440"/>
          <a:lstStyle/>
          <a:p>
            <a:pPr algn="l"/>
            <a:r>
              <a:rPr sz="1050" b="1">
                <a:solidFill>
                  <a:srgbClr val="8B93A0"/>
                </a:solidFill>
                <a:latin typeface="Consolas"/>
              </a:rPr>
              <a:t>SAÍDA</a:t>
            </a:r>
          </a:p>
          <a:p>
            <a:pPr algn="l"/>
            <a:r>
              <a:rPr sz="1250" b="0">
                <a:solidFill>
                  <a:srgbClr val="146B63"/>
                </a:solidFill>
                <a:latin typeface="Consolas"/>
              </a:rPr>
              <a:t>estudar -&gt; estudar</a:t>
            </a:r>
          </a:p>
          <a:p>
            <a:pPr algn="l"/>
            <a:r>
              <a:rPr sz="1250" b="0">
                <a:solidFill>
                  <a:srgbClr val="146B63"/>
                </a:solidFill>
                <a:latin typeface="Consolas"/>
              </a:rPr>
              <a:t>estudando -&gt; estudar</a:t>
            </a:r>
          </a:p>
          <a:p>
            <a:pPr algn="l"/>
            <a:r>
              <a:rPr sz="1250" b="0">
                <a:solidFill>
                  <a:srgbClr val="146B63"/>
                </a:solidFill>
                <a:latin typeface="Consolas"/>
              </a:rPr>
              <a:t>estudei -&gt; estudei</a:t>
            </a:r>
          </a:p>
          <a:p>
            <a:pPr algn="l"/>
            <a:r>
              <a:rPr sz="1250" b="0">
                <a:solidFill>
                  <a:srgbClr val="146B63"/>
                </a:solidFill>
                <a:latin typeface="Consolas"/>
              </a:rPr>
              <a:t>estudo -&gt; estudo</a:t>
            </a:r>
          </a:p>
          <a:p>
            <a:pPr algn="l"/>
            <a:r>
              <a:rPr sz="1250" b="0">
                <a:solidFill>
                  <a:srgbClr val="146B63"/>
                </a:solidFill>
                <a:latin typeface="Consolas"/>
              </a:rPr>
              <a:t>estudantil -&gt; estudantil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00000"/>
            <a:ext cx="10515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“estudo” ficou “estudo” de propósito — é substantivo aqui (o estudo), não o verbo. Já “estudei” devia virar “estudar” e não virou: nem o modelo pequeno do spaCy é perfeito.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Só spaCy aqui — pelo motivo simétrico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00000"/>
            <a:ext cx="10515600" cy="1700000"/>
          </a:xfrm>
          <a:prstGeom prst="roundRect">
            <a:avLst>
              <a:gd name="adj" fmla="val 12000"/>
            </a:avLst>
          </a:prstGeom>
          <a:solidFill>
            <a:srgbClr val="ECEBFB"/>
          </a:solidFill>
          <a:ln w="12700">
            <a:solidFill>
              <a:srgbClr val="5B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O NLTK NÃO TEM UM LEMATIZADOR DE PORTUGUÊS CONFIÁVEL</a:t>
            </a:r>
          </a:p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O WordNetLemmatizer do NLTK depende do WordNet, um dicionário majoritariamente em inglês — aplicado a português, não conhece as formas canônicas da língua.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00000"/>
            <a:ext cx="10515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B2430"/>
                </a:solidFill>
                <a:latin typeface="Calibri"/>
              </a:rPr>
              <a:t>Cada biblioteca acaba sendo forte exatamente onde a outra é fraca (ou nem existe) — mais um motivo pra usar as duas juntas no dia a dia, não uma no lugar da outra.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Stemming vs. lematização — quando usar qual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00000"/>
          <a:ext cx="105156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4000000"/>
                <a:gridCol w="4115600"/>
              </a:tblGrid>
              <a:tr h="51666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Stemming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6B63"/>
                          </a:solidFill>
                          <a:latin typeface="Calibri"/>
                        </a:rPr>
                        <a:t>Lematização</a:t>
                      </a:r>
                    </a:p>
                  </a:txBody>
                  <a:tcPr marL="91440" marR="91440" marT="45720" marB="45720" anchor="ctr">
                    <a:solidFill>
                      <a:srgbClr val="DCEEEA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Como funciona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Corta sufixo por regra fixa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Morfologia real + classe gramatical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Velocidade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Rápido, barato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Mais lento (modelo treinado)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Pode não ser palavra real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Sempre é palavra real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Ferramenta PT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RSLPStemmer (NLTK)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pt_core_news_sm (spaCy)</a:t>
                      </a:r>
                    </a:p>
                  </a:txBody>
                  <a:tcPr marL="91440" marR="91440" marT="36576" marB="36576" anchor="ctr">
                    <a:solidFill>
                      <a:srgbClr val="EEEEEC"/>
                    </a:solidFill>
                  </a:tcPr>
                </a:tc>
              </a:tr>
              <a:tr h="51667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Quando usar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Indexação/busca em massa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B6472"/>
                          </a:solidFill>
                          <a:latin typeface="Calibri"/>
                        </a:rPr>
                        <a:t>Quando a forma exata importa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5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B6472"/>
                </a:solidFill>
                <a:latin typeface="Calibri"/>
              </a:rPr>
              <a:t>Nenhuma das duas é sempre a escolha certa — depende de quanto erro grosseiro a tarefa tolera.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Correção ortográfica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5B6472"/>
                </a:solidFill>
                <a:latin typeface="Calibri"/>
              </a:rPr>
              <a:t>Texto escrito por gente de verdade vem com erro de digitação — cada erro vira um token a mais na contagem, mesmo sendo a mesma palavra grafada errado.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00000"/>
            <a:ext cx="10515600" cy="170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DISTÂNCIA DE EDIÇÃO (Levenshtein)</a:t>
            </a:r>
          </a:p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Conta quantas operações — inserir, remover ou trocar uma letra — transformam a palavra errada na mais próxima de um dicionário. Quanto menor a distância, mais provável ser essa a correção certa.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1">
                <a:solidFill>
                  <a:srgbClr val="5B6472"/>
                </a:solidFill>
                <a:latin typeface="Calibri"/>
              </a:rPr>
              <a:t>“linguajem” em vez de “linguagem” — não é gíria/abreviação, é erro de digitação mesmo.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pyspellchecker — com suporte a português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00000"/>
            <a:ext cx="10515600" cy="17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from spellchecker import SpellChecker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corretor = SpellChecker(language='pt')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 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palavra = 'linguajem'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print(corretor.correction(palavra))    # sugestão mais provável</a:t>
            </a:r>
          </a:p>
          <a:p>
            <a:pPr algn="l"/>
            <a:r>
              <a:rPr sz="1450" b="0">
                <a:solidFill>
                  <a:srgbClr val="1B2430"/>
                </a:solidFill>
                <a:latin typeface="Consolas"/>
              </a:rPr>
              <a:t>print(corretor.candidates(palavra))    # todas as candidatas próximas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60000"/>
            <a:ext cx="10515600" cy="780000"/>
          </a:xfrm>
          <a:prstGeom prst="roundRect">
            <a:avLst>
              <a:gd name="adj" fmla="val 6000"/>
            </a:avLst>
          </a:prstGeom>
          <a:solidFill>
            <a:srgbClr val="EEEEEC"/>
          </a:solidFill>
          <a:ln w="9525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 bIns="91440"/>
          <a:lstStyle/>
          <a:p>
            <a:pPr algn="l"/>
            <a:r>
              <a:rPr sz="1050" b="1">
                <a:solidFill>
                  <a:srgbClr val="8B93A0"/>
                </a:solidFill>
                <a:latin typeface="Consolas"/>
              </a:rPr>
              <a:t>SAÍDA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linguagem</a:t>
            </a:r>
          </a:p>
          <a:p>
            <a:pPr algn="l"/>
            <a:r>
              <a:rPr sz="1300" b="0">
                <a:solidFill>
                  <a:srgbClr val="146B63"/>
                </a:solidFill>
                <a:latin typeface="Consolas"/>
              </a:rPr>
              <a:t>{'linguagem'}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0000"/>
            <a:ext cx="10515600" cy="1400000"/>
          </a:xfrm>
          <a:prstGeom prst="roundRect">
            <a:avLst>
              <a:gd name="adj" fmla="val 12000"/>
            </a:avLst>
          </a:prstGeom>
          <a:solidFill>
            <a:srgbClr val="FBEBD6"/>
          </a:solidFill>
          <a:ln w="12700">
            <a:solidFill>
              <a:srgbClr val="B45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CUIDADO</a:t>
            </a:r>
          </a:p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Correção automática não é decisão neutra — pode “corrigir” gíria, nome próprio ou termo técnico pra algo errado, porque só enxerga distância de edição, não contexto.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Atualizando 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5B6472"/>
                </a:solidFill>
                <a:latin typeface="Calibri"/>
              </a:rPr>
              <a:t>Retomando o pipeline da Parte I — stemming/lematização e correção ortográfica entram como etapas extras, e a ordem importa: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1. Normalizar (caixa baixa, espaços)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2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2. Corrigir ortografia (antes ou depois de tokenizar)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3. Tokenizar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6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4. Filtrar pontuação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5. Stemming ou lematização (nunca os dois)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00000"/>
            <a:ext cx="10515600" cy="480000"/>
          </a:xfrm>
          <a:prstGeom prst="roundRect">
            <a:avLst>
              <a:gd name="adj" fmla="val 12000"/>
            </a:avLst>
          </a:prstGeom>
          <a:solidFill>
            <a:srgbClr val="EEEEEC"/>
          </a:solidFill>
          <a:ln w="12700">
            <a:solidFill>
              <a:srgbClr val="8B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B2430"/>
                </a:solidFill>
                <a:latin typeface="Calibri"/>
              </a:rPr>
              <a:t>6. Decidir se remove stopwords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46B63"/>
                </a:solidFill>
                <a:latin typeface="Consolas"/>
              </a:rPr>
              <a:t>SESSÕES 03 E 04 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0000" y="292608"/>
            <a:ext cx="196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5B6472"/>
                </a:solidFill>
                <a:latin typeface="Consolas"/>
              </a:rPr>
              <a:t>26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Georgia"/>
              </a:rPr>
              <a:t>Para aprofundar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00000"/>
            <a:ext cx="10515600" cy="90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HOBSON, L.; COLE, H.; HANNES, H.</a:t>
            </a:r>
          </a:p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Natural Language Processing in Action. Manning, 2019.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00000"/>
            <a:ext cx="10515600" cy="900000"/>
          </a:xfrm>
          <a:prstGeom prst="roundRect">
            <a:avLst>
              <a:gd name="adj" fmla="val 12000"/>
            </a:avLst>
          </a:prstGeom>
          <a:solidFill>
            <a:srgbClr val="DCEEEA"/>
          </a:solidFill>
          <a:ln w="12700">
            <a:solidFill>
              <a:srgbClr val="146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VAJJATA, S.; MAJUMDER, B.; GUPTA, A.; SURANA, H.</a:t>
            </a:r>
          </a:p>
          <a:p>
            <a:pPr algn="l"/>
            <a:r>
              <a:rPr sz="1500" b="1">
                <a:solidFill>
                  <a:srgbClr val="1B2430"/>
                </a:solidFill>
                <a:latin typeface="Calibri"/>
              </a:rPr>
              <a:t>Practical Natural Language Processing. O'Reilly, 2020.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0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430"/>
                </a:solidFill>
                <a:latin typeface="Calibri"/>
              </a:rPr>
              <a:t>Notebooks de hoje: 03_limpeza_de_texto.ipynb e 04_stemming_lematizacao.ipynb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